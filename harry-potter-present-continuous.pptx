
<file path=[Content_Types].xml><?xml version="1.0" encoding="utf-8"?>
<Types xmlns="http://schemas.openxmlformats.org/package/2006/content-types">
  <Default Extension="png" ContentType="image/png"/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46ec56fcaa4756" /><Relationship Type="http://schemas.openxmlformats.org/officeDocument/2006/relationships/extended-properties" Target="/docProps/app.xml" Id="R07f6ad6744a04b66" /><Relationship Type="http://schemas.openxmlformats.org/officeDocument/2006/relationships/officeDocument" Target="/ppt/presentation.xml" Id="R706a4271b8a84f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9525e42404426a"/>
  </p:sldMasterIdLst>
  <p:notesMasterIdLst>
    <p:notesMasterId xmlns:r="http://schemas.openxmlformats.org/officeDocument/2006/relationships" r:id="R1a39f6ca4d244514"/>
  </p:notesMasterIdLst>
  <p:sldIdLst>
    <p:sldId xmlns:r="http://schemas.openxmlformats.org/officeDocument/2006/relationships" id="256" r:id="R797cddc5fb5346d7"/>
    <p:sldId xmlns:r="http://schemas.openxmlformats.org/officeDocument/2006/relationships" id="257" r:id="R607b8d057a55449e"/>
    <p:sldId xmlns:r="http://schemas.openxmlformats.org/officeDocument/2006/relationships" id="258" r:id="R0eb04ad439944e22"/>
    <p:sldId xmlns:r="http://schemas.openxmlformats.org/officeDocument/2006/relationships" id="259" r:id="Rb8ff3790b8f74ecd"/>
    <p:sldId xmlns:r="http://schemas.openxmlformats.org/officeDocument/2006/relationships" id="260" r:id="Reb705a759c3f47cd"/>
    <p:sldId xmlns:r="http://schemas.openxmlformats.org/officeDocument/2006/relationships" id="261" r:id="Rf0a3e4b2e5854146"/>
    <p:sldId xmlns:r="http://schemas.openxmlformats.org/officeDocument/2006/relationships" id="262" r:id="R63d3def1db7e472f"/>
    <p:sldId xmlns:r="http://schemas.openxmlformats.org/officeDocument/2006/relationships" id="263" r:id="R63b35b14737941e2"/>
    <p:sldId xmlns:r="http://schemas.openxmlformats.org/officeDocument/2006/relationships" id="264" r:id="R6891384ee6204745"/>
    <p:sldId xmlns:r="http://schemas.openxmlformats.org/officeDocument/2006/relationships" id="265" r:id="R1acf6539f6ba40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9d9be834574283" /><Relationship Type="http://schemas.openxmlformats.org/officeDocument/2006/relationships/slideMaster" Target="/ppt/slideMasters/slideMaster1.xml" Id="R569525e42404426a" /><Relationship Type="http://schemas.openxmlformats.org/officeDocument/2006/relationships/notesMaster" Target="/ppt/notesMasters/notesMaster1.xml" Id="R1a39f6ca4d244514" /><Relationship Type="http://schemas.openxmlformats.org/officeDocument/2006/relationships/presProps" Target="/ppt/presProps.xml" Id="R84f95ccb86c94282" /><Relationship Type="http://schemas.openxmlformats.org/officeDocument/2006/relationships/viewProps" Target="/ppt/viewProps.xml" Id="Re789a166be6f4e9f" /><Relationship Type="http://schemas.openxmlformats.org/officeDocument/2006/relationships/tableStyles" Target="/ppt/tableStyles.xml" Id="R37073710725c432d" /><Relationship Type="http://schemas.openxmlformats.org/officeDocument/2006/relationships/slide" Target="/ppt/slides/slide1.xml" Id="R797cddc5fb5346d7" /><Relationship Type="http://schemas.openxmlformats.org/officeDocument/2006/relationships/slide" Target="/ppt/slides/slide2.xml" Id="R607b8d057a55449e" /><Relationship Type="http://schemas.openxmlformats.org/officeDocument/2006/relationships/slide" Target="/ppt/slides/slide3.xml" Id="R0eb04ad439944e22" /><Relationship Type="http://schemas.openxmlformats.org/officeDocument/2006/relationships/slide" Target="/ppt/slides/slide4.xml" Id="Rb8ff3790b8f74ecd" /><Relationship Type="http://schemas.openxmlformats.org/officeDocument/2006/relationships/slide" Target="/ppt/slides/slide5.xml" Id="Reb705a759c3f47cd" /><Relationship Type="http://schemas.openxmlformats.org/officeDocument/2006/relationships/slide" Target="/ppt/slides/slide6.xml" Id="Rf0a3e4b2e5854146" /><Relationship Type="http://schemas.openxmlformats.org/officeDocument/2006/relationships/slide" Target="/ppt/slides/slide7.xml" Id="R63d3def1db7e472f" /><Relationship Type="http://schemas.openxmlformats.org/officeDocument/2006/relationships/slide" Target="/ppt/slides/slide8.xml" Id="R63b35b14737941e2" /><Relationship Type="http://schemas.openxmlformats.org/officeDocument/2006/relationships/slide" Target="/ppt/slides/slide9.xml" Id="R6891384ee6204745" /><Relationship Type="http://schemas.openxmlformats.org/officeDocument/2006/relationships/slide" Target="/ppt/slides/slide10.xml" Id="R1acf6539f6ba40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bfab01d0994f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57150" dist="34343" dir="3378596">
              <a:srgbClr val="FFF0D0">
                <a:alpha val="45000"/>
              </a:srgbClr>
            </a:outerShdw>
          </a:effectLst>
        </a:effectStyle>
        <a:effectStyle>
          <a:effectLst>
            <a:outerShdw blurRad="57150" dist="34343" dir="3378596">
              <a:srgbClr val="071F28">
                <a:alpha val="25000"/>
              </a:srgbClr>
            </a:outerShdw>
          </a:effectLst>
        </a:effectStyle>
        <a:effectStyle>
          <a:effectLst>
            <a:outerShdw blurRad="57150" dist="34343" dir="3378596">
              <a:srgbClr val="071F28">
                <a:alpha val="42000"/>
              </a:srgbClr>
            </a:outerShdw>
          </a:effectLst>
        </a:effectStyle>
        <a:effectStyle>
          <a:effectLst>
            <a:outerShdw blurRad="57150" dist="34343" dir="3378596">
              <a:srgbClr val="071F28">
                <a:alpha val="5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23195de43b491a" /><Relationship Type="http://schemas.openxmlformats.org/officeDocument/2006/relationships/notesMaster" Target="/ppt/notesMasters/notesMaster1.xml" Id="R75bd804b85ab42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40a16034364f70" /><Relationship Type="http://schemas.openxmlformats.org/officeDocument/2006/relationships/notesMaster" Target="/ppt/notesMasters/notesMaster1.xml" Id="R1d536dcd4c3b42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b7ef4932e34c8e" /><Relationship Type="http://schemas.openxmlformats.org/officeDocument/2006/relationships/notesMaster" Target="/ppt/notesMasters/notesMaster1.xml" Id="Rc63f7d7755ae46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9a9ea21275463d" /><Relationship Type="http://schemas.openxmlformats.org/officeDocument/2006/relationships/notesMaster" Target="/ppt/notesMasters/notesMaster1.xml" Id="R2c6f63ea698642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f7e60e898d4878" /><Relationship Type="http://schemas.openxmlformats.org/officeDocument/2006/relationships/notesMaster" Target="/ppt/notesMasters/notesMaster1.xml" Id="R986c53f7302a46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9ef98ec7524a12" /><Relationship Type="http://schemas.openxmlformats.org/officeDocument/2006/relationships/notesMaster" Target="/ppt/notesMasters/notesMaster1.xml" Id="R5a828eef65b841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335f17a39f4bdd" /><Relationship Type="http://schemas.openxmlformats.org/officeDocument/2006/relationships/notesMaster" Target="/ppt/notesMasters/notesMaster1.xml" Id="R585870a1c8da4f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d1b6fff9a84e40" /><Relationship Type="http://schemas.openxmlformats.org/officeDocument/2006/relationships/notesMaster" Target="/ppt/notesMasters/notesMaster1.xml" Id="R4e101ccb826b4c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09e3890d824902" /><Relationship Type="http://schemas.openxmlformats.org/officeDocument/2006/relationships/notesMaster" Target="/ppt/notesMasters/notesMaster1.xml" Id="Rd482a8f18a144e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cc666c58364c0b" /><Relationship Type="http://schemas.openxmlformats.org/officeDocument/2006/relationships/notesMaster" Target="/ppt/notesMasters/notesMaster1.xml" Id="Re1a9449f93d14c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blackisler_harry_potter_on_a_train_minimalist_vector_illustra_8613ebcd-176b-41d7-bf2f-09eb99a12c4d_0.png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talking-snape.png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telling-lucius.png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discussing-dumbledore.png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flying-hippogriff.png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playing-quidditch.png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buying-wand.png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fighting-voldemort.png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escaping-ron.png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blackisler_young_harry_potter_and_Dumbledore_in_his_office_mi_8ea9d3d5-65ec-41f7-b834-3c2d3e449aee_3.png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ffb1a90124c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7cf0928322405f" /><Relationship Type="http://schemas.openxmlformats.org/officeDocument/2006/relationships/slideLayout" Target="/ppt/slideLayouts/slideLayout1.xml" Id="R249a83df509d4a8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9a83df509d4a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57150" dist="34343" dir="3378596">
              <a:srgbClr val="FFF0D0">
                <a:alpha val="45000"/>
              </a:srgbClr>
            </a:outerShdw>
          </a:effectLst>
        </a:effectStyle>
        <a:effectStyle>
          <a:effectLst>
            <a:outerShdw blurRad="57150" dist="34343" dir="3378596">
              <a:srgbClr val="071F28">
                <a:alpha val="25000"/>
              </a:srgbClr>
            </a:outerShdw>
          </a:effectLst>
        </a:effectStyle>
        <a:effectStyle>
          <a:effectLst>
            <a:outerShdw blurRad="57150" dist="34343" dir="3378596">
              <a:srgbClr val="071F28">
                <a:alpha val="42000"/>
              </a:srgbClr>
            </a:outerShdw>
          </a:effectLst>
        </a:effectStyle>
        <a:effectStyle>
          <a:effectLst>
            <a:outerShdw blurRad="57150" dist="34343" dir="3378596">
              <a:srgbClr val="071F28">
                <a:alpha val="5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4bfe4824f4cae" /><Relationship Type="http://schemas.openxmlformats.org/officeDocument/2006/relationships/image" Target="/ppt/media/image.jpeg" Id="R630a915caf46495e" /><Relationship Type="http://schemas.openxmlformats.org/officeDocument/2006/relationships/notesSlide" Target="/ppt/notesSlides/notesSlide1.xml" Id="R4547be9fb5e14eef" /><Relationship Type="http://schemas.openxmlformats.org/officeDocument/2006/relationships/image" Target="/ppt/media/fe-logo-deep.png" Id="rIdFeLogo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d793b6ab448bc" /><Relationship Type="http://schemas.openxmlformats.org/officeDocument/2006/relationships/image" Target="/ppt/media/image2.jpeg" Id="R4222ce7ec28240de" /><Relationship Type="http://schemas.openxmlformats.org/officeDocument/2006/relationships/notesSlide" Target="/ppt/notesSlides/notesSlide2.xml" Id="R82e2bb324ebb4d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8c4979ae441fe" /><Relationship Type="http://schemas.openxmlformats.org/officeDocument/2006/relationships/image" Target="/ppt/media/image3.jpeg" Id="R87e4616e5ba94f89" /><Relationship Type="http://schemas.openxmlformats.org/officeDocument/2006/relationships/notesSlide" Target="/ppt/notesSlides/notesSlide3.xml" Id="Rfe931693c6574e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35fdb04d04b03" /><Relationship Type="http://schemas.openxmlformats.org/officeDocument/2006/relationships/image" Target="/ppt/media/image4.jpeg" Id="R4b59e1c30ac4487b" /><Relationship Type="http://schemas.openxmlformats.org/officeDocument/2006/relationships/notesSlide" Target="/ppt/notesSlides/notesSlide4.xml" Id="R0dedcb3c43f14c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1a1a8a81846d8" /><Relationship Type="http://schemas.openxmlformats.org/officeDocument/2006/relationships/image" Target="/ppt/media/image5.jpeg" Id="R0aaab16ef39745ef" /><Relationship Type="http://schemas.openxmlformats.org/officeDocument/2006/relationships/notesSlide" Target="/ppt/notesSlides/notesSlide5.xml" Id="Rf07af8d61a404b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340bb83574a77" /><Relationship Type="http://schemas.openxmlformats.org/officeDocument/2006/relationships/image" Target="/ppt/media/image6.jpeg" Id="R6d97f28991504c2f" /><Relationship Type="http://schemas.openxmlformats.org/officeDocument/2006/relationships/notesSlide" Target="/ppt/notesSlides/notesSlide6.xml" Id="R60a71ba5b9374d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6a40330d64219" /><Relationship Type="http://schemas.openxmlformats.org/officeDocument/2006/relationships/image" Target="/ppt/media/image7.jpeg" Id="Re8a7555ad96c4547" /><Relationship Type="http://schemas.openxmlformats.org/officeDocument/2006/relationships/notesSlide" Target="/ppt/notesSlides/notesSlide7.xml" Id="Rd8deabb6a78c4f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1158d79c746fd" /><Relationship Type="http://schemas.openxmlformats.org/officeDocument/2006/relationships/image" Target="/ppt/media/image8.jpeg" Id="Rc789563a22f343e8" /><Relationship Type="http://schemas.openxmlformats.org/officeDocument/2006/relationships/notesSlide" Target="/ppt/notesSlides/notesSlide8.xml" Id="R46f9800ae6e14d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e8a3d8bf941ac" /><Relationship Type="http://schemas.openxmlformats.org/officeDocument/2006/relationships/image" Target="/ppt/media/image9.jpeg" Id="R40f2161e27514ba3" /><Relationship Type="http://schemas.openxmlformats.org/officeDocument/2006/relationships/notesSlide" Target="/ppt/notesSlides/notesSlide9.xml" Id="R0fcab15f1fda49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b29800d5c40fe" /><Relationship Type="http://schemas.openxmlformats.org/officeDocument/2006/relationships/image" Target="/ppt/media/image10.jpeg" Id="R64183970b2c1426f" /><Relationship Type="http://schemas.openxmlformats.org/officeDocument/2006/relationships/notesSlide" Target="/ppt/notesSlides/notesSlide10.xml" Id="R61965dc67b0a4831" /><Relationship Type="http://schemas.openxmlformats.org/officeDocument/2006/relationships/image" Target="/ppt/media/fe-logo-light.png" Id="rIdFeLogo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a915caf46495e"/>
          <a:srcRect xmlns:a="http://schemas.openxmlformats.org/drawingml/2006/main" l="242" t="0" r="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0898AD-C95E-477F-80AC-2654243A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4335" y="49784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E85F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HARRY POTTER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 A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ND </a:t>
            </a:r>
            <a:r>
              <a:rPr sz="1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THE</a:t>
            </a:r>
            <a:endParaRPr sz="1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/>
              <a:ea typeface="Courier New"/>
              <a:cs typeface="Courier New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E6D1E5A-88C1-4B68-BFFB-72F0C262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945" y="76454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0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4950" b="1">
                <a:solidFill>
                  <a:srgbClr val="071F28"/>
                </a:solidFill>
                <a:latin typeface="Courier New"/>
                <a:ea typeface="Courier New"/>
                <a:cs typeface="Courier New"/>
              </a:defRPr>
            </a:pPr>
            <a:r>
              <a:rPr sz="495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PRESENT</a:t>
            </a:r>
            <a:endParaRPr sz="495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187003A-520A-43B0-BFDE-E167245E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090" y="1268730"/>
            <a:ext cx="5225415" cy="739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0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5850" b="1">
                <a:solidFill>
                  <a:srgbClr val="071F28"/>
                </a:solidFill>
                <a:latin typeface="Courier New"/>
                <a:ea typeface="Courier New"/>
                <a:cs typeface="Courier New"/>
              </a:defRPr>
            </a:pPr>
            <a:r>
              <a:rPr sz="500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CONTINUOUS</a:t>
            </a:r>
            <a:endParaRPr sz="500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0BD8E5-F4FB-4BD1-9764-3586C245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25" y="198882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071F28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AM / IS / ARE + VERB-ING</a:t>
            </a:r>
            <a:endParaRPr sz="180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F57DA14-1EA4-4105-ADEE-60BAD2E2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125" y="2421255"/>
            <a:ext cx="246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071F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Actions happening now</a:t>
            </a:r>
            <a:endParaRPr sz="150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8B6C919-E945-44C5-8178-E058195B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F0D0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01</a:t>
            </a:r>
            <a:endParaRPr sz="900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</p:txBody>
      </p:sp>
      <p:pic>
        <p:nvPicPr>
          <p:cNvPr id="900" name="Forbes English logo" descr="Forbes English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FeLogo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757525" y="2790000"/>
            <a:ext cx="999500" cy="52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6746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2ce7ec28240de"/>
          <a:srcRect xmlns:a="http://schemas.openxmlformats.org/drawingml/2006/main" l="242" t="0" r="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-27305"/>
            <a:ext cx="12192000" cy="6885305"/>
          </a:xfrm>
          <a:prstGeom xmlns:a="http://schemas.openxmlformats.org/drawingml/2006/main" prst="rect">
            <a:avLst/>
          </a:prstGeom>
        </p:spPr>
      </p:pic>
      <p:sp>
        <p:nvSpPr>
          <p:cNvPr id="3" name="Verb talking">
            <a:extLst xmlns:a="http://schemas.openxmlformats.org/drawingml/2006/main">
              <a:ext uri="{FF2B5EF4-FFF2-40B4-BE49-F238E27FC236}">
                <a16:creationId xmlns:a16="http://schemas.microsoft.com/office/drawing/2014/main" id="{9439802B-60D5-4656-8864-2C26585A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5445125"/>
            <a:ext cx="3190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1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71F28"/>
                </a:solidFill>
                <a:latin typeface="Courier New"/>
                <a:ea typeface="Courier New"/>
                <a:cs typeface="Courier New"/>
              </a:defRPr>
            </a:pPr>
            <a:r>
              <a:rPr sz="420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TALKING</a:t>
            </a:r>
            <a:endParaRPr sz="420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Sentence 2">
            <a:extLst xmlns:a="http://schemas.openxmlformats.org/drawingml/2006/main">
              <a:ext uri="{FF2B5EF4-FFF2-40B4-BE49-F238E27FC236}">
                <a16:creationId xmlns:a16="http://schemas.microsoft.com/office/drawing/2014/main" id="{EFA2B32E-3A0F-44C1-9110-56A5D2A7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430" y="4077335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1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250" b="1">
                <a:solidFill>
                  <a:srgbClr val="071F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Harry is talking to Professor Snape</a:t>
            </a:r>
            <a:endParaRPr sz="180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977B96F-66A0-4F1B-AF37-557D95CE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71F2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02</a:t>
            </a:r>
            <a:endParaRPr sz="90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2" name="Grammar 9">
            <a:extLst xmlns:a="http://schemas.openxmlformats.org/drawingml/2006/main">
              <a:ext uri="{FF2B5EF4-FFF2-40B4-BE49-F238E27FC236}">
                <a16:creationId xmlns:a16="http://schemas.microsoft.com/office/drawing/2014/main" id="{DD8DFB3F-08CB-4ED0-AE87-BA1CCE91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965" y="5445125"/>
            <a:ext cx="2156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5F5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TALK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 → IS 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TALK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ING</a:t>
            </a:r>
            <a:endParaRPr sz="13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308204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4616e5ba94f89"/>
          <a:srcRect xmlns:a="http://schemas.openxmlformats.org/drawingml/2006/main" l="242" t="0" r="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Verb telling">
            <a:extLst xmlns:a="http://schemas.openxmlformats.org/drawingml/2006/main">
              <a:ext uri="{FF2B5EF4-FFF2-40B4-BE49-F238E27FC236}">
                <a16:creationId xmlns:a16="http://schemas.microsoft.com/office/drawing/2014/main" id="{04C8750F-EAF2-4AD8-A7F2-8369C3F7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85800"/>
            <a:ext cx="542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2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6750" b="1">
                <a:solidFill>
                  <a:srgbClr val="FFF0D0"/>
                </a:solidFill>
                <a:latin typeface="Courier New"/>
                <a:ea typeface="Courier New"/>
                <a:cs typeface="Courier New"/>
              </a:defRPr>
            </a:pPr>
            <a:r>
              <a:rPr sz="6750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TELLING</a:t>
            </a:r>
            <a:endParaRPr sz="6750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Sentence 3">
            <a:extLst xmlns:a="http://schemas.openxmlformats.org/drawingml/2006/main">
              <a:ext uri="{FF2B5EF4-FFF2-40B4-BE49-F238E27FC236}">
                <a16:creationId xmlns:a16="http://schemas.microsoft.com/office/drawing/2014/main" id="{66F8A57A-22F8-466E-8CEF-5CC79381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285" y="76454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2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250" b="1">
                <a:solidFill>
                  <a:srgbClr val="FFF0D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Harry is telling Lucius Malfoy the truth</a:t>
            </a:r>
            <a:endParaRPr sz="1800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CF63DAB-CDC2-447E-85AF-C98E61A4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F0D0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03</a:t>
            </a:r>
            <a:endParaRPr sz="900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Grammar 9">
            <a:extLst xmlns:a="http://schemas.openxmlformats.org/drawingml/2006/main">
              <a:ext uri="{FF2B5EF4-FFF2-40B4-BE49-F238E27FC236}">
                <a16:creationId xmlns:a16="http://schemas.microsoft.com/office/drawing/2014/main" id="{83ADBF77-2854-410F-BC95-1EBF8288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" y="54864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5F5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F0D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TELL</a:t>
            </a:r>
            <a:r>
              <a:rPr sz="1350" b="1">
                <a:solidFill>
                  <a:srgbClr val="FFF0D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 → IS </a:t>
            </a:r>
            <a:r>
              <a:rPr sz="1350" b="1">
                <a:solidFill>
                  <a:srgbClr val="FFF0D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TELL</a:t>
            </a:r>
            <a:r>
              <a:rPr sz="1350" b="1">
                <a:solidFill>
                  <a:srgbClr val="FFF0D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ING</a:t>
            </a:r>
            <a:endParaRPr sz="1350" b="1">
              <a:solidFill>
                <a:srgbClr val="FFF0D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5556839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9e1c30ac4487b"/>
          <a:srcRect xmlns:a="http://schemas.openxmlformats.org/drawingml/2006/main" l="242" t="0" r="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Verb discussing">
            <a:extLst xmlns:a="http://schemas.openxmlformats.org/drawingml/2006/main">
              <a:ext uri="{FF2B5EF4-FFF2-40B4-BE49-F238E27FC236}">
                <a16:creationId xmlns:a16="http://schemas.microsoft.com/office/drawing/2014/main" id="{B6F7D962-F13B-42FA-B722-5D2E082E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38354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3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0D0"/>
                </a:solidFill>
                <a:latin typeface="Courier New"/>
                <a:ea typeface="Courier New"/>
                <a:cs typeface="Courier New"/>
              </a:defRPr>
            </a:pPr>
            <a:r>
              <a:rPr sz="5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DISCUSSING</a:t>
            </a:r>
            <a:endParaRPr sz="5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Sentence 4">
            <a:extLst xmlns:a="http://schemas.openxmlformats.org/drawingml/2006/main">
              <a:ext uri="{FF2B5EF4-FFF2-40B4-BE49-F238E27FC236}">
                <a16:creationId xmlns:a16="http://schemas.microsoft.com/office/drawing/2014/main" id="{788BDB83-BF51-4B3C-9802-36EE10DB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920" y="1259840"/>
            <a:ext cx="628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3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1">
                <a:solidFill>
                  <a:srgbClr val="FFF0D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Harry </a:t>
            </a:r>
            <a:r>
              <a:rPr sz="1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and Dumbledore are</a:t>
            </a:r>
            <a:r>
              <a:rPr sz="1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 </a:t>
            </a:r>
            <a:br/>
            <a:r>
              <a:rPr sz="1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discussing a problem </a:t>
            </a:r>
            <a:br/>
            <a:endParaRPr sz="1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/>
              <a:ea typeface="Courier New"/>
              <a:cs typeface="Courier New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2B7A602-7E4C-4768-AC6F-ACD0E48C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F0D0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04</a:t>
            </a:r>
            <a:endParaRPr sz="900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Grammar 9">
            <a:extLst xmlns:a="http://schemas.openxmlformats.org/drawingml/2006/main">
              <a:ext uri="{FF2B5EF4-FFF2-40B4-BE49-F238E27FC236}">
                <a16:creationId xmlns:a16="http://schemas.microsoft.com/office/drawing/2014/main" id="{438D7894-9B80-4F5D-9525-809886BB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490" y="26098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5F5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DISCUSS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 → 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ARE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 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DISCUSS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ING</a:t>
            </a:r>
            <a:endParaRPr sz="13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310353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ab16ef39745ef"/>
          <a:srcRect xmlns:a="http://schemas.openxmlformats.org/drawingml/2006/main" l="242" t="0" r="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Verb flying">
            <a:extLst xmlns:a="http://schemas.openxmlformats.org/drawingml/2006/main">
              <a:ext uri="{FF2B5EF4-FFF2-40B4-BE49-F238E27FC236}">
                <a16:creationId xmlns:a16="http://schemas.microsoft.com/office/drawing/2014/main" id="{BD140684-B04D-42DF-92A9-95ADCD04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1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050" b="1">
                <a:solidFill>
                  <a:srgbClr val="071F28"/>
                </a:solidFill>
                <a:latin typeface="Courier New"/>
                <a:ea typeface="Courier New"/>
                <a:cs typeface="Courier New"/>
              </a:defRPr>
            </a:pPr>
            <a:r>
              <a:rPr sz="705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FLYING</a:t>
            </a:r>
            <a:endParaRPr sz="705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Sentence 5">
            <a:extLst xmlns:a="http://schemas.openxmlformats.org/drawingml/2006/main">
              <a:ext uri="{FF2B5EF4-FFF2-40B4-BE49-F238E27FC236}">
                <a16:creationId xmlns:a16="http://schemas.microsoft.com/office/drawing/2014/main" id="{A5B7AE2A-5D06-4E93-A97B-68A28499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5381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1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250" b="1">
                <a:solidFill>
                  <a:srgbClr val="071F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Harry is flying on a hippogriff</a:t>
            </a:r>
            <a:endParaRPr sz="180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E3E167B-4B51-46F3-A540-B4637F4B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71F2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05</a:t>
            </a:r>
            <a:endParaRPr sz="90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Grammar 9">
            <a:extLst xmlns:a="http://schemas.openxmlformats.org/drawingml/2006/main">
              <a:ext uri="{FF2B5EF4-FFF2-40B4-BE49-F238E27FC236}">
                <a16:creationId xmlns:a16="http://schemas.microsoft.com/office/drawing/2014/main" id="{F2C964B3-611C-430B-9F83-13C5399B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88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5F5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FLY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 → IS 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FLY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ING</a:t>
            </a:r>
            <a:endParaRPr sz="13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029577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7f28991504c2f"/>
          <a:srcRect xmlns:a="http://schemas.openxmlformats.org/drawingml/2006/main" l="183" t="0" r="1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Verb playing">
            <a:extLst xmlns:a="http://schemas.openxmlformats.org/drawingml/2006/main">
              <a:ext uri="{FF2B5EF4-FFF2-40B4-BE49-F238E27FC236}">
                <a16:creationId xmlns:a16="http://schemas.microsoft.com/office/drawing/2014/main" id="{2221AC21-A10A-4868-AF2C-D96770FF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858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1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6900" b="1">
                <a:solidFill>
                  <a:srgbClr val="071F28"/>
                </a:solidFill>
                <a:latin typeface="Courier New"/>
                <a:ea typeface="Courier New"/>
                <a:cs typeface="Courier New"/>
              </a:defRPr>
            </a:pPr>
            <a:r>
              <a:rPr sz="690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PLAYING</a:t>
            </a:r>
            <a:endParaRPr sz="690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Sentence 6">
            <a:extLst xmlns:a="http://schemas.openxmlformats.org/drawingml/2006/main">
              <a:ext uri="{FF2B5EF4-FFF2-40B4-BE49-F238E27FC236}">
                <a16:creationId xmlns:a16="http://schemas.microsoft.com/office/drawing/2014/main" id="{F44CFCA9-EF78-44A1-94B4-A9FB6647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990" y="1268730"/>
            <a:ext cx="4606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1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250" b="1">
                <a:solidFill>
                  <a:srgbClr val="071F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Harry is </a:t>
            </a:r>
            <a:r>
              <a:rPr sz="180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playing Quidditch</a:t>
            </a:r>
            <a:endParaRPr sz="180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787C295-EF0E-4ED3-BA6E-FDE2B07C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71F2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06</a:t>
            </a:r>
            <a:endParaRPr sz="90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2" name="Grammar 9">
            <a:extLst xmlns:a="http://schemas.openxmlformats.org/drawingml/2006/main">
              <a:ext uri="{FF2B5EF4-FFF2-40B4-BE49-F238E27FC236}">
                <a16:creationId xmlns:a16="http://schemas.microsoft.com/office/drawing/2014/main" id="{E0A049E1-C74E-4432-A892-125620F4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990" y="47688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5F5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PLAY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 → IS 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PLAY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ING</a:t>
            </a:r>
            <a:endParaRPr sz="13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709165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7555ad96c4547"/>
          <a:srcRect xmlns:a="http://schemas.openxmlformats.org/drawingml/2006/main" l="242" t="0" r="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rompt 7">
            <a:extLst xmlns:a="http://schemas.openxmlformats.org/drawingml/2006/main">
              <a:ext uri="{FF2B5EF4-FFF2-40B4-BE49-F238E27FC236}">
                <a16:creationId xmlns:a16="http://schemas.microsoft.com/office/drawing/2014/main" id="{6E4A20FE-47AA-4FAC-B357-B08E5106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015" y="3556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85F5B"/>
                </a:solidFill>
                <a:latin typeface="Arial"/>
                <a:ea typeface="Arial"/>
                <a:cs typeface="Arial"/>
              </a:defRPr>
            </a:pPr>
            <a:endParaRPr sz="1275" b="1">
              <a:solidFill>
                <a:srgbClr val="E85F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Verb buying">
            <a:extLst xmlns:a="http://schemas.openxmlformats.org/drawingml/2006/main">
              <a:ext uri="{FF2B5EF4-FFF2-40B4-BE49-F238E27FC236}">
                <a16:creationId xmlns:a16="http://schemas.microsoft.com/office/drawing/2014/main" id="{02AC4EB4-4426-46B8-B30A-6C61A58B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" y="404495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3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6900" b="1">
                <a:solidFill>
                  <a:srgbClr val="FFF0D0"/>
                </a:solidFill>
                <a:latin typeface="Courier New"/>
                <a:ea typeface="Courier New"/>
                <a:cs typeface="Courier New"/>
              </a:defRPr>
            </a:pPr>
            <a:r>
              <a:rPr sz="6900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BUYING</a:t>
            </a:r>
            <a:endParaRPr sz="6900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Sentence 7">
            <a:extLst xmlns:a="http://schemas.openxmlformats.org/drawingml/2006/main">
              <a:ext uri="{FF2B5EF4-FFF2-40B4-BE49-F238E27FC236}">
                <a16:creationId xmlns:a16="http://schemas.microsoft.com/office/drawing/2014/main" id="{0616A552-C21F-4519-B53B-7A187F7E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270891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3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250" b="1">
                <a:solidFill>
                  <a:srgbClr val="FFF0D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Harry is buying a </a:t>
            </a:r>
            <a:br/>
            <a:r>
              <a:rPr sz="1800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wand with Hagrid</a:t>
            </a:r>
            <a:endParaRPr sz="1800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A0B5DB-7F71-41D2-9814-588A4C18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F0D0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07</a:t>
            </a:r>
            <a:endParaRPr sz="900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7" name="Grammar 9">
            <a:extLst xmlns:a="http://schemas.openxmlformats.org/drawingml/2006/main">
              <a:ext uri="{FF2B5EF4-FFF2-40B4-BE49-F238E27FC236}">
                <a16:creationId xmlns:a16="http://schemas.microsoft.com/office/drawing/2014/main" id="{3D4BD932-7D9F-4C00-8CB3-6BE39754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" y="26098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5F5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F0D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BUY</a:t>
            </a:r>
            <a:r>
              <a:rPr sz="1350" b="1">
                <a:solidFill>
                  <a:srgbClr val="FFF0D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 → IS </a:t>
            </a:r>
            <a:r>
              <a:rPr sz="1350" b="1">
                <a:solidFill>
                  <a:srgbClr val="FFF0D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BUY</a:t>
            </a:r>
            <a:r>
              <a:rPr sz="1350" b="1">
                <a:solidFill>
                  <a:srgbClr val="FFF0D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ING</a:t>
            </a:r>
            <a:endParaRPr sz="1350" b="1">
              <a:solidFill>
                <a:srgbClr val="FFF0D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1450225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9563a22f343e8"/>
          <a:srcRect xmlns:a="http://schemas.openxmlformats.org/drawingml/2006/main" l="242" t="0" r="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Grammar 8">
            <a:extLst xmlns:a="http://schemas.openxmlformats.org/drawingml/2006/main">
              <a:ext uri="{FF2B5EF4-FFF2-40B4-BE49-F238E27FC236}">
                <a16:creationId xmlns:a16="http://schemas.microsoft.com/office/drawing/2014/main" id="{E0A049E1-C74E-4432-A892-125620F4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135" y="47688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5F5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FIGHT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 → IS 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FIGHT</a:t>
            </a: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ING</a:t>
            </a:r>
            <a:endParaRPr sz="13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/>
              <a:ea typeface="Courier New"/>
              <a:cs typeface="Courier New"/>
            </a:endParaRPr>
          </a:p>
        </p:txBody>
      </p:sp>
      <p:sp>
        <p:nvSpPr>
          <p:cNvPr id="3" name="Verb fighting">
            <a:extLst xmlns:a="http://schemas.openxmlformats.org/drawingml/2006/main">
              <a:ext uri="{FF2B5EF4-FFF2-40B4-BE49-F238E27FC236}">
                <a16:creationId xmlns:a16="http://schemas.microsoft.com/office/drawing/2014/main" id="{2F0FD1B7-FEB3-4799-8FD7-8AD29F28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85800"/>
            <a:ext cx="466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1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6300" b="1">
                <a:solidFill>
                  <a:srgbClr val="071F28"/>
                </a:solidFill>
                <a:latin typeface="Courier New"/>
                <a:ea typeface="Courier New"/>
                <a:cs typeface="Courier New"/>
              </a:defRPr>
            </a:pPr>
            <a:r>
              <a:rPr sz="630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FIGHTING</a:t>
            </a:r>
            <a:endParaRPr sz="630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Sentence 8">
            <a:extLst xmlns:a="http://schemas.openxmlformats.org/drawingml/2006/main">
              <a:ext uri="{FF2B5EF4-FFF2-40B4-BE49-F238E27FC236}">
                <a16:creationId xmlns:a16="http://schemas.microsoft.com/office/drawing/2014/main" id="{553DB52B-31AB-4952-BA32-9D866C70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135" y="141287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1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250" b="1">
                <a:solidFill>
                  <a:srgbClr val="071F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Harry is fighting Voldemort</a:t>
            </a:r>
            <a:endParaRPr sz="180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45C0D86-A5C7-4512-84BF-4C18E763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71F2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08</a:t>
            </a:r>
            <a:endParaRPr sz="90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576701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2161e27514ba3"/>
          <a:srcRect xmlns:a="http://schemas.openxmlformats.org/drawingml/2006/main" l="242" t="0" r="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Verb escaping">
            <a:extLst xmlns:a="http://schemas.openxmlformats.org/drawingml/2006/main">
              <a:ext uri="{FF2B5EF4-FFF2-40B4-BE49-F238E27FC236}">
                <a16:creationId xmlns:a16="http://schemas.microsoft.com/office/drawing/2014/main" id="{283E4902-FA6D-4208-A1A4-5510975E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090" y="66675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1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071F28"/>
                </a:solidFill>
                <a:latin typeface="Courier New"/>
                <a:ea typeface="Courier New"/>
                <a:cs typeface="Courier New"/>
              </a:defRPr>
            </a:pPr>
            <a:r>
              <a:rPr sz="615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ESCAPING</a:t>
            </a:r>
            <a:endParaRPr sz="615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Sentence 9">
            <a:extLst xmlns:a="http://schemas.openxmlformats.org/drawingml/2006/main">
              <a:ext uri="{FF2B5EF4-FFF2-40B4-BE49-F238E27FC236}">
                <a16:creationId xmlns:a16="http://schemas.microsoft.com/office/drawing/2014/main" id="{A35D9A6A-0E53-4EB8-B009-B685D45C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730" y="357314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11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100" b="1">
                <a:solidFill>
                  <a:srgbClr val="071F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Harry is escaping with Ron Weasley in a flying car</a:t>
            </a:r>
            <a:endParaRPr sz="180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Grammar 9">
            <a:extLst xmlns:a="http://schemas.openxmlformats.org/drawingml/2006/main">
              <a:ext uri="{FF2B5EF4-FFF2-40B4-BE49-F238E27FC236}">
                <a16:creationId xmlns:a16="http://schemas.microsoft.com/office/drawing/2014/main" id="{1FB9A14B-E122-41E2-A424-B74E6411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845" y="54864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5F5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ESCAPE → IS ESCAPING</a:t>
            </a:r>
            <a:endParaRPr sz="13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/>
              <a:ea typeface="Courier New"/>
              <a:cs typeface="Courier New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DB93E1F-6060-418C-A624-B97A8769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71F2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071F28"/>
                </a:solidFill>
                <a:latin typeface="Courier New"/>
                <a:ea typeface="Courier New"/>
                <a:cs typeface="Courier New"/>
              </a:rPr>
              <a:t>09</a:t>
            </a:r>
            <a:endParaRPr sz="900" b="1">
              <a:solidFill>
                <a:srgbClr val="071F28"/>
              </a:solidFill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345660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83970b2c1426f"/>
          <a:srcRect xmlns:a="http://schemas.openxmlformats.org/drawingml/2006/main" l="242" t="0" r="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ap overlay">
            <a:extLst xmlns:a="http://schemas.openxmlformats.org/drawingml/2006/main">
              <a:ext uri="{FF2B5EF4-FFF2-40B4-BE49-F238E27FC236}">
                <a16:creationId xmlns:a16="http://schemas.microsoft.com/office/drawing/2014/main" id="{3894783C-F8C6-45F7-808C-86F5D8CC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F28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84C1762-7B26-433C-9DFE-7BD68E38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0D0"/>
                </a:solidFill>
                <a:latin typeface="Courier New"/>
                <a:ea typeface="Courier New"/>
                <a:cs typeface="Courier New"/>
              </a:defRPr>
            </a:pPr>
            <a:r>
              <a:rPr sz="4050" b="1">
                <a:solidFill>
                  <a:schemeClr val="accent5">
                    <a:lumMod val="40000"/>
                    <a:lumOff val="60000"/>
                  </a:schemeClr>
                </a:solidFill>
                <a:latin typeface="Courier New"/>
                <a:ea typeface="Courier New"/>
                <a:cs typeface="Courier New"/>
              </a:rPr>
              <a:t>PRESENT CONTINUOUS</a:t>
            </a:r>
            <a:endParaRPr sz="4050" b="1">
              <a:solidFill>
                <a:schemeClr val="accent5">
                  <a:lumMod val="40000"/>
                  <a:lumOff val="60000"/>
                </a:schemeClr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463CF9D-81F8-41F0-BF88-F97C66EC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E85F5B"/>
                </a:solidFill>
                <a:latin typeface="Courier New"/>
                <a:ea typeface="Courier New"/>
                <a:cs typeface="Courier New"/>
              </a:defRPr>
            </a:pPr>
            <a:r>
              <a:rPr sz="2175" b="1">
                <a:solidFill>
                  <a:schemeClr val="accent5">
                    <a:lumMod val="40000"/>
                    <a:lumOff val="60000"/>
                  </a:schemeClr>
                </a:solidFill>
                <a:latin typeface="Courier New"/>
                <a:ea typeface="Courier New"/>
                <a:cs typeface="Courier New"/>
              </a:rPr>
              <a:t>AM / IS / ARE + VERB-ING</a:t>
            </a:r>
            <a:endParaRPr sz="2175" b="1">
              <a:solidFill>
                <a:schemeClr val="accent5">
                  <a:lumMod val="40000"/>
                  <a:lumOff val="60000"/>
                </a:schemeClr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9258642-A28D-4822-A173-A1435582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1">
                <a:solidFill>
                  <a:srgbClr val="FFF0D0"/>
                </a:solidFill>
                <a:latin typeface="Courier New"/>
                <a:ea typeface="Courier New"/>
                <a:cs typeface="Courier New"/>
              </a:defRPr>
            </a:pPr>
            <a:r>
              <a:rPr sz="2175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talk → talking</a:t>
            </a:r>
            <a:endParaRPr sz="2175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2175" b="1">
                <a:solidFill>
                  <a:srgbClr val="FFF0D0"/>
                </a:solidFill>
                <a:latin typeface="Courier New"/>
                <a:ea typeface="Courier New"/>
                <a:cs typeface="Courier New"/>
              </a:defRPr>
            </a:pPr>
            <a:r>
              <a:rPr sz="2175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tell → telling</a:t>
            </a:r>
            <a:endParaRPr sz="2175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2175" b="1">
                <a:solidFill>
                  <a:srgbClr val="FFF0D0"/>
                </a:solidFill>
                <a:latin typeface="Courier New"/>
                <a:ea typeface="Courier New"/>
                <a:cs typeface="Courier New"/>
              </a:defRPr>
            </a:pPr>
            <a:r>
              <a:rPr sz="2175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discuss → discussing</a:t>
            </a:r>
            <a:endParaRPr sz="2175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2175" b="1">
                <a:solidFill>
                  <a:srgbClr val="FFF0D0"/>
                </a:solidFill>
                <a:latin typeface="Courier New"/>
                <a:ea typeface="Courier New"/>
                <a:cs typeface="Courier New"/>
              </a:defRPr>
            </a:pPr>
            <a:r>
              <a:rPr sz="2175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fly → flying</a:t>
            </a:r>
            <a:endParaRPr sz="2175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9AA41C-3FF5-41DF-87DB-365D25FC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1">
                <a:solidFill>
                  <a:srgbClr val="FFF0D0"/>
                </a:solidFill>
                <a:latin typeface="Courier New"/>
                <a:ea typeface="Courier New"/>
                <a:cs typeface="Courier New"/>
              </a:defRPr>
            </a:pPr>
            <a:r>
              <a:rPr sz="2175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play → playing</a:t>
            </a:r>
            <a:endParaRPr sz="2175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2175" b="1">
                <a:solidFill>
                  <a:srgbClr val="FFF0D0"/>
                </a:solidFill>
                <a:latin typeface="Courier New"/>
                <a:ea typeface="Courier New"/>
                <a:cs typeface="Courier New"/>
              </a:defRPr>
            </a:pPr>
            <a:r>
              <a:rPr sz="2175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buy → buying</a:t>
            </a:r>
            <a:endParaRPr sz="2175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2175" b="1">
                <a:solidFill>
                  <a:srgbClr val="FFF0D0"/>
                </a:solidFill>
                <a:latin typeface="Courier New"/>
                <a:ea typeface="Courier New"/>
                <a:cs typeface="Courier New"/>
              </a:defRPr>
            </a:pPr>
            <a:r>
              <a:rPr sz="2175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fight → fighting</a:t>
            </a:r>
            <a:endParaRPr sz="2175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2175" b="1">
                <a:solidFill>
                  <a:srgbClr val="FFF0D0"/>
                </a:solidFill>
                <a:latin typeface="Courier New"/>
                <a:ea typeface="Courier New"/>
                <a:cs typeface="Courier New"/>
              </a:defRPr>
            </a:pPr>
            <a:r>
              <a:rPr sz="2175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escape → escaping</a:t>
            </a:r>
            <a:endParaRPr sz="2175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CEE9384-50AB-4D8D-86D7-D2B0078D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chemeClr val="accent5">
                    <a:lumMod val="40000"/>
                    <a:lumOff val="60000"/>
                  </a:schemeClr>
                </a:solidFill>
                <a:latin typeface="Courier New"/>
                <a:ea typeface="Courier New"/>
                <a:cs typeface="Courier New"/>
              </a:rPr>
              <a:t>Use it for actions happening now</a:t>
            </a:r>
            <a:endParaRPr sz="1725" b="1">
              <a:solidFill>
                <a:schemeClr val="accent5">
                  <a:lumMod val="40000"/>
                  <a:lumOff val="60000"/>
                </a:schemeClr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FFAB541-20F3-4E60-8537-DFE85C61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F0D0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10</a:t>
            </a:r>
            <a:endParaRPr sz="900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</p:txBody>
      </p:sp>
      <p:pic>
        <p:nvPicPr>
          <p:cNvPr id="900" name="Forbes English logo" descr="Forbes English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FeLogo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66750" y="5922000"/>
            <a:ext cx="1300000" cy="676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09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57150" dist="34343" dir="3378596">
              <a:srgbClr val="FFF0D0">
                <a:alpha val="45000"/>
              </a:srgbClr>
            </a:outerShdw>
          </a:effectLst>
        </a:effectStyle>
        <a:effectStyle>
          <a:effectLst>
            <a:outerShdw blurRad="57150" dist="34343" dir="3378596">
              <a:srgbClr val="071F28">
                <a:alpha val="25000"/>
              </a:srgbClr>
            </a:outerShdw>
          </a:effectLst>
        </a:effectStyle>
        <a:effectStyle>
          <a:effectLst>
            <a:outerShdw blurRad="57150" dist="34343" dir="3378596">
              <a:srgbClr val="071F28">
                <a:alpha val="42000"/>
              </a:srgbClr>
            </a:outerShdw>
          </a:effectLst>
        </a:effectStyle>
        <a:effectStyle>
          <a:effectLst>
            <a:outerShdw blurRad="57150" dist="34343" dir="3378596">
              <a:srgbClr val="071F28">
                <a:alpha val="5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2026-08-16T17:08:42.1930000Z</dcterms:created>
  <dcterms:modified xsi:type="dcterms:W3CDTF">2026-08-16T17:08:42.1930000Z</dcterms:modified>
</coreProperties>
</file>