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1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1365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User-supplied Stranger Things Season 1 character/reference sheet: stranger things bible.pdf</a:t>
            </a:r>
          </a:p>
          <a:p>
            <a:r>
              <a:t>- User-supplied Hawkins road reference: stranger.webp</a:t>
            </a:r>
          </a:p>
          <a:p>
            <a:r>
              <a:t>- User-supplied palette references: stranger things palette 2.jpg, stranger things palette 3.jpg, and st graphicnove;.jpg</a:t>
            </a:r>
          </a:p>
          <a:p>
            <a:r>
              <a:t>- User-supplied cover logo: stranger-things-logo-png_seeklogo-509066B.png</a:t>
            </a:r>
          </a:p>
          <a:p>
            <a:r>
              <a:t>- User-supplied Hellfire Club emblem reference: codex-clipboard-5f3595d0-15de-4255-89d8-c79a6045cada.png</a:t>
            </a:r>
          </a:p>
          <a:p>
            <a:r>
              <a:t>- Artwork: AI-generated composition proof and vector-style transformation created for this deck.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Identity references: user-supplied Stranger Things Season 1 character sheet in stranger things bible.pdf.</a:t>
            </a:r>
          </a:p>
          <a:p>
            <a:r>
              <a:t>- User-supplied palette references: stranger things palette 2.jpg, stranger things palette 3.jpg, and st graphicnove;.jpg.</a:t>
            </a:r>
          </a:p>
          <a:p>
            <a:r>
              <a:t>- User-supplied Hellfire Club emblem reference: codex-clipboard-5f3595d0-15de-4255-89d8-c79a6045cada.png.</a:t>
            </a:r>
          </a:p>
          <a:p>
            <a:r>
              <a:t>- Artwork: AI-generated photorealistic composition proof, then AI-generated flat editorial vector-style transformation for slide 2.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Identity references: user-supplied Stranger Things Season 1 character sheet in stranger things bible.pdf.</a:t>
            </a:r>
          </a:p>
          <a:p>
            <a:r>
              <a:t>- User-supplied palette references: stranger things palette 2.jpg, stranger things palette 3.jpg, and st graphicnove;.jpg.</a:t>
            </a:r>
          </a:p>
          <a:p>
            <a:r>
              <a:t>- User-supplied Hellfire Club emblem reference: codex-clipboard-5f3595d0-15de-4255-89d8-c79a6045cada.png.</a:t>
            </a:r>
          </a:p>
          <a:p>
            <a:r>
              <a:t>- Artwork: AI-generated photorealistic composition proof, then AI-generated flat editorial vector-style transformation for slide 3.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Identity references: user-supplied Stranger Things Season 1 character sheet in stranger things bible.pdf.</a:t>
            </a:r>
          </a:p>
          <a:p>
            <a:r>
              <a:t>- User-supplied palette references: stranger things palette 2.jpg, stranger things palette 3.jpg, and st graphicnove;.jpg.</a:t>
            </a:r>
          </a:p>
          <a:p>
            <a:r>
              <a:t>- User-supplied Hellfire Club emblem reference: codex-clipboard-5f3595d0-15de-4255-89d8-c79a6045cada.png.</a:t>
            </a:r>
          </a:p>
          <a:p>
            <a:r>
              <a:t>- Artwork: AI-generated photorealistic composition proof, then AI-generated flat editorial vector-style transformation for slide 4.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Identity references: user-supplied Stranger Things Season 1 character sheet in stranger things bible.pdf.</a:t>
            </a:r>
          </a:p>
          <a:p>
            <a:r>
              <a:t>- User-supplied palette references: stranger things palette 2.jpg, stranger things palette 3.jpg, and st graphicnove;.jpg.</a:t>
            </a:r>
          </a:p>
          <a:p>
            <a:r>
              <a:t>- User-supplied Hellfire Club emblem reference: codex-clipboard-5f3595d0-15de-4255-89d8-c79a6045cada.png.</a:t>
            </a:r>
          </a:p>
          <a:p>
            <a:r>
              <a:t>- Artwork: AI-generated photorealistic composition proof, then AI-generated flat editorial vector-style transformation for slide 5.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Identity references: user-supplied Stranger Things Season 1 character sheet in stranger things bible.pdf.</a:t>
            </a:r>
          </a:p>
          <a:p>
            <a:r>
              <a:t>- User-supplied palette references: stranger things palette 2.jpg, stranger things palette 3.jpg, and st graphicnove;.jpg.</a:t>
            </a:r>
          </a:p>
          <a:p>
            <a:r>
              <a:t>- User-supplied Hellfire Club emblem reference: codex-clipboard-5f3595d0-15de-4255-89d8-c79a6045cada.png.</a:t>
            </a:r>
          </a:p>
          <a:p>
            <a:r>
              <a:t>- Artwork: AI-generated photorealistic composition proof, then AI-generated flat editorial vector-style transformation for slide 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Identity references: user-supplied Stranger Things Season 1 character sheet in stranger things bible.pdf.</a:t>
            </a:r>
          </a:p>
          <a:p>
            <a:r>
              <a:t>- User-supplied palette references: stranger things palette 2.jpg, stranger things palette 3.jpg, and st graphicnove;.jpg.</a:t>
            </a:r>
          </a:p>
          <a:p>
            <a:r>
              <a:t>- User-supplied Hellfire Club emblem reference: codex-clipboard-5f3595d0-15de-4255-89d8-c79a6045cada.png.</a:t>
            </a:r>
          </a:p>
          <a:p>
            <a:r>
              <a:t>- Artwork: AI-generated photorealistic composition proof, then AI-generated flat editorial vector-style transformation for slide 7.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Identity references: user-supplied Stranger Things Season 1 character sheet in stranger things bible.pdf.</a:t>
            </a:r>
          </a:p>
          <a:p>
            <a:r>
              <a:t>- User-supplied palette references: stranger things palette 2.jpg, stranger things palette 3.jpg, and st graphicnove;.jpg.</a:t>
            </a:r>
          </a:p>
          <a:p>
            <a:r>
              <a:t>- User-supplied Hellfire Club emblem reference: codex-clipboard-5f3595d0-15de-4255-89d8-c79a6045cada.png.</a:t>
            </a:r>
          </a:p>
          <a:p>
            <a:r>
              <a:t>- Artwork: AI-generated photorealistic composition proof, then AI-generated flat editorial vector-style transformation for slide 8.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Identity references: user-supplied Stranger Things Season 1 character sheet in stranger things bible.pdf.</a:t>
            </a:r>
          </a:p>
          <a:p>
            <a:r>
              <a:t>- User-supplied palette references: stranger things palette 2.jpg, stranger things palette 3.jpg, and st graphicnove;.jpg.</a:t>
            </a:r>
          </a:p>
          <a:p>
            <a:r>
              <a:t>- User-supplied Hellfire Club emblem reference: codex-clipboard-5f3595d0-15de-4255-89d8-c79a6045cada.png.</a:t>
            </a:r>
          </a:p>
          <a:p>
            <a:r>
              <a:t>- Artwork: AI-generated photorealistic composition proof, then AI-generated flat editorial vector-style transformation for slide 9.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Identity references: user-supplied Stranger Things Season 1 character sheet in stranger things bible.pdf.</a:t>
            </a:r>
          </a:p>
          <a:p>
            <a:r>
              <a:t>- User-supplied palette references: stranger things palette 2.jpg, stranger things palette 3.jpg, and st graphicnove;.jpg.</a:t>
            </a:r>
          </a:p>
          <a:p>
            <a:r>
              <a:t>- User-supplied Hellfire Club emblem reference: codex-clipboard-5f3595d0-15de-4255-89d8-c79a6045cada.png.</a:t>
            </a:r>
          </a:p>
          <a:p>
            <a:r>
              <a:t>- Artwork: AI-generated photorealistic composition proof, then AI-generated flat editorial vector-style transformation for slide 10.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Identity references: user-supplied Stranger Things Season 1 character sheet in stranger things bible.pdf.</a:t>
            </a:r>
          </a:p>
          <a:p>
            <a:r>
              <a:t>- User-supplied palette references: stranger things palette 2.jpg, stranger things palette 3.jpg, and st graphicnove;.jpg.</a:t>
            </a:r>
          </a:p>
          <a:p>
            <a:r>
              <a:t>- User-supplied Hellfire Club emblem reference: codex-clipboard-5f3595d0-15de-4255-89d8-c79a6045cada.png.</a:t>
            </a:r>
          </a:p>
          <a:p>
            <a:r>
              <a:t>- Artwork: AI-generated photorealistic composition proof, then AI-generated flat editorial vector-style transformation for slide 11.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Identity references: user-supplied Stranger Things Season 1 character sheet in stranger things bible.pdf.</a:t>
            </a:r>
          </a:p>
          <a:p>
            <a:r>
              <a:t>- User-supplied palette references: stranger things palette 2.jpg, stranger things palette 3.jpg, and st graphicnove;.jpg.</a:t>
            </a:r>
          </a:p>
          <a:p>
            <a:r>
              <a:t>- User-supplied Hellfire Club emblem reference: codex-clipboard-5f3595d0-15de-4255-89d8-c79a6045cada.png.</a:t>
            </a:r>
          </a:p>
          <a:p>
            <a:r>
              <a:t>- Artwork: AI-generated photorealistic composition proof, then AI-generated flat editorial vector-style transformation for slide 12.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Identity references: user-supplied Stranger Things Season 1 character sheet in stranger things bible.pdf.</a:t>
            </a:r>
          </a:p>
          <a:p>
            <a:r>
              <a:t>- User-supplied palette references: stranger things palette 2.jpg, stranger things palette 3.jpg, and st graphicnove;.jpg.</a:t>
            </a:r>
          </a:p>
          <a:p>
            <a:r>
              <a:t>- User-supplied Hellfire Club emblem reference: codex-clipboard-5f3595d0-15de-4255-89d8-c79a6045cada.png.</a:t>
            </a:r>
          </a:p>
          <a:p>
            <a:r>
              <a:t>- Artwork: AI-generated photorealistic composition proof, then AI-generated flat editorial vector-style transformation for slide 13.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Identity and setting references: user-supplied stranger things bible.pdf and stranger.jpg.</a:t>
            </a:r>
          </a:p>
          <a:p>
            <a:r>
              <a:t>- User-supplied palette references: stranger things palette 2.jpg, stranger things palette 3.jpg, and st graphicnove;.jpg.</a:t>
            </a:r>
          </a:p>
          <a:p>
            <a:r>
              <a:t>- User-supplied Hellfire Club emblem reference: codex-clipboard-5f3595d0-15de-4255-89d8-c79a6045cada.png.</a:t>
            </a:r>
          </a:p>
          <a:p>
            <a:r>
              <a:t>- Artwork: AI-generated composition proof and vector-style transformation created for this deck.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image" Target="../media/image4.jpe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Relationship Id="rId9" Type="http://schemas.openxmlformats.org/officeDocument/2006/relationships/image" Target="../media/image7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image" Target="../media/image10.png"/><Relationship Id="rId5" Type="http://schemas.openxmlformats.org/officeDocument/2006/relationships/image" Target="../media/image1.jpeg"/><Relationship Id="rId6" Type="http://schemas.openxmlformats.org/officeDocument/2006/relationships/image" Target="../media/image11.svg"/><Relationship Id="rId7" Type="http://schemas.openxmlformats.org/officeDocument/2006/relationships/image" Target="../media/image12.jpeg"/><Relationship Id="rId8" Type="http://schemas.openxmlformats.org/officeDocument/2006/relationships/image" Target="../media/image13.jpeg"/><Relationship Id="rId9" Type="http://schemas.openxmlformats.org/officeDocument/2006/relationships/image" Target="../media/image2.jpeg"/><Relationship Id="rId10" Type="http://schemas.openxmlformats.org/officeDocument/2006/relationships/image" Target="../media/image14.svg"/><Relationship Id="rId11" Type="http://schemas.openxmlformats.org/officeDocument/2006/relationships/image" Target="../media/image15.jpeg"/><Relationship Id="rId12" Type="http://schemas.openxmlformats.org/officeDocument/2006/relationships/image" Target="../media/image16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jpeg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11.svg"/><Relationship Id="rId5" Type="http://schemas.openxmlformats.org/officeDocument/2006/relationships/image" Target="../media/image18.jpeg"/><Relationship Id="rId6" Type="http://schemas.openxmlformats.org/officeDocument/2006/relationships/image" Target="../media/image19.jpeg"/><Relationship Id="rId7" Type="http://schemas.openxmlformats.org/officeDocument/2006/relationships/image" Target="../media/image20.jpeg"/><Relationship Id="rId8" Type="http://schemas.openxmlformats.org/officeDocument/2006/relationships/image" Target="../media/image4.jpeg"/><Relationship Id="rId9" Type="http://schemas.openxmlformats.org/officeDocument/2006/relationships/image" Target="../media/image14.svg"/><Relationship Id="rId10" Type="http://schemas.openxmlformats.org/officeDocument/2006/relationships/image" Target="../media/image21.jpeg"/><Relationship Id="rId11" Type="http://schemas.openxmlformats.org/officeDocument/2006/relationships/image" Target="../media/image1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jpeg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11.svg"/><Relationship Id="rId5" Type="http://schemas.openxmlformats.org/officeDocument/2006/relationships/image" Target="../media/image23.jpeg"/><Relationship Id="rId6" Type="http://schemas.openxmlformats.org/officeDocument/2006/relationships/image" Target="../media/image24.jpeg"/><Relationship Id="rId7" Type="http://schemas.openxmlformats.org/officeDocument/2006/relationships/image" Target="../media/image6.png"/><Relationship Id="rId8" Type="http://schemas.openxmlformats.org/officeDocument/2006/relationships/image" Target="../media/image14.svg"/><Relationship Id="rId9" Type="http://schemas.openxmlformats.org/officeDocument/2006/relationships/image" Target="../media/image16.png"/><Relationship Id="rId10" Type="http://schemas.openxmlformats.org/officeDocument/2006/relationships/image" Target="../media/image25.jpeg"/><Relationship Id="rId11" Type="http://schemas.openxmlformats.org/officeDocument/2006/relationships/image" Target="../media/image26.jpe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jpeg"/><Relationship Id="rId2" Type="http://schemas.openxmlformats.org/officeDocument/2006/relationships/image" Target="../media/image10.png"/><Relationship Id="rId3" Type="http://schemas.openxmlformats.org/officeDocument/2006/relationships/image" Target="../media/image7.jpeg"/><Relationship Id="rId4" Type="http://schemas.openxmlformats.org/officeDocument/2006/relationships/image" Target="../media/image11.svg"/><Relationship Id="rId5" Type="http://schemas.openxmlformats.org/officeDocument/2006/relationships/image" Target="../media/image27.jpeg"/><Relationship Id="rId6" Type="http://schemas.openxmlformats.org/officeDocument/2006/relationships/image" Target="../media/image28.jpeg"/><Relationship Id="rId7" Type="http://schemas.openxmlformats.org/officeDocument/2006/relationships/image" Target="../media/image29.jpeg"/><Relationship Id="rId8" Type="http://schemas.openxmlformats.org/officeDocument/2006/relationships/image" Target="../media/image8.jpeg"/><Relationship Id="rId9" Type="http://schemas.openxmlformats.org/officeDocument/2006/relationships/image" Target="../media/image14.svg"/><Relationship Id="rId10" Type="http://schemas.openxmlformats.org/officeDocument/2006/relationships/image" Target="../media/image30.jpeg"/><Relationship Id="rId11" Type="http://schemas.openxmlformats.org/officeDocument/2006/relationships/image" Target="../media/image31.jpeg"/><Relationship Id="rId12" Type="http://schemas.openxmlformats.org/officeDocument/2006/relationships/image" Target="../media/image32.jpeg"/><Relationship Id="rId13" Type="http://schemas.openxmlformats.org/officeDocument/2006/relationships/image" Target="../media/image16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9.jpeg"/><Relationship Id="rId3" Type="http://schemas.openxmlformats.org/officeDocument/2006/relationships/image" Target="../media/image11.svg"/><Relationship Id="rId4" Type="http://schemas.openxmlformats.org/officeDocument/2006/relationships/image" Target="../media/image33.jpeg"/><Relationship Id="rId5" Type="http://schemas.openxmlformats.org/officeDocument/2006/relationships/image" Target="../media/image34.jpeg"/><Relationship Id="rId6" Type="http://schemas.openxmlformats.org/officeDocument/2006/relationships/image" Target="../media/image14.svg"/><Relationship Id="rId7" Type="http://schemas.openxmlformats.org/officeDocument/2006/relationships/image" Target="../media/image16.png"/><Relationship Id="rId8" Type="http://schemas.openxmlformats.org/officeDocument/2006/relationships/image" Target="../media/image35.jpeg"/><Relationship Id="rId9" Type="http://schemas.openxmlformats.org/officeDocument/2006/relationships/image" Target="../media/image36.jpe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svg"/><Relationship Id="rId3" Type="http://schemas.openxmlformats.org/officeDocument/2006/relationships/image" Target="../media/image37.jpeg"/><Relationship Id="rId4" Type="http://schemas.openxmlformats.org/officeDocument/2006/relationships/image" Target="../media/image38.jpeg"/><Relationship Id="rId5" Type="http://schemas.openxmlformats.org/officeDocument/2006/relationships/image" Target="../media/image39.jpeg"/><Relationship Id="rId6" Type="http://schemas.openxmlformats.org/officeDocument/2006/relationships/image" Target="../media/image40.jpeg"/><Relationship Id="rId7" Type="http://schemas.openxmlformats.org/officeDocument/2006/relationships/image" Target="../media/image12.jpeg"/><Relationship Id="rId8" Type="http://schemas.openxmlformats.org/officeDocument/2006/relationships/image" Target="../media/image14.svg"/><Relationship Id="rId9" Type="http://schemas.openxmlformats.org/officeDocument/2006/relationships/image" Target="../media/image16.png"/><Relationship Id="rId10" Type="http://schemas.openxmlformats.org/officeDocument/2006/relationships/image" Target="../media/image41.jpeg"/><Relationship Id="rId11" Type="http://schemas.openxmlformats.org/officeDocument/2006/relationships/image" Target="../media/image42.jpeg"/><Relationship Id="rId12" Type="http://schemas.openxmlformats.org/officeDocument/2006/relationships/image" Target="../media/image43.jpeg"/><Relationship Id="rId13" Type="http://schemas.openxmlformats.org/officeDocument/2006/relationships/image" Target="../media/image44.jpeg"/><Relationship Id="rId14" Type="http://schemas.openxmlformats.org/officeDocument/2006/relationships/image" Target="../media/image45.jpeg"/><Relationship Id="rId15" Type="http://schemas.openxmlformats.org/officeDocument/2006/relationships/image" Target="../media/image46.jpeg"/><Relationship Id="rId16" Type="http://schemas.openxmlformats.org/officeDocument/2006/relationships/image" Target="../media/image47.jpe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9.jpeg"/><Relationship Id="rId3" Type="http://schemas.openxmlformats.org/officeDocument/2006/relationships/image" Target="../media/image11.svg"/><Relationship Id="rId4" Type="http://schemas.openxmlformats.org/officeDocument/2006/relationships/image" Target="../media/image12.jpeg"/><Relationship Id="rId5" Type="http://schemas.openxmlformats.org/officeDocument/2006/relationships/image" Target="../media/image14.svg"/><Relationship Id="rId6" Type="http://schemas.openxmlformats.org/officeDocument/2006/relationships/image" Target="../media/image48.jpeg"/><Relationship Id="rId7" Type="http://schemas.openxmlformats.org/officeDocument/2006/relationships/image" Target="../media/image49.jpeg"/><Relationship Id="rId8" Type="http://schemas.openxmlformats.org/officeDocument/2006/relationships/image" Target="../media/image50.jpeg"/><Relationship Id="rId9" Type="http://schemas.openxmlformats.org/officeDocument/2006/relationships/image" Target="../media/image51.jpeg"/><Relationship Id="rId10" Type="http://schemas.openxmlformats.org/officeDocument/2006/relationships/image" Target="../media/image52.jpeg"/><Relationship Id="rId11" Type="http://schemas.openxmlformats.org/officeDocument/2006/relationships/image" Target="../media/image53.jpeg"/><Relationship Id="rId12" Type="http://schemas.openxmlformats.org/officeDocument/2006/relationships/image" Target="../media/image54.jpeg"/><Relationship Id="rId13" Type="http://schemas.openxmlformats.org/officeDocument/2006/relationships/image" Target="../media/image55.jpeg"/><Relationship Id="rId14" Type="http://schemas.openxmlformats.org/officeDocument/2006/relationships/image" Target="../media/image16.png"/><Relationship Id="rId15" Type="http://schemas.openxmlformats.org/officeDocument/2006/relationships/image" Target="../media/image56.jpe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2.jpeg"/><Relationship Id="rId3" Type="http://schemas.openxmlformats.org/officeDocument/2006/relationships/image" Target="../media/image11.svg"/><Relationship Id="rId4" Type="http://schemas.openxmlformats.org/officeDocument/2006/relationships/image" Target="../media/image14.svg"/><Relationship Id="rId5" Type="http://schemas.openxmlformats.org/officeDocument/2006/relationships/image" Target="../media/image16.png"/><Relationship Id="rId6" Type="http://schemas.openxmlformats.org/officeDocument/2006/relationships/image" Target="../media/image57.jpeg"/><Relationship Id="rId7" Type="http://schemas.openxmlformats.org/officeDocument/2006/relationships/image" Target="../media/image58.jpeg"/><Relationship Id="rId8" Type="http://schemas.openxmlformats.org/officeDocument/2006/relationships/image" Target="../media/image59.jpeg"/><Relationship Id="rId9" Type="http://schemas.openxmlformats.org/officeDocument/2006/relationships/image" Target="../media/image60.jpe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3.jpeg"/><Relationship Id="rId3" Type="http://schemas.openxmlformats.org/officeDocument/2006/relationships/image" Target="../media/image11.svg"/><Relationship Id="rId4" Type="http://schemas.openxmlformats.org/officeDocument/2006/relationships/image" Target="../media/image9.jpeg"/><Relationship Id="rId5" Type="http://schemas.openxmlformats.org/officeDocument/2006/relationships/image" Target="../media/image14.svg"/><Relationship Id="rId6" Type="http://schemas.openxmlformats.org/officeDocument/2006/relationships/image" Target="../media/image16.png"/><Relationship Id="rId7" Type="http://schemas.openxmlformats.org/officeDocument/2006/relationships/image" Target="../media/image61.jpeg"/><Relationship Id="rId8" Type="http://schemas.openxmlformats.org/officeDocument/2006/relationships/image" Target="../media/image62.jpeg"/><Relationship Id="rId9" Type="http://schemas.openxmlformats.org/officeDocument/2006/relationships/image" Target="../media/image63.jpeg"/><Relationship Id="rId10" Type="http://schemas.openxmlformats.org/officeDocument/2006/relationships/image" Target="../media/image64.jpeg"/><Relationship Id="rId11" Type="http://schemas.openxmlformats.org/officeDocument/2006/relationships/image" Target="../media/image65.jpeg"/><Relationship Id="rId12" Type="http://schemas.openxmlformats.org/officeDocument/2006/relationships/image" Target="../media/image66.jpeg"/><Relationship Id="rId13" Type="http://schemas.openxmlformats.org/officeDocument/2006/relationships/image" Target="../media/image67.jpeg"/><Relationship Id="rId14" Type="http://schemas.openxmlformats.org/officeDocument/2006/relationships/image" Target="../media/image68.jpe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5.jpeg"/><Relationship Id="rId3" Type="http://schemas.openxmlformats.org/officeDocument/2006/relationships/image" Target="../media/image11.svg"/><Relationship Id="rId4" Type="http://schemas.openxmlformats.org/officeDocument/2006/relationships/image" Target="../media/image16.png"/><Relationship Id="rId5" Type="http://schemas.openxmlformats.org/officeDocument/2006/relationships/image" Target="../media/image14.svg"/><Relationship Id="rId6" Type="http://schemas.openxmlformats.org/officeDocument/2006/relationships/image" Target="../media/image69.jpeg"/><Relationship Id="rId7" Type="http://schemas.openxmlformats.org/officeDocument/2006/relationships/image" Target="../media/image70.jpeg"/><Relationship Id="rId8" Type="http://schemas.openxmlformats.org/officeDocument/2006/relationships/image" Target="../media/image71.jpe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7.jpeg"/><Relationship Id="rId3" Type="http://schemas.openxmlformats.org/officeDocument/2006/relationships/image" Target="../media/image11.svg"/><Relationship Id="rId4" Type="http://schemas.openxmlformats.org/officeDocument/2006/relationships/image" Target="../media/image14.svg"/><Relationship Id="rId5" Type="http://schemas.openxmlformats.org/officeDocument/2006/relationships/image" Target="../media/image16.png"/><Relationship Id="rId6" Type="http://schemas.openxmlformats.org/officeDocument/2006/relationships/image" Target="../media/image72.jpeg"/><Relationship Id="rId7" Type="http://schemas.openxmlformats.org/officeDocument/2006/relationships/image" Target="../media/image73.jpe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8.jpeg"/><Relationship Id="rId3" Type="http://schemas.openxmlformats.org/officeDocument/2006/relationships/image" Target="../media/image11.svg"/><Relationship Id="rId4" Type="http://schemas.openxmlformats.org/officeDocument/2006/relationships/image" Target="../media/image19.jpeg"/><Relationship Id="rId5" Type="http://schemas.openxmlformats.org/officeDocument/2006/relationships/image" Target="../media/image14.svg"/><Relationship Id="rId6" Type="http://schemas.openxmlformats.org/officeDocument/2006/relationships/image" Target="../media/image16.png"/><Relationship Id="rId7" Type="http://schemas.openxmlformats.org/officeDocument/2006/relationships/image" Target="../media/image74.jpeg"/><Relationship Id="rId8" Type="http://schemas.openxmlformats.org/officeDocument/2006/relationships/image" Target="../media/image75.jpe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6.png"/><Relationship Id="rId3" Type="http://schemas.openxmlformats.org/officeDocument/2006/relationships/image" Target="../media/image76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7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3848" y="0"/>
            <a:ext cx="9144000" cy="6858000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 eyebrow"/>
          <p:cNvSpPr>
            <a:spLocks noGrp="1"/>
          </p:cNvSpPr>
          <p:nvPr/>
        </p:nvSpPr>
        <p:spPr>
          <a:xfrm>
            <a:off x="819150" y="45720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Cover title Twin"/>
          <p:cNvSpPr>
            <a:spLocks noGrp="1"/>
          </p:cNvSpPr>
          <p:nvPr/>
        </p:nvSpPr>
        <p:spPr>
          <a:xfrm>
            <a:off x="781050" y="876300"/>
            <a:ext cx="45720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6450" b="1">
                <a:solidFill>
                  <a:srgbClr val="101918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6450" b="1">
                <a:solidFill>
                  <a:srgbClr val="101918"/>
                </a:solidFill>
                <a:latin typeface="Noto Sans Display Condensed"/>
                <a:ea typeface="Noto Sans Display Condensed"/>
                <a:cs typeface="Noto Sans Display Condensed"/>
              </a:rPr>
              <a:t>TWIN</a:t>
            </a:r>
            <a:endParaRPr sz="6450" b="1">
              <a:solidFill>
                <a:srgbClr val="101918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5" name="Cover title Peaks"/>
          <p:cNvSpPr>
            <a:spLocks noGrp="1"/>
          </p:cNvSpPr>
          <p:nvPr/>
        </p:nvSpPr>
        <p:spPr>
          <a:xfrm>
            <a:off x="781050" y="1771650"/>
            <a:ext cx="47625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6450" b="1">
                <a:solidFill>
                  <a:srgbClr val="101918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6450" b="1">
                <a:solidFill>
                  <a:srgbClr val="101918"/>
                </a:solidFill>
                <a:latin typeface="Noto Sans Display Condensed"/>
                <a:ea typeface="Noto Sans Display Condensed"/>
                <a:cs typeface="Noto Sans Display Condensed"/>
              </a:rPr>
              <a:t>PEAKS</a:t>
            </a:r>
            <a:endParaRPr sz="6450" b="1">
              <a:solidFill>
                <a:srgbClr val="101918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6" name="Cover subtitle"/>
          <p:cNvSpPr>
            <a:spLocks noGrp="1"/>
          </p:cNvSpPr>
          <p:nvPr/>
        </p:nvSpPr>
        <p:spPr>
          <a:xfrm>
            <a:off x="838200" y="2905125"/>
            <a:ext cx="419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771900"/>
            <a:ext cx="723900" cy="723900"/>
          </a:xfrm>
          <a:prstGeom prst="rect">
            <a:avLst/>
          </a:prstGeom>
        </p:spPr>
      </p:pic>
      <p:sp>
        <p:nvSpPr>
          <p:cNvPr id="8" name="Cover guide line 1"/>
          <p:cNvSpPr>
            <a:spLocks noGrp="1"/>
          </p:cNvSpPr>
          <p:nvPr/>
        </p:nvSpPr>
        <p:spPr>
          <a:xfrm>
            <a:off x="781050" y="4572000"/>
            <a:ext cx="2000250" cy="257175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 anchor="ctr"/>
          <a:lstStyle/>
          <a:p>
            <a:pPr algn="l">
              <a:buNone/>
              <a:defRPr sz="1275" b="1">
                <a:solidFill>
                  <a:srgbClr val="101918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1275" b="1">
                <a:solidFill>
                  <a:srgbClr val="E6DFCF"/>
                </a:solidFill>
                <a:latin typeface="Noto Sans Display Condensed"/>
                <a:ea typeface="Noto Sans Display Condensed"/>
                <a:cs typeface="Noto Sans Display Condensed"/>
              </a:rPr>
              <a:t>A VISUAL GUIDE</a:t>
            </a:r>
            <a:endParaRPr sz="1275" b="1">
              <a:solidFill>
                <a:srgbClr val="E6DFCF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9" name="Cover guide line 2"/>
          <p:cNvSpPr>
            <a:spLocks noGrp="1"/>
          </p:cNvSpPr>
          <p:nvPr/>
        </p:nvSpPr>
        <p:spPr>
          <a:xfrm>
            <a:off x="781050" y="48196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 anchor="ctr"/>
          <a:lstStyle/>
          <a:p>
            <a:pPr algn="l">
              <a:buNone/>
              <a:defRPr sz="1275" b="1">
                <a:solidFill>
                  <a:srgbClr val="101918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1275" b="1">
                <a:solidFill>
                  <a:srgbClr val="E6DFCF"/>
                </a:solidFill>
                <a:latin typeface="Noto Sans Display Condensed"/>
                <a:ea typeface="Noto Sans Display Condensed"/>
                <a:cs typeface="Noto Sans Display Condensed"/>
              </a:rPr>
              <a:t>TO PREPOSITIONS</a:t>
            </a:r>
            <a:endParaRPr sz="1275" b="1">
              <a:solidFill>
                <a:srgbClr val="E6DFCF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pic>
        <p:nvPicPr>
          <p:cNvPr id="36" name="Picture 35"/>
          <p:cNvPicPr>
            <a:picLocks noChangeAspect="1"/>
          </p:cNvPicPr>
          <p:nvPr/>
        </p:nvPicPr>
        <p:blipFill>
          <a:blip r:embed="rId4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Cover eyebrow final"/>
          <p:cNvSpPr>
            <a:spLocks noGrp="1"/>
          </p:cNvSpPr>
          <p:nvPr/>
        </p:nvSpPr>
        <p:spPr>
          <a:xfrm>
            <a:off x="819150" y="45720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</a:pPr>
            <a:endParaRPr sz="1800" b="1" i="0">
              <a:solidFill>
                <a:srgbClr val="101918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15" name="Cover title Twin final"/>
          <p:cNvSpPr>
            <a:spLocks noGrp="1"/>
          </p:cNvSpPr>
          <p:nvPr/>
        </p:nvSpPr>
        <p:spPr>
          <a:xfrm>
            <a:off x="781050" y="876300"/>
            <a:ext cx="45720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</a:pPr>
            <a:endParaRPr sz="8600" b="1" i="0">
              <a:solidFill>
                <a:srgbClr val="101918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16" name="Cover title Peaks final"/>
          <p:cNvSpPr>
            <a:spLocks noGrp="1"/>
          </p:cNvSpPr>
          <p:nvPr/>
        </p:nvSpPr>
        <p:spPr>
          <a:xfrm>
            <a:off x="781050" y="1771650"/>
            <a:ext cx="47625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</a:pPr>
            <a:endParaRPr sz="8600" b="1" i="0">
              <a:solidFill>
                <a:srgbClr val="101918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17" name="Cover subtitle final"/>
          <p:cNvSpPr>
            <a:spLocks noGrp="1"/>
          </p:cNvSpPr>
          <p:nvPr/>
        </p:nvSpPr>
        <p:spPr>
          <a:xfrm>
            <a:off x="838200" y="2905125"/>
            <a:ext cx="419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</a:pPr>
            <a:endParaRPr sz="2400" b="1" i="0">
              <a:solidFill>
                <a:srgbClr val="8E1D24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pic>
        <p:nvPicPr>
          <p:cNvPr id="41" name="Picture 40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14400" y="3771900"/>
            <a:ext cx="723900" cy="723900"/>
          </a:xfrm>
          <a:prstGeom prst="rect">
            <a:avLst/>
          </a:prstGeom>
        </p:spPr>
      </p:pic>
      <p:sp>
        <p:nvSpPr>
          <p:cNvPr id="19" name="Cover guide line 1 final"/>
          <p:cNvSpPr>
            <a:spLocks noGrp="1"/>
          </p:cNvSpPr>
          <p:nvPr/>
        </p:nvSpPr>
        <p:spPr>
          <a:xfrm>
            <a:off x="365760" y="4027931"/>
            <a:ext cx="4754880" cy="257175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  <p:txBody>
          <a:bodyPr wrap="none" lIns="0" tIns="0" rIns="0" bIns="0" anchor="ctr">
            <a:normAutofit fontScale="99265"/>
          </a:bodyPr>
          <a:lstStyle/>
          <a:p>
            <a:pPr algn="l">
              <a:buNone/>
            </a:pPr>
            <a:r>
              <a:rPr sz="1700" b="1" i="0">
                <a:solidFill>
                  <a:srgbClr val="C4CBD5"/>
                </a:solidFill>
                <a:latin typeface="Noto Sans Display Condensed"/>
                <a:ea typeface="Noto Sans Display Condensed"/>
                <a:cs typeface="Noto Sans Display Condensed"/>
              </a:rPr>
              <a:t>A VISUAL GUIDE TO PREPOSITIONS</a:t>
            </a:r>
            <a:endParaRPr sz="1700" b="1" i="0">
              <a:solidFill>
                <a:srgbClr val="E6DFCF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61950" y="838200"/>
            <a:ext cx="5905500" cy="2146649"/>
          </a:xfrm>
          <a:prstGeom prst="rect">
            <a:avLst/>
          </a:prstGeom>
        </p:spPr>
      </p:pic>
      <p:pic>
        <p:nvPicPr>
          <p:cNvPr id="45" name="Picture 44" descr="locku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5760" y="6243035"/>
            <a:ext cx="936345" cy="3589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25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3848" y="0"/>
            <a:ext cx="9144000" cy="6858000"/>
          </a:xfrm>
          <a:prstGeom prst="rect">
            <a:avLst/>
          </a:prstGeom>
        </p:spPr>
      </p:pic>
      <p:sp>
        <p:nvSpPr>
          <p:cNvPr id="2" name="Cream background overlay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3" name="Slide number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778"/>
          </a:bodyPr>
          <a:lstStyle/>
          <a:p>
            <a:pPr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90111C"/>
                </a:solidFill>
                <a:latin typeface="Aptos"/>
                <a:ea typeface="Aptos"/>
                <a:cs typeface="Aptos"/>
              </a:rPr>
              <a:t>1</a:t>
            </a:r>
            <a:endParaRPr sz="1350" b="1" i="0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Header separator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5" name="Running header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Centre divider"/>
          <p:cNvSpPr>
            <a:spLocks noGrp="1"/>
          </p:cNvSpPr>
          <p:nvPr/>
        </p:nvSpPr>
        <p:spPr>
          <a:xfrm>
            <a:off x="6095429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7" name="Centre diamond"/>
          <p:cNvSpPr>
            <a:spLocks noGrp="1"/>
          </p:cNvSpPr>
          <p:nvPr/>
        </p:nvSpPr>
        <p:spPr>
          <a:xfrm>
            <a:off x="6017705" y="3136392"/>
            <a:ext cx="155448" cy="155448"/>
          </a:xfrm>
          <a:prstGeom prst="diamond">
            <a:avLst/>
          </a:prstGeom>
          <a:solidFill>
            <a:srgbClr val="107390"/>
          </a:solidFill>
          <a:ln w="0">
            <a:noFill/>
            <a:prstDash val="solid"/>
          </a:ln>
        </p:spPr>
      </p:sp>
      <p:sp>
        <p:nvSpPr>
          <p:cNvPr id="8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>
                <a:solidFill>
                  <a:srgbClr val="C9C5BD"/>
                </a:solidFill>
              </a:defRPr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BETWEEN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9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>
                <a:solidFill>
                  <a:srgbClr val="C9C5BD"/>
                </a:solidFill>
              </a:defRPr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AMONG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pic>
        <p:nvPicPr>
          <p:cNvPr id="234" name="Picture 233"/>
          <p:cNvPicPr>
            <a:picLocks noChangeAspect="1"/>
          </p:cNvPicPr>
          <p:nvPr/>
        </p:nvPicPr>
        <p:blipFill>
          <a:blip r:embed="rId2"/>
          <a:srcRect t="1717" b="1717"/>
          <a:stretch>
            <a:fillRect/>
          </a:stretch>
        </p:blipFill>
        <p:spPr>
          <a:xfrm>
            <a:off x="694944" y="1645920"/>
            <a:ext cx="4882896" cy="3145536"/>
          </a:xfrm>
          <a:prstGeom prst="rect">
            <a:avLst/>
          </a:prstGeom>
        </p:spPr>
      </p:pic>
      <p:pic>
        <p:nvPicPr>
          <p:cNvPr id="235" name="Picture 234"/>
          <p:cNvPicPr>
            <a:picLocks noChangeAspect="1"/>
          </p:cNvPicPr>
          <p:nvPr/>
        </p:nvPicPr>
        <p:blipFill>
          <a:blip r:embed="rId3"/>
          <a:srcRect t="1717" b="1717"/>
          <a:stretch>
            <a:fillRect/>
          </a:stretch>
        </p:blipFill>
        <p:spPr>
          <a:xfrm>
            <a:off x="6611112" y="1645920"/>
            <a:ext cx="4882896" cy="3145536"/>
          </a:xfrm>
          <a:prstGeom prst="rect">
            <a:avLst/>
          </a:prstGeom>
        </p:spPr>
      </p:pic>
      <p:sp>
        <p:nvSpPr>
          <p:cNvPr id="12" name="Between sentence"/>
          <p:cNvSpPr>
            <a:spLocks noGrp="1"/>
          </p:cNvSpPr>
          <p:nvPr/>
        </p:nvSpPr>
        <p:spPr>
          <a:xfrm>
            <a:off x="585216" y="5212080"/>
            <a:ext cx="5102352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Among sentence"/>
          <p:cNvSpPr>
            <a:spLocks noGrp="1"/>
          </p:cNvSpPr>
          <p:nvPr/>
        </p:nvSpPr>
        <p:spPr>
          <a:xfrm>
            <a:off x="6501384" y="5212080"/>
            <a:ext cx="5102352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Between definition title"/>
          <p:cNvSpPr>
            <a:spLocks noGrp="1"/>
          </p:cNvSpPr>
          <p:nvPr/>
        </p:nvSpPr>
        <p:spPr>
          <a:xfrm>
            <a:off x="777240" y="5632704"/>
            <a:ext cx="47548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300" b="1" i="0">
                <a:solidFill>
                  <a:srgbClr val="8A1A1E"/>
                </a:solidFill>
                <a:latin typeface="Noto Sans Display Condensed"/>
                <a:ea typeface="Noto Sans Display Condensed"/>
                <a:cs typeface="Noto Sans Display Condensed"/>
              </a:rPr>
              <a:t>BETWEEN</a:t>
            </a:r>
            <a:endParaRPr sz="1300" b="1" i="0">
              <a:solidFill>
                <a:srgbClr val="8A1A1E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15" name="Between definition"/>
          <p:cNvSpPr>
            <a:spLocks noGrp="1"/>
          </p:cNvSpPr>
          <p:nvPr/>
        </p:nvSpPr>
        <p:spPr>
          <a:xfrm>
            <a:off x="777240" y="5879592"/>
            <a:ext cx="4754880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100" b="0" i="1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used for two people or things.</a:t>
            </a:r>
            <a:endParaRPr sz="1100" b="0" i="1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6" name="Among definition title"/>
          <p:cNvSpPr>
            <a:spLocks noGrp="1"/>
          </p:cNvSpPr>
          <p:nvPr/>
        </p:nvSpPr>
        <p:spPr>
          <a:xfrm>
            <a:off x="6656832" y="5632704"/>
            <a:ext cx="475488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300" b="1" i="0">
                <a:solidFill>
                  <a:srgbClr val="8A1A1E"/>
                </a:solidFill>
                <a:latin typeface="Noto Sans Display Condensed"/>
                <a:ea typeface="Noto Sans Display Condensed"/>
                <a:cs typeface="Noto Sans Display Condensed"/>
              </a:rPr>
              <a:t>AMONG</a:t>
            </a:r>
            <a:endParaRPr sz="1300" b="1" i="0">
              <a:solidFill>
                <a:srgbClr val="8A1A1E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17" name="Among definition"/>
          <p:cNvSpPr>
            <a:spLocks noGrp="1"/>
          </p:cNvSpPr>
          <p:nvPr/>
        </p:nvSpPr>
        <p:spPr>
          <a:xfrm>
            <a:off x="6656832" y="5879592"/>
            <a:ext cx="4754880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100" b="0" i="1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used for three or more people or things.</a:t>
            </a:r>
            <a:endParaRPr sz="1100" b="0" i="1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8" name="Footer line left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19" name="Footer line right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244" name="Picture 24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824" y="6007608"/>
            <a:ext cx="530352" cy="530352"/>
          </a:xfrm>
          <a:prstGeom prst="rect">
            <a:avLst/>
          </a:prstGeom>
        </p:spPr>
      </p:pic>
      <p:sp>
        <p:nvSpPr>
          <p:cNvPr id="21" name="Footer left"/>
          <p:cNvSpPr>
            <a:spLocks noGrp="1"/>
          </p:cNvSpPr>
          <p:nvPr/>
        </p:nvSpPr>
        <p:spPr>
          <a:xfrm>
            <a:off x="310896" y="6382512"/>
            <a:ext cx="22860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 i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Footer right"/>
          <p:cNvSpPr>
            <a:spLocks noGrp="1"/>
          </p:cNvSpPr>
          <p:nvPr/>
        </p:nvSpPr>
        <p:spPr>
          <a:xfrm>
            <a:off x="8302752" y="6382512"/>
            <a:ext cx="2852928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</a:pPr>
            <a:endParaRPr sz="1200" b="1" i="0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27" name="Slide 4 system background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28" name="Slide number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778"/>
          </a:bodyPr>
          <a:lstStyle/>
          <a:p>
            <a:pPr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90111C"/>
                </a:solidFill>
                <a:latin typeface="Aptos"/>
                <a:ea typeface="Aptos"/>
                <a:cs typeface="Aptos"/>
              </a:rPr>
              <a:t>1</a:t>
            </a:r>
            <a:endParaRPr sz="1350" b="1" i="0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Header separator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30" name="Running header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1" name="Centre divider"/>
          <p:cNvSpPr>
            <a:spLocks noGrp="1"/>
          </p:cNvSpPr>
          <p:nvPr/>
        </p:nvSpPr>
        <p:spPr>
          <a:xfrm>
            <a:off x="6095429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2" name="Centre diamond"/>
          <p:cNvSpPr>
            <a:spLocks noGrp="1"/>
          </p:cNvSpPr>
          <p:nvPr/>
        </p:nvSpPr>
        <p:spPr>
          <a:xfrm>
            <a:off x="6017705" y="3136392"/>
            <a:ext cx="155448" cy="155448"/>
          </a:xfrm>
          <a:prstGeom prst="diamond">
            <a:avLst/>
          </a:prstGeom>
          <a:solidFill>
            <a:srgbClr val="107390"/>
          </a:solidFill>
          <a:ln w="0">
            <a:noFill/>
            <a:prstDash val="solid"/>
          </a:ln>
        </p:spPr>
      </p:sp>
      <p:sp>
        <p:nvSpPr>
          <p:cNvPr id="33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BETWEEN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4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AMONG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5" name="Footer line left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6" name="Footer line right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257" name="Picture 25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38" name="Footer left"/>
          <p:cNvSpPr>
            <a:spLocks noGrp="1"/>
          </p:cNvSpPr>
          <p:nvPr/>
        </p:nvSpPr>
        <p:spPr>
          <a:xfrm>
            <a:off x="304800" y="63817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 i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9" name="Footer course"/>
          <p:cNvSpPr>
            <a:spLocks noGrp="1"/>
          </p:cNvSpPr>
          <p:nvPr/>
        </p:nvSpPr>
        <p:spPr>
          <a:xfrm>
            <a:off x="8096250" y="6381750"/>
            <a:ext cx="276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</a:pPr>
            <a:endParaRPr sz="1200" b="1" i="0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260" name="Picture 259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44250" y="6267450"/>
            <a:ext cx="781050" cy="361950"/>
          </a:xfrm>
          <a:prstGeom prst="rect">
            <a:avLst/>
          </a:prstGeom>
        </p:spPr>
      </p:pic>
      <p:pic>
        <p:nvPicPr>
          <p:cNvPr id="261" name="Picture 260"/>
          <p:cNvPicPr>
            <a:picLocks noChangeAspect="1"/>
          </p:cNvPicPr>
          <p:nvPr/>
        </p:nvPicPr>
        <p:blipFill>
          <a:blip r:embed="rId7"/>
          <a:srcRect t="762" b="762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pic>
        <p:nvPicPr>
          <p:cNvPr id="262" name="Picture 261"/>
          <p:cNvPicPr>
            <a:picLocks noChangeAspect="1"/>
          </p:cNvPicPr>
          <p:nvPr/>
        </p:nvPicPr>
        <p:blipFill>
          <a:blip r:embed="rId3"/>
          <a:srcRect t="762" b="762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44" name="Sentence field left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5" name="Sentence field right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6" name="Sentence left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7" name="Sentence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Lucas is sitting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among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boys.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6" name="Corrected BETWEEN Cooper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68" name="Picture 267"/>
          <p:cNvPicPr>
            <a:picLocks noChangeAspect="1"/>
          </p:cNvPicPr>
          <p:nvPr/>
        </p:nvPicPr>
        <p:blipFill>
          <a:blip r:embed="rId7"/>
          <a:srcRect t="762" b="762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58" name="Corrected BETWEEN Cooper border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68" name="Audrey BETWEEN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71" name="Picture 270"/>
          <p:cNvPicPr>
            <a:picLocks noChangeAspect="1"/>
          </p:cNvPicPr>
          <p:nvPr/>
        </p:nvPicPr>
        <p:blipFill>
          <a:blip r:embed="rId7"/>
          <a:srcRect t="762" b="762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70" name="Audrey BETWEEN border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71" name="Audrey caption backing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2" name="Audrey BETWEEN caption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3" name="Audrey BETWEEN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76" name="Picture 275"/>
          <p:cNvPicPr>
            <a:picLocks noChangeAspect="1"/>
          </p:cNvPicPr>
          <p:nvPr/>
        </p:nvPicPr>
        <p:blipFill>
          <a:blip r:embed="rId7"/>
          <a:srcRect t="762" b="762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85" name="Audrey BETWEEN border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86" name="Audrey caption backing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7" name="Audrey BETWEEN caption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Eleven is standing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between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Mike and Dustin.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9" name="Pink Audrey BETWEEN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81" name="Picture 280"/>
          <p:cNvPicPr>
            <a:picLocks noChangeAspect="1"/>
          </p:cNvPicPr>
          <p:nvPr/>
        </p:nvPicPr>
        <p:blipFill>
          <a:blip r:embed="rId8"/>
          <a:srcRect t="762" b="762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101" name="Pink Audrey BETWEEN border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14" name="Clean emblem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84" name="Picture 283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128" name="Dictaphone Cooper AMONG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86" name="Picture 285"/>
          <p:cNvPicPr>
            <a:picLocks noChangeAspect="1"/>
          </p:cNvPicPr>
          <p:nvPr/>
        </p:nvPicPr>
        <p:blipFill>
          <a:blip r:embed="rId3"/>
          <a:srcRect t="762" b="762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130" name="Dictaphone Cooper AMONG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45" name="Previous Cooper dictaphone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89" name="Picture 288"/>
          <p:cNvPicPr>
            <a:picLocks noChangeAspect="1"/>
          </p:cNvPicPr>
          <p:nvPr/>
        </p:nvPicPr>
        <p:blipFill>
          <a:blip r:embed="rId11"/>
          <a:srcRect t="762" b="762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147" name="Previous Cooper dictaphone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63" name="Cover emblem clean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92" name="Picture 291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180" name="Basic course header clean backing"/>
          <p:cNvSpPr>
            <a:spLocks noGrp="1"/>
          </p:cNvSpPr>
          <p:nvPr/>
        </p:nvSpPr>
        <p:spPr>
          <a:xfrm>
            <a:off x="723900" y="133350"/>
            <a:ext cx="3286125" cy="381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81" name="Basic course running header"/>
          <p:cNvSpPr>
            <a:spLocks noGrp="1"/>
          </p:cNvSpPr>
          <p:nvPr/>
        </p:nvSpPr>
        <p:spPr>
          <a:xfrm>
            <a:off x="762000" y="1714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2" name="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83" name="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between for a position separating two distinct people or things.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4" name="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85" name="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among when someone or something is surrounded by a group.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2" name="Italic 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203" name="Italic 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91390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between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a position separating two distinct people or things.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4" name="Italic 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205" name="Italic 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91807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among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when someone or something is surrounded by a group.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6" name="Forbes English footer clean backing"/>
          <p:cNvSpPr>
            <a:spLocks noGrp="1"/>
          </p:cNvSpPr>
          <p:nvPr/>
        </p:nvSpPr>
        <p:spPr>
          <a:xfrm>
            <a:off x="11096625" y="6276975"/>
            <a:ext cx="914400" cy="42862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207" name="Forbes English footer wordmark"/>
          <p:cNvSpPr>
            <a:spLocks noGrp="1"/>
          </p:cNvSpPr>
          <p:nvPr/>
        </p:nvSpPr>
        <p:spPr>
          <a:xfrm>
            <a:off x="11172825" y="6315075"/>
            <a:ext cx="7334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750"/>
          </a:bodyPr>
          <a:lstStyle/>
          <a:p>
            <a:pPr algn="ctr">
              <a:buNone/>
            </a:pPr>
            <a:r>
              <a:rPr sz="1200" b="1" i="0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Forbes</a:t>
            </a:r>
            <a:endParaRPr sz="1200" b="1" i="0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208" name="Forbes English footer second line"/>
          <p:cNvSpPr>
            <a:spLocks noGrp="1"/>
          </p:cNvSpPr>
          <p:nvPr/>
        </p:nvSpPr>
        <p:spPr>
          <a:xfrm>
            <a:off x="11172825" y="6477000"/>
            <a:ext cx="7334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750" b="1" i="0">
                <a:solidFill>
                  <a:srgbClr val="111111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ENGLISH</a:t>
            </a:r>
            <a:endParaRPr sz="750" b="1" i="0">
              <a:solidFill>
                <a:srgbClr val="111111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6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3848" y="0"/>
            <a:ext cx="9144000" cy="6858000"/>
          </a:xfrm>
          <a:prstGeom prst="rect">
            <a:avLst/>
          </a:prstGeom>
        </p:spPr>
      </p:pic>
      <p:sp>
        <p:nvSpPr>
          <p:cNvPr id="2" name="Title mask left"/>
          <p:cNvSpPr>
            <a:spLocks noGrp="1"/>
          </p:cNvSpPr>
          <p:nvPr/>
        </p:nvSpPr>
        <p:spPr>
          <a:xfrm>
            <a:off x="571500" y="571500"/>
            <a:ext cx="5305425" cy="11049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3" name="Title mask right"/>
          <p:cNvSpPr>
            <a:spLocks noGrp="1"/>
          </p:cNvSpPr>
          <p:nvPr/>
        </p:nvSpPr>
        <p:spPr>
          <a:xfrm>
            <a:off x="6324600" y="571500"/>
            <a:ext cx="5305425" cy="11049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4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>
                <a:solidFill>
                  <a:srgbClr val="C9C5BD"/>
                </a:solidFill>
              </a:defRPr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IN FRONT OF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5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>
                <a:solidFill>
                  <a:srgbClr val="C9C5BD"/>
                </a:solidFill>
              </a:defRPr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BEHIND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6" name="Sentence mask left"/>
          <p:cNvSpPr>
            <a:spLocks noGrp="1"/>
          </p:cNvSpPr>
          <p:nvPr/>
        </p:nvSpPr>
        <p:spPr>
          <a:xfrm>
            <a:off x="495300" y="5095875"/>
            <a:ext cx="5286375" cy="9334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" name="Sentence mask right"/>
          <p:cNvSpPr>
            <a:spLocks noGrp="1"/>
          </p:cNvSpPr>
          <p:nvPr/>
        </p:nvSpPr>
        <p:spPr>
          <a:xfrm>
            <a:off x="6419850" y="5095875"/>
            <a:ext cx="5286375" cy="9334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" name="Sentence left"/>
          <p:cNvSpPr>
            <a:spLocks noGrp="1"/>
          </p:cNvSpPr>
          <p:nvPr/>
        </p:nvSpPr>
        <p:spPr>
          <a:xfrm>
            <a:off x="585216" y="5212080"/>
            <a:ext cx="5102352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Sentence right"/>
          <p:cNvSpPr>
            <a:spLocks noGrp="1"/>
          </p:cNvSpPr>
          <p:nvPr/>
        </p:nvSpPr>
        <p:spPr>
          <a:xfrm>
            <a:off x="6501384" y="5212080"/>
            <a:ext cx="5102352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Leland Palmer is standing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behind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bars.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Slide 4 system background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2" name="Slide number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778"/>
          </a:bodyPr>
          <a:lstStyle/>
          <a:p>
            <a:pPr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90111C"/>
                </a:solidFill>
                <a:latin typeface="Aptos"/>
                <a:ea typeface="Aptos"/>
                <a:cs typeface="Aptos"/>
              </a:rPr>
              <a:t>2</a:t>
            </a:r>
            <a:endParaRPr sz="1350" b="1" i="0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Header separator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14" name="Running header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Centre divider"/>
          <p:cNvSpPr>
            <a:spLocks noGrp="1"/>
          </p:cNvSpPr>
          <p:nvPr/>
        </p:nvSpPr>
        <p:spPr>
          <a:xfrm>
            <a:off x="6095429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16" name="Centre diamond"/>
          <p:cNvSpPr>
            <a:spLocks noGrp="1"/>
          </p:cNvSpPr>
          <p:nvPr/>
        </p:nvSpPr>
        <p:spPr>
          <a:xfrm>
            <a:off x="6017705" y="3136392"/>
            <a:ext cx="155448" cy="155448"/>
          </a:xfrm>
          <a:prstGeom prst="diamond">
            <a:avLst/>
          </a:prstGeom>
          <a:solidFill>
            <a:srgbClr val="107390"/>
          </a:solidFill>
          <a:ln w="0">
            <a:noFill/>
            <a:prstDash val="solid"/>
          </a:ln>
        </p:spPr>
      </p:sp>
      <p:sp>
        <p:nvSpPr>
          <p:cNvPr id="17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IN FRONT OF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18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BEHIND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19" name="Footer line left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20" name="Footer line right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25" name="Picture 1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22" name="Footer left"/>
          <p:cNvSpPr>
            <a:spLocks noGrp="1"/>
          </p:cNvSpPr>
          <p:nvPr/>
        </p:nvSpPr>
        <p:spPr>
          <a:xfrm>
            <a:off x="304800" y="63817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 i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Footer course"/>
          <p:cNvSpPr>
            <a:spLocks noGrp="1"/>
          </p:cNvSpPr>
          <p:nvPr/>
        </p:nvSpPr>
        <p:spPr>
          <a:xfrm>
            <a:off x="8096250" y="6381750"/>
            <a:ext cx="276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</a:pPr>
            <a:endParaRPr sz="1200" b="1" i="0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128" name="Picture 12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44250" y="6267450"/>
            <a:ext cx="781050" cy="361950"/>
          </a:xfrm>
          <a:prstGeom prst="rect">
            <a:avLst/>
          </a:prstGeom>
        </p:spPr>
      </p:pic>
      <p:pic>
        <p:nvPicPr>
          <p:cNvPr id="129" name="Picture 128"/>
          <p:cNvPicPr>
            <a:picLocks noChangeAspect="1"/>
          </p:cNvPicPr>
          <p:nvPr/>
        </p:nvPicPr>
        <p:blipFill>
          <a:blip r:embed="rId5"/>
          <a:srcRect t="8942" b="8942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pic>
        <p:nvPicPr>
          <p:cNvPr id="130" name="Picture 129"/>
          <p:cNvPicPr>
            <a:picLocks noChangeAspect="1"/>
          </p:cNvPicPr>
          <p:nvPr/>
        </p:nvPicPr>
        <p:blipFill>
          <a:blip r:embed="rId6"/>
          <a:srcRect t="762" b="762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28" name="Sentence field left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29" name="Sentence field right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30" name="Sentence left"/>
          <p:cNvSpPr>
            <a:spLocks noGrp="1"/>
          </p:cNvSpPr>
          <p:nvPr/>
        </p:nvSpPr>
        <p:spPr>
          <a:xfrm>
            <a:off x="494030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Hopper is standing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in front of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police station.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1" name="Sentence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Dr Brenner is standing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behind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observation glass.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Corrected Cooper panel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36" name="Picture 135"/>
          <p:cNvPicPr>
            <a:picLocks noChangeAspect="1"/>
          </p:cNvPicPr>
          <p:nvPr/>
        </p:nvPicPr>
        <p:blipFill>
          <a:blip r:embed="rId7"/>
          <a:srcRect t="8956" b="8956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39" name="Corrected Cooper panel border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6" name="Clean emblem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39" name="Picture 138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54" name="Raincoat Cooper IN FRONT OF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41" name="Picture 140"/>
          <p:cNvPicPr>
            <a:picLocks noChangeAspect="1"/>
          </p:cNvPicPr>
          <p:nvPr/>
        </p:nvPicPr>
        <p:blipFill>
          <a:blip r:embed="rId10"/>
          <a:srcRect t="730" b="730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56" name="Raincoat Cooper IN FRONT OF border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65" name="Cover emblem clean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44" name="Picture 143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75" name="Basic course header clean backing"/>
          <p:cNvSpPr>
            <a:spLocks noGrp="1"/>
          </p:cNvSpPr>
          <p:nvPr/>
        </p:nvSpPr>
        <p:spPr>
          <a:xfrm>
            <a:off x="723900" y="133350"/>
            <a:ext cx="3286125" cy="381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6" name="Basic course running header"/>
          <p:cNvSpPr>
            <a:spLocks noGrp="1"/>
          </p:cNvSpPr>
          <p:nvPr/>
        </p:nvSpPr>
        <p:spPr>
          <a:xfrm>
            <a:off x="762000" y="1714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7" name="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8" name="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in front of for a position ahead of another person or object.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9" name="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0" name="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behind for a position at the back of someone or something.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0" name="Italic 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91" name="Italic 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97001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in front of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a position ahead of another person or object.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2" name="Italic 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93" name="Italic 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97043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behind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a position at the back of someone or something.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4" name="Forbes English footer clean backing"/>
          <p:cNvSpPr>
            <a:spLocks noGrp="1"/>
          </p:cNvSpPr>
          <p:nvPr/>
        </p:nvSpPr>
        <p:spPr>
          <a:xfrm>
            <a:off x="11096625" y="6276975"/>
            <a:ext cx="914400" cy="42862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95" name="Forbes English footer wordmark"/>
          <p:cNvSpPr>
            <a:spLocks noGrp="1"/>
          </p:cNvSpPr>
          <p:nvPr/>
        </p:nvSpPr>
        <p:spPr>
          <a:xfrm>
            <a:off x="11172825" y="6315075"/>
            <a:ext cx="7334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750"/>
          </a:bodyPr>
          <a:lstStyle/>
          <a:p>
            <a:pPr algn="ctr">
              <a:buNone/>
            </a:pPr>
            <a:r>
              <a:rPr sz="1200" b="1" i="0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Forbes</a:t>
            </a:r>
            <a:endParaRPr sz="1200" b="1" i="0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96" name="Forbes English footer second line"/>
          <p:cNvSpPr>
            <a:spLocks noGrp="1"/>
          </p:cNvSpPr>
          <p:nvPr/>
        </p:nvSpPr>
        <p:spPr>
          <a:xfrm>
            <a:off x="11172825" y="6477000"/>
            <a:ext cx="7334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750" b="1" i="0">
                <a:solidFill>
                  <a:srgbClr val="111111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ENGLISH</a:t>
            </a:r>
            <a:endParaRPr sz="750" b="1" i="0">
              <a:solidFill>
                <a:srgbClr val="111111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5" name="Image 0"/>
          <p:cNvPicPr>
            <a:picLocks noChangeAspect="1"/>
          </p:cNvPicPr>
          <p:nvPr/>
        </p:nvPicPr>
        <p:blipFill>
          <a:blip r:embed="rId1"/>
          <a:srcRect l="53" r="53"/>
          <a:stretch>
            <a:fillRect/>
          </a:stretch>
        </p:blipFill>
        <p:spPr>
          <a:xfrm>
            <a:off x="3087" y="0"/>
            <a:ext cx="12185522" cy="6858000"/>
          </a:xfrm>
          <a:prstGeom prst="rect">
            <a:avLst/>
          </a:prstGeom>
        </p:spPr>
      </p:pic>
      <p:sp>
        <p:nvSpPr>
          <p:cNvPr id="2" name="Title mask left"/>
          <p:cNvSpPr>
            <a:spLocks noGrp="1"/>
          </p:cNvSpPr>
          <p:nvPr/>
        </p:nvSpPr>
        <p:spPr>
          <a:xfrm>
            <a:off x="571500" y="571500"/>
            <a:ext cx="5305425" cy="11049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3" name="Title mask right"/>
          <p:cNvSpPr>
            <a:spLocks noGrp="1"/>
          </p:cNvSpPr>
          <p:nvPr/>
        </p:nvSpPr>
        <p:spPr>
          <a:xfrm>
            <a:off x="6324600" y="571500"/>
            <a:ext cx="5305425" cy="11049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4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>
                <a:solidFill>
                  <a:srgbClr val="C9C5BD"/>
                </a:solidFill>
              </a:defRPr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ABOVE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5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>
                <a:solidFill>
                  <a:srgbClr val="C9C5BD"/>
                </a:solidFill>
              </a:defRPr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OVER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6" name="Sentence mask left"/>
          <p:cNvSpPr>
            <a:spLocks noGrp="1"/>
          </p:cNvSpPr>
          <p:nvPr/>
        </p:nvSpPr>
        <p:spPr>
          <a:xfrm>
            <a:off x="495300" y="5095875"/>
            <a:ext cx="5286375" cy="9334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" name="Sentence mask right"/>
          <p:cNvSpPr>
            <a:spLocks noGrp="1"/>
          </p:cNvSpPr>
          <p:nvPr/>
        </p:nvSpPr>
        <p:spPr>
          <a:xfrm>
            <a:off x="6419850" y="5095875"/>
            <a:ext cx="5286375" cy="9334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" name="Sentence left"/>
          <p:cNvSpPr>
            <a:spLocks noGrp="1"/>
          </p:cNvSpPr>
          <p:nvPr/>
        </p:nvSpPr>
        <p:spPr>
          <a:xfrm>
            <a:off x="585216" y="5212080"/>
            <a:ext cx="5102352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An owl is flying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above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the Log Lady.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Sentence right"/>
          <p:cNvSpPr>
            <a:spLocks noGrp="1"/>
          </p:cNvSpPr>
          <p:nvPr/>
        </p:nvSpPr>
        <p:spPr>
          <a:xfrm>
            <a:off x="6501384" y="5212080"/>
            <a:ext cx="5102352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Slide 4 system background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2" name="Slide number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778"/>
          </a:bodyPr>
          <a:lstStyle/>
          <a:p>
            <a:pPr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90111C"/>
                </a:solidFill>
                <a:latin typeface="Aptos"/>
                <a:ea typeface="Aptos"/>
                <a:cs typeface="Aptos"/>
              </a:rPr>
              <a:t>3</a:t>
            </a:r>
            <a:endParaRPr sz="1350" b="1" i="0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Header separator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14" name="Running header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Centre divider"/>
          <p:cNvSpPr>
            <a:spLocks noGrp="1"/>
          </p:cNvSpPr>
          <p:nvPr/>
        </p:nvSpPr>
        <p:spPr>
          <a:xfrm>
            <a:off x="6095429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16" name="Centre diamond"/>
          <p:cNvSpPr>
            <a:spLocks noGrp="1"/>
          </p:cNvSpPr>
          <p:nvPr/>
        </p:nvSpPr>
        <p:spPr>
          <a:xfrm>
            <a:off x="6017705" y="3136392"/>
            <a:ext cx="155448" cy="155448"/>
          </a:xfrm>
          <a:prstGeom prst="diamond">
            <a:avLst/>
          </a:prstGeom>
          <a:solidFill>
            <a:srgbClr val="107390"/>
          </a:solidFill>
          <a:ln w="0">
            <a:noFill/>
            <a:prstDash val="solid"/>
          </a:ln>
        </p:spPr>
      </p:sp>
      <p:sp>
        <p:nvSpPr>
          <p:cNvPr id="17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ABOVE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18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OVER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19" name="Footer line left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20" name="Footer line right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14" name="Picture 1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22" name="Footer left"/>
          <p:cNvSpPr>
            <a:spLocks noGrp="1"/>
          </p:cNvSpPr>
          <p:nvPr/>
        </p:nvSpPr>
        <p:spPr>
          <a:xfrm>
            <a:off x="304800" y="63817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 i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Footer course"/>
          <p:cNvSpPr>
            <a:spLocks noGrp="1"/>
          </p:cNvSpPr>
          <p:nvPr/>
        </p:nvSpPr>
        <p:spPr>
          <a:xfrm>
            <a:off x="8096250" y="6381750"/>
            <a:ext cx="276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</a:pPr>
            <a:endParaRPr sz="1200" b="1" i="0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117" name="Picture 116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44250" y="6267450"/>
            <a:ext cx="781050" cy="361950"/>
          </a:xfrm>
          <a:prstGeom prst="rect">
            <a:avLst/>
          </a:prstGeom>
        </p:spPr>
      </p:pic>
      <p:pic>
        <p:nvPicPr>
          <p:cNvPr id="118" name="Picture 117"/>
          <p:cNvPicPr>
            <a:picLocks noChangeAspect="1"/>
          </p:cNvPicPr>
          <p:nvPr/>
        </p:nvPicPr>
        <p:blipFill>
          <a:blip r:embed="rId5"/>
          <a:srcRect t="55" b="55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pic>
        <p:nvPicPr>
          <p:cNvPr id="119" name="Picture 118"/>
          <p:cNvPicPr>
            <a:picLocks noChangeAspect="1"/>
          </p:cNvPicPr>
          <p:nvPr/>
        </p:nvPicPr>
        <p:blipFill>
          <a:blip r:embed="rId6"/>
          <a:srcRect l="2512" r="2512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30" name="Sentence left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The Christmas lights are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above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Joyce.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1" name="Sentence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The van is flying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over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boys.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Clean emblem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25" name="Picture 124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44" name="Cover emblem clean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27" name="Picture 126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52" name="ABOVE Log Lady color refinement cream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29" name="Picture 128"/>
          <p:cNvPicPr>
            <a:picLocks noChangeAspect="1"/>
          </p:cNvPicPr>
          <p:nvPr/>
        </p:nvPicPr>
        <p:blipFill>
          <a:blip r:embed="rId10"/>
          <a:srcRect t="762" b="762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54" name="OVER coherent horizon and corrected patrol car cream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31" name="Picture 130"/>
          <p:cNvPicPr>
            <a:picLocks noChangeAspect="1"/>
          </p:cNvPicPr>
          <p:nvPr/>
        </p:nvPicPr>
        <p:blipFill>
          <a:blip r:embed="rId11"/>
          <a:srcRect t="762" b="762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64" name="Basic course header clean backing"/>
          <p:cNvSpPr>
            <a:spLocks noGrp="1"/>
          </p:cNvSpPr>
          <p:nvPr/>
        </p:nvSpPr>
        <p:spPr>
          <a:xfrm>
            <a:off x="723900" y="133350"/>
            <a:ext cx="3286125" cy="381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65" name="Basic course running header"/>
          <p:cNvSpPr>
            <a:spLocks noGrp="1"/>
          </p:cNvSpPr>
          <p:nvPr/>
        </p:nvSpPr>
        <p:spPr>
          <a:xfrm>
            <a:off x="762000" y="1714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6" name="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67" name="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above when something is higher, without implying movement or contact.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8" name="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69" name="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over for movement across or a position directly higher than something.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9" name="Italic 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0" name="Italic 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90307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above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when something is higher, without movement or contact.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1" name="Italic 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2" name="Italic 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82160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over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movement across or a position directly higher than something.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3" name="Forbes English footer clean backing"/>
          <p:cNvSpPr>
            <a:spLocks noGrp="1"/>
          </p:cNvSpPr>
          <p:nvPr/>
        </p:nvSpPr>
        <p:spPr>
          <a:xfrm>
            <a:off x="11096625" y="6276975"/>
            <a:ext cx="914400" cy="42862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4" name="Forbes English footer wordmark"/>
          <p:cNvSpPr>
            <a:spLocks noGrp="1"/>
          </p:cNvSpPr>
          <p:nvPr/>
        </p:nvSpPr>
        <p:spPr>
          <a:xfrm>
            <a:off x="11172825" y="6315075"/>
            <a:ext cx="7334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750"/>
          </a:bodyPr>
          <a:lstStyle/>
          <a:p>
            <a:pPr algn="ctr">
              <a:buNone/>
            </a:pPr>
            <a:r>
              <a:rPr sz="1200" b="1" i="0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Forbes</a:t>
            </a:r>
            <a:endParaRPr sz="1200" b="1" i="0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85" name="Forbes English footer second line"/>
          <p:cNvSpPr>
            <a:spLocks noGrp="1"/>
          </p:cNvSpPr>
          <p:nvPr/>
        </p:nvSpPr>
        <p:spPr>
          <a:xfrm>
            <a:off x="11172825" y="6477000"/>
            <a:ext cx="7334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750" b="1" i="0">
                <a:solidFill>
                  <a:srgbClr val="111111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ENGLISH</a:t>
            </a:r>
            <a:endParaRPr sz="750" b="1" i="0">
              <a:solidFill>
                <a:srgbClr val="111111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7" name="Image 0"/>
          <p:cNvPicPr>
            <a:picLocks noChangeAspect="1"/>
          </p:cNvPicPr>
          <p:nvPr/>
        </p:nvPicPr>
        <p:blipFill>
          <a:blip r:embed="rId1"/>
          <a:srcRect l="53" r="53"/>
          <a:stretch>
            <a:fillRect/>
          </a:stretch>
        </p:blipFill>
        <p:spPr>
          <a:xfrm>
            <a:off x="3087" y="0"/>
            <a:ext cx="12185522" cy="6858000"/>
          </a:xfrm>
          <a:prstGeom prst="rect">
            <a:avLst/>
          </a:prstGeom>
        </p:spPr>
      </p:pic>
      <p:sp>
        <p:nvSpPr>
          <p:cNvPr id="2" name="Title mask left"/>
          <p:cNvSpPr>
            <a:spLocks noGrp="1"/>
          </p:cNvSpPr>
          <p:nvPr/>
        </p:nvSpPr>
        <p:spPr>
          <a:xfrm>
            <a:off x="571500" y="571500"/>
            <a:ext cx="5305425" cy="11049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3" name="Title mask right"/>
          <p:cNvSpPr>
            <a:spLocks noGrp="1"/>
          </p:cNvSpPr>
          <p:nvPr/>
        </p:nvSpPr>
        <p:spPr>
          <a:xfrm>
            <a:off x="6324600" y="571500"/>
            <a:ext cx="5305425" cy="11049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4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>
                <a:solidFill>
                  <a:srgbClr val="C9C5BD"/>
                </a:solidFill>
              </a:defRPr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INTO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5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>
                <a:solidFill>
                  <a:srgbClr val="C9C5BD"/>
                </a:solidFill>
              </a:defRPr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OUT OF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6" name="Sentence mask left"/>
          <p:cNvSpPr>
            <a:spLocks noGrp="1"/>
          </p:cNvSpPr>
          <p:nvPr/>
        </p:nvSpPr>
        <p:spPr>
          <a:xfrm>
            <a:off x="495300" y="5095875"/>
            <a:ext cx="5286375" cy="9334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" name="Sentence mask right"/>
          <p:cNvSpPr>
            <a:spLocks noGrp="1"/>
          </p:cNvSpPr>
          <p:nvPr/>
        </p:nvSpPr>
        <p:spPr>
          <a:xfrm>
            <a:off x="6419850" y="5095875"/>
            <a:ext cx="5286375" cy="9334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" name="Sentence left"/>
          <p:cNvSpPr>
            <a:spLocks noGrp="1"/>
          </p:cNvSpPr>
          <p:nvPr/>
        </p:nvSpPr>
        <p:spPr>
          <a:xfrm>
            <a:off x="585216" y="5212080"/>
            <a:ext cx="5102352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Sentence right"/>
          <p:cNvSpPr>
            <a:spLocks noGrp="1"/>
          </p:cNvSpPr>
          <p:nvPr/>
        </p:nvSpPr>
        <p:spPr>
          <a:xfrm>
            <a:off x="6501384" y="5212080"/>
            <a:ext cx="5102352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James Hurley is riding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out of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the woods.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Slide 4 system background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2" name="Slide number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778"/>
          </a:bodyPr>
          <a:lstStyle/>
          <a:p>
            <a:pPr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90111C"/>
                </a:solidFill>
                <a:latin typeface="Aptos"/>
                <a:ea typeface="Aptos"/>
                <a:cs typeface="Aptos"/>
              </a:rPr>
              <a:t>4</a:t>
            </a:r>
            <a:endParaRPr sz="1350" b="1" i="0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Header separator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14" name="Running header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Centre divider"/>
          <p:cNvSpPr>
            <a:spLocks noGrp="1"/>
          </p:cNvSpPr>
          <p:nvPr/>
        </p:nvSpPr>
        <p:spPr>
          <a:xfrm>
            <a:off x="6095429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16" name="Centre diamond"/>
          <p:cNvSpPr>
            <a:spLocks noGrp="1"/>
          </p:cNvSpPr>
          <p:nvPr/>
        </p:nvSpPr>
        <p:spPr>
          <a:xfrm>
            <a:off x="6017705" y="3136392"/>
            <a:ext cx="155448" cy="155448"/>
          </a:xfrm>
          <a:prstGeom prst="diamond">
            <a:avLst/>
          </a:prstGeom>
          <a:solidFill>
            <a:srgbClr val="107390"/>
          </a:solidFill>
          <a:ln w="0">
            <a:noFill/>
            <a:prstDash val="solid"/>
          </a:ln>
        </p:spPr>
      </p:sp>
      <p:sp>
        <p:nvSpPr>
          <p:cNvPr id="17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INTO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18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OUT OF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19" name="Footer line left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20" name="Footer line right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56" name="Picture 15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22" name="Footer left"/>
          <p:cNvSpPr>
            <a:spLocks noGrp="1"/>
          </p:cNvSpPr>
          <p:nvPr/>
        </p:nvSpPr>
        <p:spPr>
          <a:xfrm>
            <a:off x="304800" y="63817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 i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Footer course"/>
          <p:cNvSpPr>
            <a:spLocks noGrp="1"/>
          </p:cNvSpPr>
          <p:nvPr/>
        </p:nvSpPr>
        <p:spPr>
          <a:xfrm>
            <a:off x="8096250" y="6381750"/>
            <a:ext cx="276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</a:pPr>
            <a:endParaRPr sz="1200" b="1" i="0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159" name="Picture 15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44250" y="6267450"/>
            <a:ext cx="781050" cy="361950"/>
          </a:xfrm>
          <a:prstGeom prst="rect">
            <a:avLst/>
          </a:prstGeom>
        </p:spPr>
      </p:pic>
      <p:pic>
        <p:nvPicPr>
          <p:cNvPr id="160" name="Picture 159"/>
          <p:cNvPicPr>
            <a:picLocks noChangeAspect="1"/>
          </p:cNvPicPr>
          <p:nvPr/>
        </p:nvPicPr>
        <p:blipFill>
          <a:blip r:embed="rId5"/>
          <a:srcRect t="1151" b="1151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pic>
        <p:nvPicPr>
          <p:cNvPr id="161" name="Picture 160"/>
          <p:cNvPicPr>
            <a:picLocks noChangeAspect="1"/>
          </p:cNvPicPr>
          <p:nvPr/>
        </p:nvPicPr>
        <p:blipFill>
          <a:blip r:embed="rId6"/>
          <a:srcRect t="730" b="730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28" name="Sentence field left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29" name="Sentence field right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30" name="Sentence left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Nancy is climbing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into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tree portal.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1" name="Sentence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Eleven is getting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out of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isolation bath.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Corrected Laura INTO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67" name="Picture 166"/>
          <p:cNvPicPr>
            <a:picLocks noChangeAspect="1"/>
          </p:cNvPicPr>
          <p:nvPr/>
        </p:nvPicPr>
        <p:blipFill>
          <a:blip r:embed="rId7"/>
          <a:srcRect t="730" b="730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39" name="Corrected Laura INTO border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6" name="Clean emblem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70" name="Picture 169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54" name="Corrected James OUT OF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72" name="Picture 171"/>
          <p:cNvPicPr>
            <a:picLocks noChangeAspect="1"/>
          </p:cNvPicPr>
          <p:nvPr/>
        </p:nvPicPr>
        <p:blipFill>
          <a:blip r:embed="rId10"/>
          <a:srcRect l="7165" r="7165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56" name="Corrected James OUT OF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65" name="Detailed James OUT OF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75" name="Picture 174"/>
          <p:cNvPicPr>
            <a:picLocks noChangeAspect="1"/>
          </p:cNvPicPr>
          <p:nvPr/>
        </p:nvPicPr>
        <p:blipFill>
          <a:blip r:embed="rId11"/>
          <a:srcRect l="7165" r="7165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67" name="Detailed James OUT OF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77" name="Palette James OUT OF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78" name="Picture 177"/>
          <p:cNvPicPr>
            <a:picLocks noChangeAspect="1"/>
          </p:cNvPicPr>
          <p:nvPr/>
        </p:nvPicPr>
        <p:blipFill>
          <a:blip r:embed="rId12"/>
          <a:srcRect t="730" b="730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79" name="Palette James OUT OF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90" name="Cover emblem clean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81" name="Picture 180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102" name="Basic course header clean backing"/>
          <p:cNvSpPr>
            <a:spLocks noGrp="1"/>
          </p:cNvSpPr>
          <p:nvPr/>
        </p:nvSpPr>
        <p:spPr>
          <a:xfrm>
            <a:off x="723900" y="133350"/>
            <a:ext cx="3286125" cy="381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03" name="Basic course running header"/>
          <p:cNvSpPr>
            <a:spLocks noGrp="1"/>
          </p:cNvSpPr>
          <p:nvPr/>
        </p:nvSpPr>
        <p:spPr>
          <a:xfrm>
            <a:off x="762000" y="1714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4" name="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05" name="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into for movement from outside to inside.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6" name="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07" name="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out of for movement from inside to outside.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9" name="Italic 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20" name="Italic 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into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movement from outside to inside.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1" name="Italic 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22" name="Italic 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out of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movement from inside to outside.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3" name="Forbes English footer clean backing"/>
          <p:cNvSpPr>
            <a:spLocks noGrp="1"/>
          </p:cNvSpPr>
          <p:nvPr/>
        </p:nvSpPr>
        <p:spPr>
          <a:xfrm>
            <a:off x="11096625" y="6276975"/>
            <a:ext cx="914400" cy="42862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24" name="Forbes English footer wordmark"/>
          <p:cNvSpPr>
            <a:spLocks noGrp="1"/>
          </p:cNvSpPr>
          <p:nvPr/>
        </p:nvSpPr>
        <p:spPr>
          <a:xfrm>
            <a:off x="11172825" y="6315075"/>
            <a:ext cx="7334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750"/>
          </a:bodyPr>
          <a:lstStyle/>
          <a:p>
            <a:pPr algn="ctr">
              <a:buNone/>
            </a:pPr>
            <a:r>
              <a:rPr sz="1200" b="1" i="0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Forbes</a:t>
            </a:r>
            <a:endParaRPr sz="1200" b="1" i="0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25" name="Forbes English footer second line"/>
          <p:cNvSpPr>
            <a:spLocks noGrp="1"/>
          </p:cNvSpPr>
          <p:nvPr/>
        </p:nvSpPr>
        <p:spPr>
          <a:xfrm>
            <a:off x="11172825" y="6477000"/>
            <a:ext cx="7334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750" b="1" i="0">
                <a:solidFill>
                  <a:srgbClr val="111111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ENGLISH</a:t>
            </a:r>
            <a:endParaRPr sz="750" b="1" i="0">
              <a:solidFill>
                <a:srgbClr val="111111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0111C"/>
                </a:solidFill>
                <a:latin typeface="Aptos"/>
                <a:ea typeface="Aptos"/>
                <a:cs typeface="Aptos"/>
              </a:rPr>
              <a:t>5</a:t>
            </a:r>
            <a:endParaRPr sz="1350" b="1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Shape 3"/>
          <p:cNvSpPr>
            <a:spLocks noGrp="1"/>
          </p:cNvSpPr>
          <p:nvPr/>
        </p:nvSpPr>
        <p:spPr>
          <a:xfrm>
            <a:off x="6095390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6" name="Shape 4"/>
          <p:cNvSpPr>
            <a:spLocks noGrp="1"/>
          </p:cNvSpPr>
          <p:nvPr/>
        </p:nvSpPr>
        <p:spPr>
          <a:xfrm>
            <a:off x="6017666" y="3136392"/>
            <a:ext cx="155448" cy="155448"/>
          </a:xfrm>
          <a:prstGeom prst="diamond">
            <a:avLst/>
          </a:prstGeom>
          <a:solidFill>
            <a:srgbClr val="F6571D"/>
          </a:solidFill>
          <a:ln w="12700">
            <a:solidFill>
              <a:srgbClr val="8A1A1E">
                <a:alpha val="0"/>
              </a:srgbClr>
            </a:solidFill>
            <a:prstDash val="solid"/>
          </a:ln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AROUND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THROUGH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475488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8A1A1E"/>
            </a:solidFill>
            <a:prstDash val="solid"/>
          </a:ln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694944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IMAGE SLOT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  <a:p>
            <a:pPr marL="0" indent="0" algn="ctr">
              <a:buNone/>
            </a:pPr>
          </a:p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Leo Johnson driving around town. The road should loop around town blocks or the Welcome sign, so the circular movement is unmistakable. Keep car small and palette restrained.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6391656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8A1A1E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6611112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585216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Leo is driving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around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town.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6501384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BOB is moving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through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the curtains.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777240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8A1A1E"/>
                </a:solidFill>
                <a:latin typeface="Roboto Condensed"/>
                <a:ea typeface="Roboto Condensed"/>
                <a:cs typeface="Roboto Condensed"/>
              </a:rPr>
              <a:t>AROUND</a:t>
            </a:r>
            <a:endParaRPr sz="1220" b="1">
              <a:solidFill>
                <a:srgbClr val="8A1A1E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777240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movement in a circle or along different parts of a place.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6656832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8A1A1E"/>
                </a:solidFill>
                <a:latin typeface="Roboto Condensed"/>
                <a:ea typeface="Roboto Condensed"/>
                <a:cs typeface="Roboto Condensed"/>
              </a:rPr>
              <a:t>THROUGH</a:t>
            </a:r>
            <a:endParaRPr sz="1220" b="1">
              <a:solidFill>
                <a:srgbClr val="8A1A1E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6656832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movement from one side of an enclosed space to the other.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20" name="Shape 18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48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0824" y="6007608"/>
            <a:ext cx="530352" cy="530352"/>
          </a:xfrm>
          <a:prstGeom prst="rect">
            <a:avLst/>
          </a:prstGeom>
        </p:spPr>
      </p:pic>
      <p:sp>
        <p:nvSpPr>
          <p:cNvPr id="22" name="Text 19"/>
          <p:cNvSpPr>
            <a:spLocks noGrp="1"/>
          </p:cNvSpPr>
          <p:nvPr/>
        </p:nvSpPr>
        <p:spPr>
          <a:xfrm>
            <a:off x="310896" y="6382512"/>
            <a:ext cx="22860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20"/>
          <p:cNvSpPr>
            <a:spLocks noGrp="1"/>
          </p:cNvSpPr>
          <p:nvPr/>
        </p:nvSpPr>
        <p:spPr>
          <a:xfrm>
            <a:off x="8302752" y="6382512"/>
            <a:ext cx="2852928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buNone/>
            </a:pPr>
            <a:endParaRPr sz="1050" b="1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25" name="Slide 4 system background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26" name="Slide number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778"/>
          </a:bodyPr>
          <a:lstStyle/>
          <a:p>
            <a:pPr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90111C"/>
                </a:solidFill>
                <a:latin typeface="Aptos"/>
                <a:ea typeface="Aptos"/>
                <a:cs typeface="Aptos"/>
              </a:rPr>
              <a:t>5</a:t>
            </a:r>
            <a:endParaRPr sz="1350" b="1" i="0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Header separator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28" name="Running header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Centre divider"/>
          <p:cNvSpPr>
            <a:spLocks noGrp="1"/>
          </p:cNvSpPr>
          <p:nvPr/>
        </p:nvSpPr>
        <p:spPr>
          <a:xfrm>
            <a:off x="6095429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0" name="Centre diamond"/>
          <p:cNvSpPr>
            <a:spLocks noGrp="1"/>
          </p:cNvSpPr>
          <p:nvPr/>
        </p:nvSpPr>
        <p:spPr>
          <a:xfrm>
            <a:off x="6017705" y="3136392"/>
            <a:ext cx="155448" cy="155448"/>
          </a:xfrm>
          <a:prstGeom prst="diamond">
            <a:avLst/>
          </a:prstGeom>
          <a:solidFill>
            <a:srgbClr val="107390"/>
          </a:solidFill>
          <a:ln w="0">
            <a:noFill/>
            <a:prstDash val="solid"/>
          </a:ln>
        </p:spPr>
      </p:sp>
      <p:sp>
        <p:nvSpPr>
          <p:cNvPr id="31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AROUND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2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THROUGH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3" name="Footer line left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4" name="Footer line right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61" name="Picture 16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36" name="Footer left"/>
          <p:cNvSpPr>
            <a:spLocks noGrp="1"/>
          </p:cNvSpPr>
          <p:nvPr/>
        </p:nvSpPr>
        <p:spPr>
          <a:xfrm>
            <a:off x="304800" y="63817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 i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Footer course"/>
          <p:cNvSpPr>
            <a:spLocks noGrp="1"/>
          </p:cNvSpPr>
          <p:nvPr/>
        </p:nvSpPr>
        <p:spPr>
          <a:xfrm>
            <a:off x="8096250" y="6381750"/>
            <a:ext cx="276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</a:pPr>
            <a:endParaRPr sz="1200" b="1" i="0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164" name="Picture 163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4250" y="6267450"/>
            <a:ext cx="781050" cy="361950"/>
          </a:xfrm>
          <a:prstGeom prst="rect">
            <a:avLst/>
          </a:prstGeom>
        </p:spPr>
      </p:pic>
      <p:sp>
        <p:nvSpPr>
          <p:cNvPr id="40" name="Left image slot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1" name="Right image slot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2" name="Left image brief"/>
          <p:cNvSpPr>
            <a:spLocks noGrp="1"/>
          </p:cNvSpPr>
          <p:nvPr/>
        </p:nvSpPr>
        <p:spPr>
          <a:xfrm>
            <a:off x="8096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3" name="Right image brief"/>
          <p:cNvSpPr>
            <a:spLocks noGrp="1"/>
          </p:cNvSpPr>
          <p:nvPr/>
        </p:nvSpPr>
        <p:spPr>
          <a:xfrm>
            <a:off x="68294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4" name="Sentence field left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5" name="Sentence field right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6" name="Sentence left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Hopper is driving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around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Hawkins.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7" name="Sentence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The creature is breaking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through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wall.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1" name="Exact Leo AROUND artwork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74" name="Picture 17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910" y="1676400"/>
            <a:ext cx="3046380" cy="3429000"/>
          </a:xfrm>
          <a:prstGeom prst="rect">
            <a:avLst/>
          </a:prstGeom>
        </p:spPr>
      </p:pic>
      <p:sp>
        <p:nvSpPr>
          <p:cNvPr id="53" name="Exact Leo AROUND artwork border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54" name="Exact BOB THROUGH artwork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77" name="Picture 17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2710" y="1676400"/>
            <a:ext cx="3046380" cy="3429000"/>
          </a:xfrm>
          <a:prstGeom prst="rect">
            <a:avLst/>
          </a:prstGeom>
        </p:spPr>
      </p:pic>
      <p:sp>
        <p:nvSpPr>
          <p:cNvPr id="56" name="Exact BOB THROUGH artwork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62" name="Clean emblem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80" name="Picture 179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69" name="Cover emblem clean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82" name="Picture 181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77" name="Leo exact artwork extended to full frame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84" name="Picture 18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250" y="1676669"/>
            <a:ext cx="5219700" cy="3428462"/>
          </a:xfrm>
          <a:prstGeom prst="rect">
            <a:avLst/>
          </a:prstGeom>
        </p:spPr>
      </p:pic>
      <p:sp>
        <p:nvSpPr>
          <p:cNvPr id="79" name="BOB exact artwork extended to full frame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86" name="Picture 185"/>
          <p:cNvPicPr>
            <a:picLocks noChangeAspect="1"/>
          </p:cNvPicPr>
          <p:nvPr/>
        </p:nvPicPr>
        <p:blipFill>
          <a:blip r:embed="rId9"/>
          <a:srcRect t="21135" b="21135"/>
          <a:stretch>
            <a:fillRect/>
          </a:stretch>
        </p:blipFill>
        <p:spPr>
          <a:xfrm>
            <a:off x="6496050" y="1676669"/>
            <a:ext cx="5219700" cy="3428462"/>
          </a:xfrm>
          <a:prstGeom prst="rect">
            <a:avLst/>
          </a:prstGeom>
        </p:spPr>
      </p:pic>
      <p:pic>
        <p:nvPicPr>
          <p:cNvPr id="187" name="Picture 18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250" y="1676669"/>
            <a:ext cx="5219700" cy="3428462"/>
          </a:xfrm>
          <a:prstGeom prst="rect">
            <a:avLst/>
          </a:prstGeom>
        </p:spPr>
      </p:pic>
      <p:pic>
        <p:nvPicPr>
          <p:cNvPr id="188" name="Picture 187"/>
          <p:cNvPicPr>
            <a:picLocks noChangeAspect="1"/>
          </p:cNvPicPr>
          <p:nvPr/>
        </p:nvPicPr>
        <p:blipFill>
          <a:blip r:embed="rId8"/>
          <a:srcRect t="730" b="730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91" name="Basic course header clean backing"/>
          <p:cNvSpPr>
            <a:spLocks noGrp="1"/>
          </p:cNvSpPr>
          <p:nvPr/>
        </p:nvSpPr>
        <p:spPr>
          <a:xfrm>
            <a:off x="723900" y="133350"/>
            <a:ext cx="3286125" cy="381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92" name="Basic course running header"/>
          <p:cNvSpPr>
            <a:spLocks noGrp="1"/>
          </p:cNvSpPr>
          <p:nvPr/>
        </p:nvSpPr>
        <p:spPr>
          <a:xfrm>
            <a:off x="762000" y="1714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91" name="Picture 190"/>
          <p:cNvPicPr>
            <a:picLocks noChangeAspect="1"/>
          </p:cNvPicPr>
          <p:nvPr/>
        </p:nvPicPr>
        <p:blipFill>
          <a:blip r:embed="rId8"/>
          <a:srcRect t="21155" b="21155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94" name="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95" name="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around for circular movement or movement within different parts of a place.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6" name="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97" name="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through for movement from one side of an enclosed space to the other.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0" name="Italic 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11" name="Italic 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82031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around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circular movement or movement within different parts of a place.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2" name="Italic 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13" name="Italic 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82031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through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movement from one side of an enclosed space to the other.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4" name="Forbes English footer clean backing"/>
          <p:cNvSpPr>
            <a:spLocks noGrp="1"/>
          </p:cNvSpPr>
          <p:nvPr/>
        </p:nvSpPr>
        <p:spPr>
          <a:xfrm>
            <a:off x="11096625" y="6276975"/>
            <a:ext cx="914400" cy="42862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15" name="Forbes English footer wordmark"/>
          <p:cNvSpPr>
            <a:spLocks noGrp="1"/>
          </p:cNvSpPr>
          <p:nvPr/>
        </p:nvSpPr>
        <p:spPr>
          <a:xfrm>
            <a:off x="11172825" y="6315075"/>
            <a:ext cx="7334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750"/>
          </a:bodyPr>
          <a:lstStyle/>
          <a:p>
            <a:pPr algn="ctr">
              <a:buNone/>
            </a:pPr>
            <a:r>
              <a:rPr sz="1200" b="1" i="0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Forbes</a:t>
            </a:r>
            <a:endParaRPr sz="1200" b="1" i="0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16" name="Forbes English footer second line"/>
          <p:cNvSpPr>
            <a:spLocks noGrp="1"/>
          </p:cNvSpPr>
          <p:nvPr/>
        </p:nvSpPr>
        <p:spPr>
          <a:xfrm>
            <a:off x="11172825" y="6477000"/>
            <a:ext cx="7334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750" b="1" i="0">
                <a:solidFill>
                  <a:srgbClr val="111111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ENGLISH</a:t>
            </a:r>
            <a:endParaRPr sz="750" b="1" i="0">
              <a:solidFill>
                <a:srgbClr val="111111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0111C"/>
                </a:solidFill>
                <a:latin typeface="Aptos"/>
                <a:ea typeface="Aptos"/>
                <a:cs typeface="Aptos"/>
              </a:rPr>
              <a:t>6</a:t>
            </a:r>
            <a:endParaRPr sz="1350" b="1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Shape 3"/>
          <p:cNvSpPr>
            <a:spLocks noGrp="1"/>
          </p:cNvSpPr>
          <p:nvPr/>
        </p:nvSpPr>
        <p:spPr>
          <a:xfrm>
            <a:off x="6095390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6" name="Shape 4"/>
          <p:cNvSpPr>
            <a:spLocks noGrp="1"/>
          </p:cNvSpPr>
          <p:nvPr/>
        </p:nvSpPr>
        <p:spPr>
          <a:xfrm>
            <a:off x="6017666" y="3136392"/>
            <a:ext cx="155448" cy="155448"/>
          </a:xfrm>
          <a:prstGeom prst="diamond">
            <a:avLst/>
          </a:prstGeom>
          <a:solidFill>
            <a:srgbClr val="F6571D"/>
          </a:solidFill>
          <a:ln w="12700">
            <a:solidFill>
              <a:srgbClr val="8A1A1E">
                <a:alpha val="0"/>
              </a:srgbClr>
            </a:solidFill>
            <a:prstDash val="solid"/>
          </a:ln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ON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UNDER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475488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8A1A1E"/>
            </a:solidFill>
            <a:prstDash val="solid"/>
          </a:ln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694944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6391656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263C32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6611112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IMAGE SLOT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  <a:p>
            <a:pPr marL="0" indent="0" algn="ctr">
              <a:buNone/>
            </a:pPr>
          </a:p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Norma reaches under the RR counter for an order pad or coffee filters. Counter creates a clear upper/lower relationship.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585216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6501384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The order pad is </a:t>
            </a:r>
            <a:r>
              <a:rPr sz="1700" b="1" i="1">
                <a:solidFill>
                  <a:srgbClr val="263C32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under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the counter.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777240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8A1A1E"/>
                </a:solidFill>
                <a:latin typeface="Roboto Condensed"/>
                <a:ea typeface="Roboto Condensed"/>
                <a:cs typeface="Roboto Condensed"/>
              </a:rPr>
              <a:t>ON</a:t>
            </a:r>
            <a:endParaRPr sz="1220" b="1">
              <a:solidFill>
                <a:srgbClr val="8A1A1E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777240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touching and supported by a surface.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6656832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263C32"/>
                </a:solidFill>
                <a:latin typeface="Roboto Condensed"/>
                <a:ea typeface="Roboto Condensed"/>
                <a:cs typeface="Roboto Condensed"/>
              </a:rPr>
              <a:t>UNDER</a:t>
            </a:r>
            <a:endParaRPr sz="1220" b="1">
              <a:solidFill>
                <a:srgbClr val="263C32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6656832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lower than something, often covered by it.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20" name="Shape 18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220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0824" y="6007608"/>
            <a:ext cx="530352" cy="530352"/>
          </a:xfrm>
          <a:prstGeom prst="rect">
            <a:avLst/>
          </a:prstGeom>
        </p:spPr>
      </p:pic>
      <p:sp>
        <p:nvSpPr>
          <p:cNvPr id="22" name="Text 19"/>
          <p:cNvSpPr>
            <a:spLocks noGrp="1"/>
          </p:cNvSpPr>
          <p:nvPr/>
        </p:nvSpPr>
        <p:spPr>
          <a:xfrm>
            <a:off x="310896" y="6382512"/>
            <a:ext cx="22860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20"/>
          <p:cNvSpPr>
            <a:spLocks noGrp="1"/>
          </p:cNvSpPr>
          <p:nvPr/>
        </p:nvSpPr>
        <p:spPr>
          <a:xfrm>
            <a:off x="8302752" y="6382512"/>
            <a:ext cx="2852928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buNone/>
            </a:pPr>
            <a:endParaRPr sz="1050" b="1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25" name="Slide 4 system background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26" name="Slide number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778"/>
          </a:bodyPr>
          <a:lstStyle/>
          <a:p>
            <a:pPr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90111C"/>
                </a:solidFill>
                <a:latin typeface="Aptos"/>
                <a:ea typeface="Aptos"/>
                <a:cs typeface="Aptos"/>
              </a:rPr>
              <a:t>6</a:t>
            </a:r>
            <a:endParaRPr sz="1350" b="1" i="0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Header separator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28" name="Running header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Centre divider"/>
          <p:cNvSpPr>
            <a:spLocks noGrp="1"/>
          </p:cNvSpPr>
          <p:nvPr/>
        </p:nvSpPr>
        <p:spPr>
          <a:xfrm>
            <a:off x="6095429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0" name="Centre diamond"/>
          <p:cNvSpPr>
            <a:spLocks noGrp="1"/>
          </p:cNvSpPr>
          <p:nvPr/>
        </p:nvSpPr>
        <p:spPr>
          <a:xfrm>
            <a:off x="6017705" y="3136392"/>
            <a:ext cx="155448" cy="155448"/>
          </a:xfrm>
          <a:prstGeom prst="diamond">
            <a:avLst/>
          </a:prstGeom>
          <a:solidFill>
            <a:srgbClr val="107390"/>
          </a:solidFill>
          <a:ln w="0">
            <a:noFill/>
            <a:prstDash val="solid"/>
          </a:ln>
        </p:spPr>
      </p:sp>
      <p:sp>
        <p:nvSpPr>
          <p:cNvPr id="31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ON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2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UNDER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3" name="Footer line left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4" name="Footer line right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233" name="Picture 2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36" name="Footer left"/>
          <p:cNvSpPr>
            <a:spLocks noGrp="1"/>
          </p:cNvSpPr>
          <p:nvPr/>
        </p:nvSpPr>
        <p:spPr>
          <a:xfrm>
            <a:off x="304800" y="63817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 i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Footer course"/>
          <p:cNvSpPr>
            <a:spLocks noGrp="1"/>
          </p:cNvSpPr>
          <p:nvPr/>
        </p:nvSpPr>
        <p:spPr>
          <a:xfrm>
            <a:off x="8096250" y="6381750"/>
            <a:ext cx="276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</a:pPr>
            <a:endParaRPr sz="1200" b="1" i="0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236" name="Picture 235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44250" y="6267450"/>
            <a:ext cx="781050" cy="361950"/>
          </a:xfrm>
          <a:prstGeom prst="rect">
            <a:avLst/>
          </a:prstGeom>
        </p:spPr>
      </p:pic>
      <p:sp>
        <p:nvSpPr>
          <p:cNvPr id="40" name="Left image slot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1" name="Right image slot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2" name="Left image brief"/>
          <p:cNvSpPr>
            <a:spLocks noGrp="1"/>
          </p:cNvSpPr>
          <p:nvPr/>
        </p:nvSpPr>
        <p:spPr>
          <a:xfrm>
            <a:off x="8096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3" name="Right image brief"/>
          <p:cNvSpPr>
            <a:spLocks noGrp="1"/>
          </p:cNvSpPr>
          <p:nvPr/>
        </p:nvSpPr>
        <p:spPr>
          <a:xfrm>
            <a:off x="68294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300" b="0" i="0">
                <a:solidFill>
                  <a:srgbClr val="101918"/>
                </a:solidFill>
                <a:latin typeface="Aptos"/>
                <a:ea typeface="Aptos"/>
                <a:cs typeface="Aptos"/>
              </a:rPr>
              <a:t>Norma reaches under the RR counter for an order pad.</a:t>
            </a: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4" name="Sentence field left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5" name="Sentence field right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6" name="Sentence left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7" name="Sentence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The order pad is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under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the counter.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1" name="Slide 6 left artwork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52" name="Slide 6 right artwork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47" name="Picture 2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531" y="1676400"/>
            <a:ext cx="3045137" cy="3429000"/>
          </a:xfrm>
          <a:prstGeom prst="rect">
            <a:avLst/>
          </a:prstGeom>
        </p:spPr>
      </p:pic>
      <p:pic>
        <p:nvPicPr>
          <p:cNvPr id="248" name="Picture 2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2710" y="1676400"/>
            <a:ext cx="3046380" cy="3429000"/>
          </a:xfrm>
          <a:prstGeom prst="rect">
            <a:avLst/>
          </a:prstGeom>
        </p:spPr>
      </p:pic>
      <p:sp>
        <p:nvSpPr>
          <p:cNvPr id="55" name="Slide 6 left artwork border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56" name="Slide 6 right artwork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57" name="Slide 6 corrected sentence backing left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58" name="Slide 6 corrected sentence backing right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59" name="Slide 6 corrected sentence left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The pie is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on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the counter.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0" name="Slide 6 corrected sentence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The bag is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under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the table.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6" name="UNDER blue bag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56" name="Picture 25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2186" y="1676400"/>
            <a:ext cx="3047427" cy="3429000"/>
          </a:xfrm>
          <a:prstGeom prst="rect">
            <a:avLst/>
          </a:prstGeom>
        </p:spPr>
      </p:pic>
      <p:sp>
        <p:nvSpPr>
          <p:cNvPr id="68" name="UNDER blue bag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75" name="UNDER soft pink bag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59" name="Picture 25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2186" y="1676400"/>
            <a:ext cx="3047427" cy="3429000"/>
          </a:xfrm>
          <a:prstGeom prst="rect">
            <a:avLst/>
          </a:prstGeom>
        </p:spPr>
      </p:pic>
      <p:sp>
        <p:nvSpPr>
          <p:cNvPr id="77" name="UNDER soft pink bag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85" name="Clean emblem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62" name="Picture 261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94" name="Cover emblem clean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64" name="Picture 263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104" name="UNDER forest green bag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66" name="Picture 26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82186" y="1676400"/>
            <a:ext cx="3047427" cy="3429000"/>
          </a:xfrm>
          <a:prstGeom prst="rect">
            <a:avLst/>
          </a:prstGeom>
        </p:spPr>
      </p:pic>
      <p:sp>
        <p:nvSpPr>
          <p:cNvPr id="115" name="ON Shelly refined detail cream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68" name="Picture 26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62386" y="1676400"/>
            <a:ext cx="3047427" cy="3429000"/>
          </a:xfrm>
          <a:prstGeom prst="rect">
            <a:avLst/>
          </a:prstGeom>
        </p:spPr>
      </p:pic>
      <p:sp>
        <p:nvSpPr>
          <p:cNvPr id="117" name="UNDER Norma refined detail cream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70" name="Picture 26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2186" y="1676400"/>
            <a:ext cx="3047427" cy="3429000"/>
          </a:xfrm>
          <a:prstGeom prst="rect">
            <a:avLst/>
          </a:prstGeom>
        </p:spPr>
      </p:pic>
      <p:sp>
        <p:nvSpPr>
          <p:cNvPr id="130" name="Shelly photo-based full-frame illustration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72" name="Picture 27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6250" y="1676669"/>
            <a:ext cx="5219700" cy="3428462"/>
          </a:xfrm>
          <a:prstGeom prst="rect">
            <a:avLst/>
          </a:prstGeom>
        </p:spPr>
      </p:pic>
      <p:sp>
        <p:nvSpPr>
          <p:cNvPr id="132" name="Norma photo-based full-frame illustration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74" name="Picture 27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96050" y="1676669"/>
            <a:ext cx="5219700" cy="3428462"/>
          </a:xfrm>
          <a:prstGeom prst="rect">
            <a:avLst/>
          </a:prstGeom>
        </p:spPr>
      </p:pic>
      <p:sp>
        <p:nvSpPr>
          <p:cNvPr id="134" name="Slide 7 caption backing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5" name="Slide 6 green bag caption backing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The green bag is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under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the table.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277" name="Picture 276"/>
          <p:cNvPicPr>
            <a:picLocks noChangeAspect="1"/>
          </p:cNvPicPr>
          <p:nvPr/>
        </p:nvPicPr>
        <p:blipFill>
          <a:blip r:embed="rId15"/>
          <a:srcRect t="21181" b="21181"/>
          <a:stretch>
            <a:fillRect/>
          </a:stretch>
        </p:blipFill>
        <p:spPr>
          <a:xfrm>
            <a:off x="476250" y="1677975"/>
            <a:ext cx="5219700" cy="3425850"/>
          </a:xfrm>
          <a:prstGeom prst="rect">
            <a:avLst/>
          </a:prstGeom>
        </p:spPr>
      </p:pic>
      <p:pic>
        <p:nvPicPr>
          <p:cNvPr id="278" name="Picture 277"/>
          <p:cNvPicPr>
            <a:picLocks noChangeAspect="1"/>
          </p:cNvPicPr>
          <p:nvPr/>
        </p:nvPicPr>
        <p:blipFill>
          <a:blip r:embed="rId16"/>
          <a:srcRect t="21163" b="21163"/>
          <a:stretch>
            <a:fillRect/>
          </a:stretch>
        </p:blipFill>
        <p:spPr>
          <a:xfrm>
            <a:off x="6496050" y="1676868"/>
            <a:ext cx="5219700" cy="3428064"/>
          </a:xfrm>
          <a:prstGeom prst="rect">
            <a:avLst/>
          </a:prstGeom>
        </p:spPr>
      </p:pic>
      <p:sp>
        <p:nvSpPr>
          <p:cNvPr id="152" name="Basic course header clean backing"/>
          <p:cNvSpPr>
            <a:spLocks noGrp="1"/>
          </p:cNvSpPr>
          <p:nvPr/>
        </p:nvSpPr>
        <p:spPr>
          <a:xfrm>
            <a:off x="723900" y="133350"/>
            <a:ext cx="3286125" cy="381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53" name="Basic course running header"/>
          <p:cNvSpPr>
            <a:spLocks noGrp="1"/>
          </p:cNvSpPr>
          <p:nvPr/>
        </p:nvSpPr>
        <p:spPr>
          <a:xfrm>
            <a:off x="762000" y="1714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4" name="Slide 7 caption final backing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55" name="Slide 7 caption final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The waffle is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on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plate.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6" name="Green bag caption final backing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57" name="Green bag caption final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The walkie-talkie is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under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table.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8" name="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59" name="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on when something touches and is supported by a surface.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0" name="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61" name="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under when something is lower than, and often covered by, another thing.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8" name="Italic 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79" name="Italic 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98262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on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when something touches and is supported by a surface.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0" name="Italic 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81" name="Italic 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82031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under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when something is lower than, and often covered by, another thing.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2" name="Forbes English footer clean backing"/>
          <p:cNvSpPr>
            <a:spLocks noGrp="1"/>
          </p:cNvSpPr>
          <p:nvPr/>
        </p:nvSpPr>
        <p:spPr>
          <a:xfrm>
            <a:off x="11096625" y="6276975"/>
            <a:ext cx="914400" cy="42862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83" name="Forbes English footer wordmark"/>
          <p:cNvSpPr>
            <a:spLocks noGrp="1"/>
          </p:cNvSpPr>
          <p:nvPr/>
        </p:nvSpPr>
        <p:spPr>
          <a:xfrm>
            <a:off x="11172825" y="6315075"/>
            <a:ext cx="7334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750"/>
          </a:bodyPr>
          <a:lstStyle/>
          <a:p>
            <a:pPr algn="ctr">
              <a:buNone/>
            </a:pPr>
            <a:r>
              <a:rPr sz="1200" b="1" i="0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Forbes</a:t>
            </a:r>
            <a:endParaRPr sz="1200" b="1" i="0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84" name="Forbes English footer second line"/>
          <p:cNvSpPr>
            <a:spLocks noGrp="1"/>
          </p:cNvSpPr>
          <p:nvPr/>
        </p:nvSpPr>
        <p:spPr>
          <a:xfrm>
            <a:off x="11172825" y="6477000"/>
            <a:ext cx="7334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750" b="1" i="0">
                <a:solidFill>
                  <a:srgbClr val="111111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ENGLISH</a:t>
            </a:r>
            <a:endParaRPr sz="750" b="1" i="0">
              <a:solidFill>
                <a:srgbClr val="111111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0111C"/>
                </a:solidFill>
                <a:latin typeface="Aptos"/>
                <a:ea typeface="Aptos"/>
                <a:cs typeface="Aptos"/>
              </a:rPr>
              <a:t>7</a:t>
            </a:r>
            <a:endParaRPr sz="1350" b="1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Shape 3"/>
          <p:cNvSpPr>
            <a:spLocks noGrp="1"/>
          </p:cNvSpPr>
          <p:nvPr/>
        </p:nvSpPr>
        <p:spPr>
          <a:xfrm>
            <a:off x="6095390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6" name="Shape 4"/>
          <p:cNvSpPr>
            <a:spLocks noGrp="1"/>
          </p:cNvSpPr>
          <p:nvPr/>
        </p:nvSpPr>
        <p:spPr>
          <a:xfrm>
            <a:off x="6017666" y="3136392"/>
            <a:ext cx="155448" cy="155448"/>
          </a:xfrm>
          <a:prstGeom prst="diamond">
            <a:avLst/>
          </a:prstGeom>
          <a:solidFill>
            <a:srgbClr val="F6571D"/>
          </a:solidFill>
          <a:ln w="12700">
            <a:solidFill>
              <a:srgbClr val="8A1A1E">
                <a:alpha val="0"/>
              </a:srgbClr>
            </a:solidFill>
            <a:prstDash val="solid"/>
          </a:ln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ACROSS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ALONG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475488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8A1A1E"/>
            </a:solidFill>
            <a:prstDash val="solid"/>
          </a:ln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694944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IMAGE SLOT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  <a:p>
            <a:pPr marL="0" indent="0" algn="ctr">
              <a:buNone/>
            </a:pPr>
          </a:p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Pete Martell walking across a river bridge or log crossing. The image must show movement from one side of the river to the other.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6391656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263C32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6611112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IMAGE SLOT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  <a:p>
            <a:pPr marL="0" indent="0" algn="ctr">
              <a:buNone/>
            </a:pPr>
          </a:p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Deputy Hawk walking along a forest trail. Trail should stretch into the distance; Hawk follows its length, not crossing it.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585216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Pete is 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rowing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across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the river.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6501384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Hawk is walking </a:t>
            </a:r>
            <a:r>
              <a:rPr sz="1700" b="1" i="1">
                <a:solidFill>
                  <a:srgbClr val="263C32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along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the trail.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777240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8A1A1E"/>
                </a:solidFill>
                <a:latin typeface="Roboto Condensed"/>
                <a:ea typeface="Roboto Condensed"/>
                <a:cs typeface="Roboto Condensed"/>
              </a:rPr>
              <a:t>ACROSS</a:t>
            </a:r>
            <a:endParaRPr sz="1220" b="1">
              <a:solidFill>
                <a:srgbClr val="8A1A1E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777240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movement from one side to the other side.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6656832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263C32"/>
                </a:solidFill>
                <a:latin typeface="Roboto Condensed"/>
                <a:ea typeface="Roboto Condensed"/>
                <a:cs typeface="Roboto Condensed"/>
              </a:rPr>
              <a:t>ALONG</a:t>
            </a:r>
            <a:endParaRPr sz="1220" b="1">
              <a:solidFill>
                <a:srgbClr val="263C32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6656832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movement following the length or line of something.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20" name="Shape 18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232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0824" y="6007608"/>
            <a:ext cx="530352" cy="530352"/>
          </a:xfrm>
          <a:prstGeom prst="rect">
            <a:avLst/>
          </a:prstGeom>
        </p:spPr>
      </p:pic>
      <p:sp>
        <p:nvSpPr>
          <p:cNvPr id="22" name="Text 19"/>
          <p:cNvSpPr>
            <a:spLocks noGrp="1"/>
          </p:cNvSpPr>
          <p:nvPr/>
        </p:nvSpPr>
        <p:spPr>
          <a:xfrm>
            <a:off x="310896" y="6382512"/>
            <a:ext cx="22860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20"/>
          <p:cNvSpPr>
            <a:spLocks noGrp="1"/>
          </p:cNvSpPr>
          <p:nvPr/>
        </p:nvSpPr>
        <p:spPr>
          <a:xfrm>
            <a:off x="8302752" y="6382512"/>
            <a:ext cx="2852928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buNone/>
            </a:pPr>
            <a:endParaRPr sz="1050" b="1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25" name="Slide 4 system background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26" name="Slide number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778"/>
          </a:bodyPr>
          <a:lstStyle/>
          <a:p>
            <a:pPr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90111C"/>
                </a:solidFill>
                <a:latin typeface="Aptos"/>
                <a:ea typeface="Aptos"/>
                <a:cs typeface="Aptos"/>
              </a:rPr>
              <a:t>7</a:t>
            </a:r>
            <a:endParaRPr sz="1350" b="1" i="0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Header separator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28" name="Running header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Centre divider"/>
          <p:cNvSpPr>
            <a:spLocks noGrp="1"/>
          </p:cNvSpPr>
          <p:nvPr/>
        </p:nvSpPr>
        <p:spPr>
          <a:xfrm>
            <a:off x="6095429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0" name="Centre diamond"/>
          <p:cNvSpPr>
            <a:spLocks noGrp="1"/>
          </p:cNvSpPr>
          <p:nvPr/>
        </p:nvSpPr>
        <p:spPr>
          <a:xfrm>
            <a:off x="6017705" y="3136392"/>
            <a:ext cx="155448" cy="155448"/>
          </a:xfrm>
          <a:prstGeom prst="diamond">
            <a:avLst/>
          </a:prstGeom>
          <a:solidFill>
            <a:srgbClr val="107390"/>
          </a:solidFill>
          <a:ln w="0">
            <a:noFill/>
            <a:prstDash val="solid"/>
          </a:ln>
        </p:spPr>
      </p:sp>
      <p:sp>
        <p:nvSpPr>
          <p:cNvPr id="31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ACROSS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2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ALONG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3" name="Footer line left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4" name="Footer line right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245" name="Picture 24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36" name="Footer left"/>
          <p:cNvSpPr>
            <a:spLocks noGrp="1"/>
          </p:cNvSpPr>
          <p:nvPr/>
        </p:nvSpPr>
        <p:spPr>
          <a:xfrm>
            <a:off x="304800" y="63817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 i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Footer course"/>
          <p:cNvSpPr>
            <a:spLocks noGrp="1"/>
          </p:cNvSpPr>
          <p:nvPr/>
        </p:nvSpPr>
        <p:spPr>
          <a:xfrm>
            <a:off x="8096250" y="6381750"/>
            <a:ext cx="276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</a:pPr>
            <a:endParaRPr sz="1200" b="1" i="0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248" name="Picture 247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4250" y="6267450"/>
            <a:ext cx="781050" cy="361950"/>
          </a:xfrm>
          <a:prstGeom prst="rect">
            <a:avLst/>
          </a:prstGeom>
        </p:spPr>
      </p:pic>
      <p:sp>
        <p:nvSpPr>
          <p:cNvPr id="40" name="Left image slot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1" name="Right image slot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2" name="Left image brief"/>
          <p:cNvSpPr>
            <a:spLocks noGrp="1"/>
          </p:cNvSpPr>
          <p:nvPr/>
        </p:nvSpPr>
        <p:spPr>
          <a:xfrm>
            <a:off x="8096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300" b="0" i="0">
                <a:solidFill>
                  <a:srgbClr val="101918"/>
                </a:solidFill>
                <a:latin typeface="Aptos"/>
                <a:ea typeface="Aptos"/>
                <a:cs typeface="Aptos"/>
              </a:rPr>
              <a:t>Pete Martell crosses from one side of the river to the other.</a:t>
            </a: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3" name="Right image brief"/>
          <p:cNvSpPr>
            <a:spLocks noGrp="1"/>
          </p:cNvSpPr>
          <p:nvPr/>
        </p:nvSpPr>
        <p:spPr>
          <a:xfrm>
            <a:off x="68294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300" b="0" i="0">
                <a:solidFill>
                  <a:srgbClr val="101918"/>
                </a:solidFill>
                <a:latin typeface="Aptos"/>
                <a:ea typeface="Aptos"/>
                <a:cs typeface="Aptos"/>
              </a:rPr>
              <a:t>Deputy Hawk follows the length of a forest trail.</a:t>
            </a: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4" name="Sentence field left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5" name="Sentence field right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6" name="Sentence left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The boys are cycling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across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road.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7" name="Sentence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Jonathan is walking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along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railway tracks.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1" name="Clean emblem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58" name="Picture 257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56" name="Pete Martell rowing across river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60" name="Picture 259"/>
          <p:cNvPicPr>
            <a:picLocks noChangeAspect="1"/>
          </p:cNvPicPr>
          <p:nvPr/>
        </p:nvPicPr>
        <p:blipFill>
          <a:blip r:embed="rId6"/>
          <a:srcRect l="7165" r="7165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58" name="Pete Martell rowing across river border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59" name="Deputy Hawk walking along forest path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63" name="Picture 262"/>
          <p:cNvPicPr>
            <a:picLocks noChangeAspect="1"/>
          </p:cNvPicPr>
          <p:nvPr/>
        </p:nvPicPr>
        <p:blipFill>
          <a:blip r:embed="rId7"/>
          <a:srcRect l="7165" r="7165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61" name="Deputy Hawk walking along forest path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68" name="Calm Hawk ALONG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66" name="Picture 265"/>
          <p:cNvPicPr>
            <a:picLocks noChangeAspect="1"/>
          </p:cNvPicPr>
          <p:nvPr/>
        </p:nvPicPr>
        <p:blipFill>
          <a:blip r:embed="rId8"/>
          <a:srcRect l="7165" r="7165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70" name="Calm Hawk ALONG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78" name="Hawk corrected proportions v2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69" name="Picture 268"/>
          <p:cNvPicPr>
            <a:picLocks noChangeAspect="1"/>
          </p:cNvPicPr>
          <p:nvPr/>
        </p:nvPicPr>
        <p:blipFill>
          <a:blip r:embed="rId9"/>
          <a:srcRect l="7165" r="7165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80" name="Hawk corrected proportions v2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89" name="Photo-traced Hawk ALONG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72" name="Picture 271"/>
          <p:cNvPicPr>
            <a:picLocks noChangeAspect="1"/>
          </p:cNvPicPr>
          <p:nvPr/>
        </p:nvPicPr>
        <p:blipFill>
          <a:blip r:embed="rId10"/>
          <a:srcRect l="7165" r="7165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91" name="Photo-traced Hawk ALONG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01" name="Simplified Hawk ALONG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75" name="Picture 274"/>
          <p:cNvPicPr>
            <a:picLocks noChangeAspect="1"/>
          </p:cNvPicPr>
          <p:nvPr/>
        </p:nvPicPr>
        <p:blipFill>
          <a:blip r:embed="rId11"/>
          <a:srcRect l="7165" r="7165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103" name="Simplified Hawk ALONG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14" name="Balanced-detail Hawk ALONG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78" name="Picture 277"/>
          <p:cNvPicPr>
            <a:picLocks noChangeAspect="1"/>
          </p:cNvPicPr>
          <p:nvPr/>
        </p:nvPicPr>
        <p:blipFill>
          <a:blip r:embed="rId12"/>
          <a:srcRect l="7165" r="7165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116" name="Balanced-detail Hawk ALONG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28" name="Detailed-path Hawk ALONG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81" name="Picture 280"/>
          <p:cNvPicPr>
            <a:picLocks noChangeAspect="1"/>
          </p:cNvPicPr>
          <p:nvPr/>
        </p:nvPicPr>
        <p:blipFill>
          <a:blip r:embed="rId13"/>
          <a:srcRect t="21130" b="21130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130" name="Detailed-path Hawk ALONG border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143" name="Cover emblem clean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84" name="Picture 283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157" name="ACROSS Pete flattened editorial treatment cream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86" name="Picture 285"/>
          <p:cNvPicPr>
            <a:picLocks noChangeAspect="1"/>
          </p:cNvPicPr>
          <p:nvPr/>
        </p:nvPicPr>
        <p:blipFill>
          <a:blip r:embed="rId15"/>
          <a:srcRect t="21201" b="21201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172" name="Basic course header clean backing"/>
          <p:cNvSpPr>
            <a:spLocks noGrp="1"/>
          </p:cNvSpPr>
          <p:nvPr/>
        </p:nvSpPr>
        <p:spPr>
          <a:xfrm>
            <a:off x="723900" y="133350"/>
            <a:ext cx="3286125" cy="381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73" name="Basic course running header"/>
          <p:cNvSpPr>
            <a:spLocks noGrp="1"/>
          </p:cNvSpPr>
          <p:nvPr/>
        </p:nvSpPr>
        <p:spPr>
          <a:xfrm>
            <a:off x="762000" y="1714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4" name="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75" name="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across for movement from one side to the other.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6" name="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77" name="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along for movement following the length of a path or edge.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2" name="Italic 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93" name="Italic 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across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movement from one side to the other.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4" name="Italic 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95" name="Italic 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97043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along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movement following the length of a path or edge.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6" name="Forbes English footer clean backing"/>
          <p:cNvSpPr>
            <a:spLocks noGrp="1"/>
          </p:cNvSpPr>
          <p:nvPr/>
        </p:nvSpPr>
        <p:spPr>
          <a:xfrm>
            <a:off x="11096625" y="6276975"/>
            <a:ext cx="914400" cy="42862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97" name="Forbes English footer wordmark"/>
          <p:cNvSpPr>
            <a:spLocks noGrp="1"/>
          </p:cNvSpPr>
          <p:nvPr/>
        </p:nvSpPr>
        <p:spPr>
          <a:xfrm>
            <a:off x="11172825" y="6315075"/>
            <a:ext cx="7334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750"/>
          </a:bodyPr>
          <a:lstStyle/>
          <a:p>
            <a:pPr algn="ctr">
              <a:buNone/>
            </a:pPr>
            <a:r>
              <a:rPr sz="1200" b="1" i="0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Forbes</a:t>
            </a:r>
            <a:endParaRPr sz="1200" b="1" i="0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98" name="Forbes English footer second line"/>
          <p:cNvSpPr>
            <a:spLocks noGrp="1"/>
          </p:cNvSpPr>
          <p:nvPr/>
        </p:nvSpPr>
        <p:spPr>
          <a:xfrm>
            <a:off x="11172825" y="6477000"/>
            <a:ext cx="7334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750" b="1" i="0">
                <a:solidFill>
                  <a:srgbClr val="111111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ENGLISH</a:t>
            </a:r>
            <a:endParaRPr sz="750" b="1" i="0">
              <a:solidFill>
                <a:srgbClr val="111111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0111C"/>
                </a:solidFill>
                <a:latin typeface="Aptos"/>
                <a:ea typeface="Aptos"/>
                <a:cs typeface="Aptos"/>
              </a:rPr>
              <a:t>8</a:t>
            </a:r>
            <a:endParaRPr sz="1350" b="1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Shape 3"/>
          <p:cNvSpPr>
            <a:spLocks noGrp="1"/>
          </p:cNvSpPr>
          <p:nvPr/>
        </p:nvSpPr>
        <p:spPr>
          <a:xfrm>
            <a:off x="6095390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6" name="Shape 4"/>
          <p:cNvSpPr>
            <a:spLocks noGrp="1"/>
          </p:cNvSpPr>
          <p:nvPr/>
        </p:nvSpPr>
        <p:spPr>
          <a:xfrm>
            <a:off x="6017666" y="3136392"/>
            <a:ext cx="155448" cy="155448"/>
          </a:xfrm>
          <a:prstGeom prst="diamond">
            <a:avLst/>
          </a:prstGeom>
          <a:solidFill>
            <a:srgbClr val="F6571D"/>
          </a:solidFill>
          <a:ln w="12700">
            <a:solidFill>
              <a:srgbClr val="8A1A1E">
                <a:alpha val="0"/>
              </a:srgbClr>
            </a:solidFill>
            <a:prstDash val="solid"/>
          </a:ln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NEAR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NEXT TO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475488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8A1A1E"/>
            </a:solidFill>
            <a:prstDash val="solid"/>
          </a:ln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694944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IMAGE SLOT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  <a:p>
            <a:pPr marL="0" indent="0" algn="ctr">
              <a:buNone/>
            </a:pPr>
          </a:p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Lucy is near Andy at the Sheriff’s Station reception desk. They are close, but not side by side. Desk and phone support the location.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6391656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233F63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6611112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IMAGE SLOT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  <a:p>
            <a:pPr marL="0" indent="0" algn="ctr">
              <a:buNone/>
            </a:pPr>
          </a:p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Andy stands next to Sheriff </a:t>
            </a: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Lucy</a:t>
            </a: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 at the station. Shoulder-to-shoulder placement makes next to obvious.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585216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Lucy is standing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near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Andy.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6501384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777240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8A1A1E"/>
                </a:solidFill>
                <a:latin typeface="Roboto Condensed"/>
                <a:ea typeface="Roboto Condensed"/>
                <a:cs typeface="Roboto Condensed"/>
              </a:rPr>
              <a:t>NEAR</a:t>
            </a:r>
            <a:endParaRPr sz="1220" b="1">
              <a:solidFill>
                <a:srgbClr val="8A1A1E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777240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close to something, but not necessarily beside it.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6656832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233F63"/>
                </a:solidFill>
                <a:latin typeface="Roboto Condensed"/>
                <a:ea typeface="Roboto Condensed"/>
                <a:cs typeface="Roboto Condensed"/>
              </a:rPr>
              <a:t>NEXT TO</a:t>
            </a:r>
            <a:endParaRPr sz="1220" b="1">
              <a:solidFill>
                <a:srgbClr val="233F63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6656832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directly beside something or someone.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20" name="Shape 18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20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0824" y="6007608"/>
            <a:ext cx="530352" cy="530352"/>
          </a:xfrm>
          <a:prstGeom prst="rect">
            <a:avLst/>
          </a:prstGeom>
        </p:spPr>
      </p:pic>
      <p:sp>
        <p:nvSpPr>
          <p:cNvPr id="22" name="Text 19"/>
          <p:cNvSpPr>
            <a:spLocks noGrp="1"/>
          </p:cNvSpPr>
          <p:nvPr/>
        </p:nvSpPr>
        <p:spPr>
          <a:xfrm>
            <a:off x="310896" y="6382512"/>
            <a:ext cx="22860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20"/>
          <p:cNvSpPr>
            <a:spLocks noGrp="1"/>
          </p:cNvSpPr>
          <p:nvPr/>
        </p:nvSpPr>
        <p:spPr>
          <a:xfrm>
            <a:off x="8302752" y="6382512"/>
            <a:ext cx="2852928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buNone/>
            </a:pPr>
            <a:endParaRPr sz="1050" b="1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25" name="Slide 4 system background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26" name="Slide number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778"/>
          </a:bodyPr>
          <a:lstStyle/>
          <a:p>
            <a:pPr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90111C"/>
                </a:solidFill>
                <a:latin typeface="Aptos"/>
                <a:ea typeface="Aptos"/>
                <a:cs typeface="Aptos"/>
              </a:rPr>
              <a:t>8</a:t>
            </a:r>
            <a:endParaRPr sz="1350" b="1" i="0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Header separator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28" name="Running header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Centre divider"/>
          <p:cNvSpPr>
            <a:spLocks noGrp="1"/>
          </p:cNvSpPr>
          <p:nvPr/>
        </p:nvSpPr>
        <p:spPr>
          <a:xfrm>
            <a:off x="6095429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0" name="Centre diamond"/>
          <p:cNvSpPr>
            <a:spLocks noGrp="1"/>
          </p:cNvSpPr>
          <p:nvPr/>
        </p:nvSpPr>
        <p:spPr>
          <a:xfrm>
            <a:off x="6017705" y="3136392"/>
            <a:ext cx="155448" cy="155448"/>
          </a:xfrm>
          <a:prstGeom prst="diamond">
            <a:avLst/>
          </a:prstGeom>
          <a:solidFill>
            <a:srgbClr val="107390"/>
          </a:solidFill>
          <a:ln w="0">
            <a:noFill/>
            <a:prstDash val="solid"/>
          </a:ln>
        </p:spPr>
      </p:sp>
      <p:sp>
        <p:nvSpPr>
          <p:cNvPr id="31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NEAR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2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NEXT TO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3" name="Footer line left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4" name="Footer line right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33" name="Picture 1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36" name="Footer left"/>
          <p:cNvSpPr>
            <a:spLocks noGrp="1"/>
          </p:cNvSpPr>
          <p:nvPr/>
        </p:nvSpPr>
        <p:spPr>
          <a:xfrm>
            <a:off x="304800" y="63817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 i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Footer course"/>
          <p:cNvSpPr>
            <a:spLocks noGrp="1"/>
          </p:cNvSpPr>
          <p:nvPr/>
        </p:nvSpPr>
        <p:spPr>
          <a:xfrm>
            <a:off x="8096250" y="6381750"/>
            <a:ext cx="276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</a:pPr>
            <a:endParaRPr sz="1200" b="1" i="0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136" name="Picture 13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4250" y="6267450"/>
            <a:ext cx="781050" cy="361950"/>
          </a:xfrm>
          <a:prstGeom prst="rect">
            <a:avLst/>
          </a:prstGeom>
        </p:spPr>
      </p:pic>
      <p:sp>
        <p:nvSpPr>
          <p:cNvPr id="40" name="Left image slot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1" name="Right image slot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2" name="Left image brief"/>
          <p:cNvSpPr>
            <a:spLocks noGrp="1"/>
          </p:cNvSpPr>
          <p:nvPr/>
        </p:nvSpPr>
        <p:spPr>
          <a:xfrm>
            <a:off x="8096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300" b="0" i="0">
                <a:solidFill>
                  <a:srgbClr val="101918"/>
                </a:solidFill>
                <a:latin typeface="Aptos"/>
                <a:ea typeface="Aptos"/>
                <a:cs typeface="Aptos"/>
              </a:rPr>
              <a:t>Lucy is close to Andy but not directly beside him.</a:t>
            </a: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3" name="Right image brief"/>
          <p:cNvSpPr>
            <a:spLocks noGrp="1"/>
          </p:cNvSpPr>
          <p:nvPr/>
        </p:nvSpPr>
        <p:spPr>
          <a:xfrm>
            <a:off x="68294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300" b="0" i="0">
                <a:solidFill>
                  <a:srgbClr val="101918"/>
                </a:solidFill>
                <a:latin typeface="Aptos"/>
                <a:ea typeface="Aptos"/>
                <a:cs typeface="Aptos"/>
              </a:rPr>
              <a:t>Andy stands shoulder-to-shoulder next to Sheriff </a:t>
            </a:r>
            <a:r>
              <a:rPr sz="1300" b="0" i="0">
                <a:solidFill>
                  <a:srgbClr val="101918"/>
                </a:solidFill>
                <a:latin typeface="Aptos"/>
                <a:ea typeface="Aptos"/>
                <a:cs typeface="Aptos"/>
              </a:rPr>
              <a:t>Lucy</a:t>
            </a:r>
            <a:r>
              <a:rPr sz="1300" b="0" i="0">
                <a:solidFill>
                  <a:srgbClr val="101918"/>
                </a:solidFill>
                <a:latin typeface="Aptos"/>
                <a:ea typeface="Aptos"/>
                <a:cs typeface="Aptos"/>
              </a:rPr>
              <a:t>.</a:t>
            </a: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4" name="Sentence field left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5" name="Sentence field right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6" name="Sentence left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Lucy is standing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near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Andy.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7" name="Sentence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1" name="Clean emblem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46" name="Picture 14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56" name="Cover emblem clean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48" name="Picture 147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pic>
        <p:nvPicPr>
          <p:cNvPr id="149" name="Picture 148"/>
          <p:cNvPicPr>
            <a:picLocks noChangeAspect="1"/>
          </p:cNvPicPr>
          <p:nvPr/>
        </p:nvPicPr>
        <p:blipFill>
          <a:blip r:embed="rId6"/>
          <a:srcRect t="730" b="730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pic>
        <p:nvPicPr>
          <p:cNvPr id="150" name="Picture 149"/>
          <p:cNvPicPr>
            <a:picLocks noChangeAspect="1"/>
          </p:cNvPicPr>
          <p:nvPr/>
        </p:nvPicPr>
        <p:blipFill>
          <a:blip r:embed="rId7"/>
          <a:srcRect t="730" b="730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pic>
        <p:nvPicPr>
          <p:cNvPr id="151" name="Picture 150"/>
          <p:cNvPicPr>
            <a:picLocks noChangeAspect="1"/>
          </p:cNvPicPr>
          <p:nvPr/>
        </p:nvPicPr>
        <p:blipFill>
          <a:blip r:embed="rId8"/>
          <a:srcRect t="730" b="730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65" name="Basic course header clean backing"/>
          <p:cNvSpPr>
            <a:spLocks noGrp="1"/>
          </p:cNvSpPr>
          <p:nvPr/>
        </p:nvSpPr>
        <p:spPr>
          <a:xfrm>
            <a:off x="723900" y="133350"/>
            <a:ext cx="3286125" cy="381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66" name="Basic course running header"/>
          <p:cNvSpPr>
            <a:spLocks noGrp="1"/>
          </p:cNvSpPr>
          <p:nvPr/>
        </p:nvSpPr>
        <p:spPr>
          <a:xfrm>
            <a:off x="762000" y="1714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54" name="Picture 153"/>
          <p:cNvPicPr>
            <a:picLocks noChangeAspect="1"/>
          </p:cNvPicPr>
          <p:nvPr/>
        </p:nvPicPr>
        <p:blipFill>
          <a:blip r:embed="rId9"/>
          <a:srcRect t="730" b="730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68" name="Lucy seated caption final backing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69" name="Lucy seated caption final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Mike is standing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near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Eleven.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0" name="Truman before Cole caption final backing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1" name="Truman before Cole caption final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Lucas is sitting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next to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Dustin.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2" name="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3" name="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near when something is close, but not necessarily directly beside.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4" name="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5" name="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next to when something is immediately beside another thing.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5" name="Italic 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6" name="Italic 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88460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near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when something is close, but not necessarily directly beside.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7" name="Italic 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8" name="Italic 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94338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next to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when something is immediately beside another thing.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9" name="Forbes English footer clean backing"/>
          <p:cNvSpPr>
            <a:spLocks noGrp="1"/>
          </p:cNvSpPr>
          <p:nvPr/>
        </p:nvSpPr>
        <p:spPr>
          <a:xfrm>
            <a:off x="11096625" y="6276975"/>
            <a:ext cx="914400" cy="42862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90" name="Forbes English footer wordmark"/>
          <p:cNvSpPr>
            <a:spLocks noGrp="1"/>
          </p:cNvSpPr>
          <p:nvPr/>
        </p:nvSpPr>
        <p:spPr>
          <a:xfrm>
            <a:off x="11172825" y="6315075"/>
            <a:ext cx="7334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750"/>
          </a:bodyPr>
          <a:lstStyle/>
          <a:p>
            <a:pPr algn="ctr">
              <a:buNone/>
            </a:pPr>
            <a:r>
              <a:rPr sz="1200" b="1" i="0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Forbes</a:t>
            </a:r>
            <a:endParaRPr sz="1200" b="1" i="0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91" name="Forbes English footer second line"/>
          <p:cNvSpPr>
            <a:spLocks noGrp="1"/>
          </p:cNvSpPr>
          <p:nvPr/>
        </p:nvSpPr>
        <p:spPr>
          <a:xfrm>
            <a:off x="11172825" y="6477000"/>
            <a:ext cx="7334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750" b="1" i="0">
                <a:solidFill>
                  <a:srgbClr val="111111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ENGLISH</a:t>
            </a:r>
            <a:endParaRPr sz="750" b="1" i="0">
              <a:solidFill>
                <a:srgbClr val="111111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0111C"/>
                </a:solidFill>
                <a:latin typeface="Aptos"/>
                <a:ea typeface="Aptos"/>
                <a:cs typeface="Aptos"/>
              </a:rPr>
              <a:t>9</a:t>
            </a:r>
            <a:endParaRPr sz="1350" b="1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Shape 3"/>
          <p:cNvSpPr>
            <a:spLocks noGrp="1"/>
          </p:cNvSpPr>
          <p:nvPr/>
        </p:nvSpPr>
        <p:spPr>
          <a:xfrm>
            <a:off x="6095390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6" name="Shape 4"/>
          <p:cNvSpPr>
            <a:spLocks noGrp="1"/>
          </p:cNvSpPr>
          <p:nvPr/>
        </p:nvSpPr>
        <p:spPr>
          <a:xfrm>
            <a:off x="6017666" y="3136392"/>
            <a:ext cx="155448" cy="155448"/>
          </a:xfrm>
          <a:prstGeom prst="diamond">
            <a:avLst/>
          </a:prstGeom>
          <a:solidFill>
            <a:srgbClr val="F6571D"/>
          </a:solidFill>
          <a:ln w="12700">
            <a:solidFill>
              <a:srgbClr val="8A1A1E">
                <a:alpha val="0"/>
              </a:srgbClr>
            </a:solidFill>
            <a:prstDash val="solid"/>
          </a:ln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OPPOSITE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FACING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475488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8A1A1E"/>
            </a:solidFill>
            <a:prstDash val="solid"/>
          </a:ln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694944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6391656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8A1A1E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6611112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585216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Audrey is sitting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opposite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Ben.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6501384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Ben and Jerry are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facing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each other.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777240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8A1A1E"/>
                </a:solidFill>
                <a:latin typeface="Roboto Condensed"/>
                <a:ea typeface="Roboto Condensed"/>
                <a:cs typeface="Roboto Condensed"/>
              </a:rPr>
              <a:t>OPPOSITE</a:t>
            </a:r>
            <a:endParaRPr sz="1220" b="1">
              <a:solidFill>
                <a:srgbClr val="8A1A1E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777240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on the other side of a space or object.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6656832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8A1A1E"/>
                </a:solidFill>
                <a:latin typeface="Roboto Condensed"/>
                <a:ea typeface="Roboto Condensed"/>
                <a:cs typeface="Roboto Condensed"/>
              </a:rPr>
              <a:t>FACING</a:t>
            </a:r>
            <a:endParaRPr sz="1220" b="1">
              <a:solidFill>
                <a:srgbClr val="8A1A1E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6656832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looking or pointing toward someone or something.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20" name="Shape 18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97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0824" y="6007608"/>
            <a:ext cx="530352" cy="530352"/>
          </a:xfrm>
          <a:prstGeom prst="rect">
            <a:avLst/>
          </a:prstGeom>
        </p:spPr>
      </p:pic>
      <p:sp>
        <p:nvSpPr>
          <p:cNvPr id="22" name="Text 19"/>
          <p:cNvSpPr>
            <a:spLocks noGrp="1"/>
          </p:cNvSpPr>
          <p:nvPr/>
        </p:nvSpPr>
        <p:spPr>
          <a:xfrm>
            <a:off x="310896" y="6382512"/>
            <a:ext cx="22860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20"/>
          <p:cNvSpPr>
            <a:spLocks noGrp="1"/>
          </p:cNvSpPr>
          <p:nvPr/>
        </p:nvSpPr>
        <p:spPr>
          <a:xfrm>
            <a:off x="8302752" y="6382512"/>
            <a:ext cx="2852928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buNone/>
            </a:pPr>
            <a:endParaRPr sz="1050" b="1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25" name="Slide 4 system background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26" name="Slide number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778"/>
          </a:bodyPr>
          <a:lstStyle/>
          <a:p>
            <a:pPr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90111C"/>
                </a:solidFill>
                <a:latin typeface="Aptos"/>
                <a:ea typeface="Aptos"/>
                <a:cs typeface="Aptos"/>
              </a:rPr>
              <a:t>9</a:t>
            </a:r>
            <a:endParaRPr sz="1350" b="1" i="0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Header separator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28" name="Running header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Centre divider"/>
          <p:cNvSpPr>
            <a:spLocks noGrp="1"/>
          </p:cNvSpPr>
          <p:nvPr/>
        </p:nvSpPr>
        <p:spPr>
          <a:xfrm>
            <a:off x="6095429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0" name="Centre diamond"/>
          <p:cNvSpPr>
            <a:spLocks noGrp="1"/>
          </p:cNvSpPr>
          <p:nvPr/>
        </p:nvSpPr>
        <p:spPr>
          <a:xfrm>
            <a:off x="6017705" y="3136392"/>
            <a:ext cx="155448" cy="155448"/>
          </a:xfrm>
          <a:prstGeom prst="diamond">
            <a:avLst/>
          </a:prstGeom>
          <a:solidFill>
            <a:srgbClr val="107390"/>
          </a:solidFill>
          <a:ln w="0">
            <a:noFill/>
            <a:prstDash val="solid"/>
          </a:ln>
        </p:spPr>
      </p:sp>
      <p:sp>
        <p:nvSpPr>
          <p:cNvPr id="31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OPPOSITE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2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FACING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3" name="Footer line left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4" name="Footer line right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210" name="Picture 20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36" name="Footer left"/>
          <p:cNvSpPr>
            <a:spLocks noGrp="1"/>
          </p:cNvSpPr>
          <p:nvPr/>
        </p:nvSpPr>
        <p:spPr>
          <a:xfrm>
            <a:off x="304800" y="63817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 i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Footer course"/>
          <p:cNvSpPr>
            <a:spLocks noGrp="1"/>
          </p:cNvSpPr>
          <p:nvPr/>
        </p:nvSpPr>
        <p:spPr>
          <a:xfrm>
            <a:off x="8096250" y="6381750"/>
            <a:ext cx="276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</a:pPr>
            <a:endParaRPr sz="1200" b="1" i="0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213" name="Picture 21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4250" y="6267450"/>
            <a:ext cx="781050" cy="361950"/>
          </a:xfrm>
          <a:prstGeom prst="rect">
            <a:avLst/>
          </a:prstGeom>
        </p:spPr>
      </p:pic>
      <p:sp>
        <p:nvSpPr>
          <p:cNvPr id="40" name="Left image slot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1" name="Right image slot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2" name="Left image brief"/>
          <p:cNvSpPr>
            <a:spLocks noGrp="1"/>
          </p:cNvSpPr>
          <p:nvPr/>
        </p:nvSpPr>
        <p:spPr>
          <a:xfrm>
            <a:off x="8096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3" name="Right image brief"/>
          <p:cNvSpPr>
            <a:spLocks noGrp="1"/>
          </p:cNvSpPr>
          <p:nvPr/>
        </p:nvSpPr>
        <p:spPr>
          <a:xfrm>
            <a:off x="68294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300" b="0" i="0">
                <a:solidFill>
                  <a:srgbClr val="101918"/>
                </a:solidFill>
                <a:latin typeface="Aptos"/>
                <a:ea typeface="Aptos"/>
                <a:cs typeface="Aptos"/>
              </a:rPr>
              <a:t>Ben and Jerry face toward one another in the lobby.</a:t>
            </a: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4" name="Sentence field left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5" name="Sentence field right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6" name="Sentence left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Audrey is sitting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opposite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Ben.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7" name="Sentence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Ben and Jerry are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facing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each other.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1" name="Clean emblem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23" name="Picture 222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56" name="Cover emblem clean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25" name="Picture 224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62" name="Slide 9 opposite artwork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63" name="Slide 9 facing artwork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28" name="Picture 227"/>
          <p:cNvPicPr>
            <a:picLocks noChangeAspect="1"/>
          </p:cNvPicPr>
          <p:nvPr/>
        </p:nvPicPr>
        <p:blipFill>
          <a:blip r:embed="rId7"/>
          <a:srcRect t="730" b="730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pic>
        <p:nvPicPr>
          <p:cNvPr id="229" name="Picture 228"/>
          <p:cNvPicPr>
            <a:picLocks noChangeAspect="1"/>
          </p:cNvPicPr>
          <p:nvPr/>
        </p:nvPicPr>
        <p:blipFill>
          <a:blip r:embed="rId8"/>
          <a:srcRect t="21155" b="21155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66" name="Slide 9 caption backing left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67" name="Slide 9 caption backing right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68" name="Slide 9 caption left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Nancy is sitting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opposite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Steve.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9" name="Slide 9 caption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Hopper and Joyce are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facing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each other.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7" name="Audrey opposite Ben back view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35" name="Picture 234"/>
          <p:cNvPicPr>
            <a:picLocks noChangeAspect="1"/>
          </p:cNvPicPr>
          <p:nvPr/>
        </p:nvPicPr>
        <p:blipFill>
          <a:blip r:embed="rId9"/>
          <a:srcRect t="730" b="730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79" name="Albert facing Truman with authentic patch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37" name="Picture 236"/>
          <p:cNvPicPr>
            <a:picLocks noChangeAspect="1"/>
          </p:cNvPicPr>
          <p:nvPr/>
        </p:nvPicPr>
        <p:blipFill>
          <a:blip r:embed="rId10"/>
          <a:srcRect t="21155" b="21155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89" name="Photo-approved Audrey opposite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39" name="Picture 238"/>
          <p:cNvPicPr>
            <a:picLocks noChangeAspect="1"/>
          </p:cNvPicPr>
          <p:nvPr/>
        </p:nvPicPr>
        <p:blipFill>
          <a:blip r:embed="rId11"/>
          <a:srcRect t="730" b="730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100" name="Audrey pink sweater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41" name="Picture 240"/>
          <p:cNvPicPr>
            <a:picLocks noChangeAspect="1"/>
          </p:cNvPicPr>
          <p:nvPr/>
        </p:nvPicPr>
        <p:blipFill>
          <a:blip r:embed="rId12"/>
          <a:srcRect t="730" b="730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112" name="Audrey refined palette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43" name="Picture 242"/>
          <p:cNvPicPr>
            <a:picLocks noChangeAspect="1"/>
          </p:cNvPicPr>
          <p:nvPr/>
        </p:nvPicPr>
        <p:blipFill>
          <a:blip r:embed="rId13"/>
          <a:srcRect t="730" b="730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125" name="Audrey improved likeness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245" name="Picture 244"/>
          <p:cNvPicPr>
            <a:picLocks noChangeAspect="1"/>
          </p:cNvPicPr>
          <p:nvPr/>
        </p:nvPicPr>
        <p:blipFill>
          <a:blip r:embed="rId14"/>
          <a:srcRect t="21155" b="21155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139" name="Basic course header clean backing"/>
          <p:cNvSpPr>
            <a:spLocks noGrp="1"/>
          </p:cNvSpPr>
          <p:nvPr/>
        </p:nvSpPr>
        <p:spPr>
          <a:xfrm>
            <a:off x="723900" y="133350"/>
            <a:ext cx="3286125" cy="381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40" name="Basic course running header"/>
          <p:cNvSpPr>
            <a:spLocks noGrp="1"/>
          </p:cNvSpPr>
          <p:nvPr/>
        </p:nvSpPr>
        <p:spPr>
          <a:xfrm>
            <a:off x="762000" y="1714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1" name="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42" name="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opposite for positions on different sides of a space.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3" name="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44" name="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facing when people or things are turned towards each other.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8" name="Italic 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59" name="Italic 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opposite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positions on different sides of a space.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0" name="Italic 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61" name="Italic 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95069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facing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when people or things are turned towards each other.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2" name="Forbes English footer clean backing"/>
          <p:cNvSpPr>
            <a:spLocks noGrp="1"/>
          </p:cNvSpPr>
          <p:nvPr/>
        </p:nvSpPr>
        <p:spPr>
          <a:xfrm>
            <a:off x="11096625" y="6276975"/>
            <a:ext cx="914400" cy="42862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63" name="Forbes English footer wordmark"/>
          <p:cNvSpPr>
            <a:spLocks noGrp="1"/>
          </p:cNvSpPr>
          <p:nvPr/>
        </p:nvSpPr>
        <p:spPr>
          <a:xfrm>
            <a:off x="11172825" y="6315075"/>
            <a:ext cx="7334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750"/>
          </a:bodyPr>
          <a:lstStyle/>
          <a:p>
            <a:pPr algn="ctr">
              <a:buNone/>
            </a:pPr>
            <a:r>
              <a:rPr sz="1200" b="1" i="0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Forbes</a:t>
            </a:r>
            <a:endParaRPr sz="1200" b="1" i="0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64" name="Forbes English footer second line"/>
          <p:cNvSpPr>
            <a:spLocks noGrp="1"/>
          </p:cNvSpPr>
          <p:nvPr/>
        </p:nvSpPr>
        <p:spPr>
          <a:xfrm>
            <a:off x="11172825" y="6477000"/>
            <a:ext cx="7334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750" b="1" i="0">
                <a:solidFill>
                  <a:srgbClr val="111111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ENGLISH</a:t>
            </a:r>
            <a:endParaRPr sz="750" b="1" i="0">
              <a:solidFill>
                <a:srgbClr val="111111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0111C"/>
                </a:solidFill>
                <a:latin typeface="Aptos"/>
                <a:ea typeface="Aptos"/>
                <a:cs typeface="Aptos"/>
              </a:rPr>
              <a:t>10</a:t>
            </a:r>
            <a:endParaRPr sz="1350" b="1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Shape 3"/>
          <p:cNvSpPr>
            <a:spLocks noGrp="1"/>
          </p:cNvSpPr>
          <p:nvPr/>
        </p:nvSpPr>
        <p:spPr>
          <a:xfrm>
            <a:off x="6095390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6" name="Shape 4"/>
          <p:cNvSpPr>
            <a:spLocks noGrp="1"/>
          </p:cNvSpPr>
          <p:nvPr/>
        </p:nvSpPr>
        <p:spPr>
          <a:xfrm>
            <a:off x="6017666" y="3136392"/>
            <a:ext cx="155448" cy="155448"/>
          </a:xfrm>
          <a:prstGeom prst="diamond">
            <a:avLst/>
          </a:prstGeom>
          <a:solidFill>
            <a:srgbClr val="F6571D"/>
          </a:solidFill>
          <a:ln w="12700">
            <a:solidFill>
              <a:srgbClr val="8A1A1E">
                <a:alpha val="0"/>
              </a:srgbClr>
            </a:solidFill>
            <a:prstDash val="solid"/>
          </a:ln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INSIDE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OUTSIDE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475488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8A1A1E"/>
            </a:solidFill>
            <a:prstDash val="solid"/>
          </a:ln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694944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IMAGE SLOT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  <a:p>
            <a:pPr marL="0" indent="0" algn="ctr">
              <a:buNone/>
            </a:pPr>
          </a:p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Dr Jacoby inside his office. Colourful glasses, Hawaiian shirt, tapes or desk props. Room boundaries should be visible.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6391656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263C32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6611112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IMAGE SLOT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  <a:p>
            <a:pPr marL="0" indent="0" algn="ctr">
              <a:buNone/>
            </a:pPr>
          </a:p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Sarah Palmer or Donna outside the Palmer house. Exterior wall, porch or doorway must clearly show the character is not indoors.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585216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Dr Jacoby is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inside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his office.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6501384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Donna is waiting </a:t>
            </a:r>
            <a:r>
              <a:rPr sz="1700" b="1" i="1">
                <a:solidFill>
                  <a:srgbClr val="263C32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outside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the house.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777240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8A1A1E"/>
                </a:solidFill>
                <a:latin typeface="Roboto Condensed"/>
                <a:ea typeface="Roboto Condensed"/>
                <a:cs typeface="Roboto Condensed"/>
              </a:rPr>
              <a:t>INSIDE</a:t>
            </a:r>
            <a:endParaRPr sz="1220" b="1">
              <a:solidFill>
                <a:srgbClr val="8A1A1E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777240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within the limits of a place or container.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6656832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263C32"/>
                </a:solidFill>
                <a:latin typeface="Roboto Condensed"/>
                <a:ea typeface="Roboto Condensed"/>
                <a:cs typeface="Roboto Condensed"/>
              </a:rPr>
              <a:t>OUTSIDE</a:t>
            </a:r>
            <a:endParaRPr sz="1220" b="1">
              <a:solidFill>
                <a:srgbClr val="263C32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6656832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not within the limits of a place or building.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20" name="Shape 18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20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0824" y="6007608"/>
            <a:ext cx="530352" cy="530352"/>
          </a:xfrm>
          <a:prstGeom prst="rect">
            <a:avLst/>
          </a:prstGeom>
        </p:spPr>
      </p:pic>
      <p:sp>
        <p:nvSpPr>
          <p:cNvPr id="22" name="Text 19"/>
          <p:cNvSpPr>
            <a:spLocks noGrp="1"/>
          </p:cNvSpPr>
          <p:nvPr/>
        </p:nvSpPr>
        <p:spPr>
          <a:xfrm>
            <a:off x="310896" y="6382512"/>
            <a:ext cx="22860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20"/>
          <p:cNvSpPr>
            <a:spLocks noGrp="1"/>
          </p:cNvSpPr>
          <p:nvPr/>
        </p:nvSpPr>
        <p:spPr>
          <a:xfrm>
            <a:off x="8302752" y="6382512"/>
            <a:ext cx="2852928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buNone/>
            </a:pPr>
            <a:endParaRPr sz="1050" b="1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25" name="Slide 4 system background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26" name="Slide number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778"/>
          </a:bodyPr>
          <a:lstStyle/>
          <a:p>
            <a:pPr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90111C"/>
                </a:solidFill>
                <a:latin typeface="Aptos"/>
                <a:ea typeface="Aptos"/>
                <a:cs typeface="Aptos"/>
              </a:rPr>
              <a:t>10</a:t>
            </a:r>
            <a:endParaRPr sz="1350" b="1" i="0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Header separator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28" name="Running header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Centre divider"/>
          <p:cNvSpPr>
            <a:spLocks noGrp="1"/>
          </p:cNvSpPr>
          <p:nvPr/>
        </p:nvSpPr>
        <p:spPr>
          <a:xfrm>
            <a:off x="6095429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0" name="Centre diamond"/>
          <p:cNvSpPr>
            <a:spLocks noGrp="1"/>
          </p:cNvSpPr>
          <p:nvPr/>
        </p:nvSpPr>
        <p:spPr>
          <a:xfrm>
            <a:off x="6017705" y="3136392"/>
            <a:ext cx="155448" cy="155448"/>
          </a:xfrm>
          <a:prstGeom prst="diamond">
            <a:avLst/>
          </a:prstGeom>
          <a:solidFill>
            <a:srgbClr val="107390"/>
          </a:solidFill>
          <a:ln w="0">
            <a:noFill/>
            <a:prstDash val="solid"/>
          </a:ln>
        </p:spPr>
      </p:sp>
      <p:sp>
        <p:nvSpPr>
          <p:cNvPr id="31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INSIDE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2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OUTSIDE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3" name="Footer line left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4" name="Footer line right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33" name="Picture 1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36" name="Footer left"/>
          <p:cNvSpPr>
            <a:spLocks noGrp="1"/>
          </p:cNvSpPr>
          <p:nvPr/>
        </p:nvSpPr>
        <p:spPr>
          <a:xfrm>
            <a:off x="304800" y="63817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 i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Footer course"/>
          <p:cNvSpPr>
            <a:spLocks noGrp="1"/>
          </p:cNvSpPr>
          <p:nvPr/>
        </p:nvSpPr>
        <p:spPr>
          <a:xfrm>
            <a:off x="8096250" y="6381750"/>
            <a:ext cx="276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</a:pPr>
            <a:endParaRPr sz="1200" b="1" i="0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136" name="Picture 13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4250" y="6267450"/>
            <a:ext cx="781050" cy="361950"/>
          </a:xfrm>
          <a:prstGeom prst="rect">
            <a:avLst/>
          </a:prstGeom>
        </p:spPr>
      </p:pic>
      <p:sp>
        <p:nvSpPr>
          <p:cNvPr id="40" name="Left image slot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1" name="Right image slot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2" name="Left image brief"/>
          <p:cNvSpPr>
            <a:spLocks noGrp="1"/>
          </p:cNvSpPr>
          <p:nvPr/>
        </p:nvSpPr>
        <p:spPr>
          <a:xfrm>
            <a:off x="8096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300" b="0" i="0">
                <a:solidFill>
                  <a:srgbClr val="101918"/>
                </a:solidFill>
                <a:latin typeface="Aptos"/>
                <a:ea typeface="Aptos"/>
                <a:cs typeface="Aptos"/>
              </a:rPr>
              <a:t>Dr Jacoby is clearly enclosed inside his office.</a:t>
            </a: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3" name="Right image brief"/>
          <p:cNvSpPr>
            <a:spLocks noGrp="1"/>
          </p:cNvSpPr>
          <p:nvPr/>
        </p:nvSpPr>
        <p:spPr>
          <a:xfrm>
            <a:off x="68294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300" b="0" i="0">
                <a:solidFill>
                  <a:srgbClr val="101918"/>
                </a:solidFill>
                <a:latin typeface="Aptos"/>
                <a:ea typeface="Aptos"/>
                <a:cs typeface="Aptos"/>
              </a:rPr>
              <a:t>Donna stands outside the Palmer house.</a:t>
            </a: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4" name="Sentence field left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5" name="Sentence field right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6" name="Sentence left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Joyce is standing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inside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house.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7" name="Sentence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Hopper is standing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outside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house.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1" name="Clean emblem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46" name="Picture 145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56" name="Cover emblem clean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48" name="Picture 147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62" name="Dr Jacoby inside his office cream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50" name="Picture 149"/>
          <p:cNvPicPr>
            <a:picLocks noChangeAspect="1"/>
          </p:cNvPicPr>
          <p:nvPr/>
        </p:nvPicPr>
        <p:blipFill>
          <a:blip r:embed="rId6"/>
          <a:srcRect t="650" b="650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64" name="Donna outside the Palmer house cream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52" name="Picture 151"/>
          <p:cNvPicPr>
            <a:picLocks noChangeAspect="1"/>
          </p:cNvPicPr>
          <p:nvPr/>
        </p:nvPicPr>
        <p:blipFill>
          <a:blip r:embed="rId7"/>
          <a:srcRect t="730" b="730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72" name="Basic course header clean backing"/>
          <p:cNvSpPr>
            <a:spLocks noGrp="1"/>
          </p:cNvSpPr>
          <p:nvPr/>
        </p:nvSpPr>
        <p:spPr>
          <a:xfrm>
            <a:off x="723900" y="133350"/>
            <a:ext cx="3286125" cy="381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3" name="Basic course running header"/>
          <p:cNvSpPr>
            <a:spLocks noGrp="1"/>
          </p:cNvSpPr>
          <p:nvPr/>
        </p:nvSpPr>
        <p:spPr>
          <a:xfrm>
            <a:off x="762000" y="1714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4" name="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5" name="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inside for a position within a place, building or container.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6" name="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7" name="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outside for a position beyond the limits of a place or building.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59" name="Picture 158"/>
          <p:cNvPicPr>
            <a:picLocks noChangeAspect="1"/>
          </p:cNvPicPr>
          <p:nvPr/>
        </p:nvPicPr>
        <p:blipFill>
          <a:blip r:embed="rId8"/>
          <a:srcRect t="650" b="650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86" name="Italic 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7" name="Italic 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inside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a position within a place, building or container.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8" name="Italic 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9" name="Italic 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94193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outside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a position beyond the limits of a place or building.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0" name="Forbes English footer clean backing"/>
          <p:cNvSpPr>
            <a:spLocks noGrp="1"/>
          </p:cNvSpPr>
          <p:nvPr/>
        </p:nvSpPr>
        <p:spPr>
          <a:xfrm>
            <a:off x="11096625" y="6276975"/>
            <a:ext cx="914400" cy="42862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91" name="Forbes English footer wordmark"/>
          <p:cNvSpPr>
            <a:spLocks noGrp="1"/>
          </p:cNvSpPr>
          <p:nvPr/>
        </p:nvSpPr>
        <p:spPr>
          <a:xfrm>
            <a:off x="11172825" y="6315075"/>
            <a:ext cx="7334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750"/>
          </a:bodyPr>
          <a:lstStyle/>
          <a:p>
            <a:pPr algn="ctr">
              <a:buNone/>
            </a:pPr>
            <a:r>
              <a:rPr sz="1200" b="1" i="0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Forbes</a:t>
            </a:r>
            <a:endParaRPr sz="1200" b="1" i="0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92" name="Forbes English footer second line"/>
          <p:cNvSpPr>
            <a:spLocks noGrp="1"/>
          </p:cNvSpPr>
          <p:nvPr/>
        </p:nvSpPr>
        <p:spPr>
          <a:xfrm>
            <a:off x="11172825" y="6477000"/>
            <a:ext cx="7334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750" b="1" i="0">
                <a:solidFill>
                  <a:srgbClr val="111111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ENGLISH</a:t>
            </a:r>
            <a:endParaRPr sz="750" b="1" i="0">
              <a:solidFill>
                <a:srgbClr val="111111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0111C"/>
                </a:solidFill>
                <a:latin typeface="Aptos"/>
                <a:ea typeface="Aptos"/>
                <a:cs typeface="Aptos"/>
              </a:rPr>
              <a:t>11</a:t>
            </a:r>
            <a:endParaRPr sz="1350" b="1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Shape 3"/>
          <p:cNvSpPr>
            <a:spLocks noGrp="1"/>
          </p:cNvSpPr>
          <p:nvPr/>
        </p:nvSpPr>
        <p:spPr>
          <a:xfrm>
            <a:off x="6095390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6" name="Shape 4"/>
          <p:cNvSpPr>
            <a:spLocks noGrp="1"/>
          </p:cNvSpPr>
          <p:nvPr/>
        </p:nvSpPr>
        <p:spPr>
          <a:xfrm>
            <a:off x="6017666" y="3136392"/>
            <a:ext cx="155448" cy="155448"/>
          </a:xfrm>
          <a:prstGeom prst="diamond">
            <a:avLst/>
          </a:prstGeom>
          <a:solidFill>
            <a:srgbClr val="F6571D"/>
          </a:solidFill>
          <a:ln w="12700">
            <a:solidFill>
              <a:srgbClr val="8A1A1E">
                <a:alpha val="0"/>
              </a:srgbClr>
            </a:solidFill>
            <a:prstDash val="solid"/>
          </a:ln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TOWARDS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AWAY FROM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475488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8A1A1E"/>
            </a:solidFill>
            <a:prstDash val="solid"/>
          </a:ln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694944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6391656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8A1A1E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6611112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IMAGE SLOT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  <a:p>
            <a:pPr marL="0" indent="0" algn="ctr">
              <a:buNone/>
            </a:pPr>
          </a:p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The Man From Another Place moves away from Cooper across the chevron floor. Short silhouette, suit, distinctive hair, hands behind back.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585216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The Giant is walking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towards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Cooper.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6501384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The Man From Another Place is moving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away from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Cooper.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777240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8A1A1E"/>
                </a:solidFill>
                <a:latin typeface="Roboto Condensed"/>
                <a:ea typeface="Roboto Condensed"/>
                <a:cs typeface="Roboto Condensed"/>
              </a:rPr>
              <a:t>TOWARDS</a:t>
            </a:r>
            <a:endParaRPr sz="1220" b="1">
              <a:solidFill>
                <a:srgbClr val="8A1A1E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777240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movement in the direction of someone or something.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6656832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8A1A1E"/>
                </a:solidFill>
                <a:latin typeface="Roboto Condensed"/>
                <a:ea typeface="Roboto Condensed"/>
                <a:cs typeface="Roboto Condensed"/>
              </a:rPr>
              <a:t>AWAY FROM</a:t>
            </a:r>
            <a:endParaRPr sz="1220" b="1">
              <a:solidFill>
                <a:srgbClr val="8A1A1E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6656832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movement so the distance from someone or something increases.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20" name="Shape 18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15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0824" y="6007608"/>
            <a:ext cx="530352" cy="530352"/>
          </a:xfrm>
          <a:prstGeom prst="rect">
            <a:avLst/>
          </a:prstGeom>
        </p:spPr>
      </p:pic>
      <p:sp>
        <p:nvSpPr>
          <p:cNvPr id="22" name="Text 19"/>
          <p:cNvSpPr>
            <a:spLocks noGrp="1"/>
          </p:cNvSpPr>
          <p:nvPr/>
        </p:nvSpPr>
        <p:spPr>
          <a:xfrm>
            <a:off x="310896" y="6382512"/>
            <a:ext cx="22860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20"/>
          <p:cNvSpPr>
            <a:spLocks noGrp="1"/>
          </p:cNvSpPr>
          <p:nvPr/>
        </p:nvSpPr>
        <p:spPr>
          <a:xfrm>
            <a:off x="8302752" y="6382512"/>
            <a:ext cx="2852928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buNone/>
            </a:pPr>
            <a:endParaRPr sz="1050" b="1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25" name="Slide 4 system background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26" name="Slide number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778"/>
          </a:bodyPr>
          <a:lstStyle/>
          <a:p>
            <a:pPr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90111C"/>
                </a:solidFill>
                <a:latin typeface="Aptos"/>
                <a:ea typeface="Aptos"/>
                <a:cs typeface="Aptos"/>
              </a:rPr>
              <a:t>11</a:t>
            </a:r>
            <a:endParaRPr sz="1350" b="1" i="0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Header separator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28" name="Running header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Centre divider"/>
          <p:cNvSpPr>
            <a:spLocks noGrp="1"/>
          </p:cNvSpPr>
          <p:nvPr/>
        </p:nvSpPr>
        <p:spPr>
          <a:xfrm>
            <a:off x="6095429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0" name="Centre diamond"/>
          <p:cNvSpPr>
            <a:spLocks noGrp="1"/>
          </p:cNvSpPr>
          <p:nvPr/>
        </p:nvSpPr>
        <p:spPr>
          <a:xfrm>
            <a:off x="6017705" y="3136392"/>
            <a:ext cx="155448" cy="155448"/>
          </a:xfrm>
          <a:prstGeom prst="diamond">
            <a:avLst/>
          </a:prstGeom>
          <a:solidFill>
            <a:srgbClr val="107390"/>
          </a:solidFill>
          <a:ln w="0">
            <a:noFill/>
            <a:prstDash val="solid"/>
          </a:ln>
        </p:spPr>
      </p:sp>
      <p:sp>
        <p:nvSpPr>
          <p:cNvPr id="31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TOWARDS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2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AWAY FROM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3" name="Footer line left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4" name="Footer line right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28" name="Picture 1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36" name="Footer left"/>
          <p:cNvSpPr>
            <a:spLocks noGrp="1"/>
          </p:cNvSpPr>
          <p:nvPr/>
        </p:nvSpPr>
        <p:spPr>
          <a:xfrm>
            <a:off x="304800" y="63817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 i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Footer course"/>
          <p:cNvSpPr>
            <a:spLocks noGrp="1"/>
          </p:cNvSpPr>
          <p:nvPr/>
        </p:nvSpPr>
        <p:spPr>
          <a:xfrm>
            <a:off x="8096250" y="6381750"/>
            <a:ext cx="276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</a:pPr>
            <a:endParaRPr sz="1200" b="1" i="0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131" name="Picture 130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4250" y="6267450"/>
            <a:ext cx="781050" cy="361950"/>
          </a:xfrm>
          <a:prstGeom prst="rect">
            <a:avLst/>
          </a:prstGeom>
        </p:spPr>
      </p:pic>
      <p:sp>
        <p:nvSpPr>
          <p:cNvPr id="40" name="Left image slot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1" name="Right image slot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2" name="Left image brief"/>
          <p:cNvSpPr>
            <a:spLocks noGrp="1"/>
          </p:cNvSpPr>
          <p:nvPr/>
        </p:nvSpPr>
        <p:spPr>
          <a:xfrm>
            <a:off x="8096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3" name="Right image brief"/>
          <p:cNvSpPr>
            <a:spLocks noGrp="1"/>
          </p:cNvSpPr>
          <p:nvPr/>
        </p:nvSpPr>
        <p:spPr>
          <a:xfrm>
            <a:off x="68294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300" b="0" i="0">
                <a:solidFill>
                  <a:srgbClr val="101918"/>
                </a:solidFill>
                <a:latin typeface="Aptos"/>
                <a:ea typeface="Aptos"/>
                <a:cs typeface="Aptos"/>
              </a:rPr>
              <a:t>The Man From Another Place moves away from Cooper.</a:t>
            </a: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4" name="Sentence field left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5" name="Sentence field right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6" name="Sentence left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The Giant is walking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towards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Cooper.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7" name="Sentence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The boys are cycling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away from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vans.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1" name="Clean emblem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41" name="Picture 14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56" name="Cover emblem clean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43" name="Picture 14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pic>
        <p:nvPicPr>
          <p:cNvPr id="144" name="Picture 143"/>
          <p:cNvPicPr>
            <a:picLocks noChangeAspect="1"/>
          </p:cNvPicPr>
          <p:nvPr/>
        </p:nvPicPr>
        <p:blipFill>
          <a:blip r:embed="rId6"/>
          <a:srcRect t="730" b="730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pic>
        <p:nvPicPr>
          <p:cNvPr id="145" name="Picture 144"/>
          <p:cNvPicPr>
            <a:picLocks noChangeAspect="1"/>
          </p:cNvPicPr>
          <p:nvPr/>
        </p:nvPicPr>
        <p:blipFill>
          <a:blip r:embed="rId7"/>
          <a:srcRect t="650" b="650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64" name="Basic course header clean backing"/>
          <p:cNvSpPr>
            <a:spLocks noGrp="1"/>
          </p:cNvSpPr>
          <p:nvPr/>
        </p:nvSpPr>
        <p:spPr>
          <a:xfrm>
            <a:off x="723900" y="133350"/>
            <a:ext cx="3286125" cy="381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65" name="Basic course running header"/>
          <p:cNvSpPr>
            <a:spLocks noGrp="1"/>
          </p:cNvSpPr>
          <p:nvPr/>
        </p:nvSpPr>
        <p:spPr>
          <a:xfrm>
            <a:off x="762000" y="1714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48" name="Picture 147"/>
          <p:cNvPicPr>
            <a:picLocks noChangeAspect="1"/>
          </p:cNvPicPr>
          <p:nvPr/>
        </p:nvPicPr>
        <p:blipFill>
          <a:blip r:embed="rId6"/>
          <a:srcRect t="730" b="730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67" name="Giant hotel caption final backing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68" name="Giant hotel caption final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Hopper is walking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towards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Joyce.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9" name="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0" name="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towards for movement in the direction of someone or something.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1" name="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2" name="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away from when the distance from someone or something increases.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1" name="Italic 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2" name="Italic 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88095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towards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movement in the direction of someone or something.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3" name="Italic 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4" name="Italic 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83974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away from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when the distance from someone or something increases.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5" name="Forbes English footer clean backing"/>
          <p:cNvSpPr>
            <a:spLocks noGrp="1"/>
          </p:cNvSpPr>
          <p:nvPr/>
        </p:nvSpPr>
        <p:spPr>
          <a:xfrm>
            <a:off x="11096625" y="6276975"/>
            <a:ext cx="914400" cy="42862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6" name="Forbes English footer wordmark"/>
          <p:cNvSpPr>
            <a:spLocks noGrp="1"/>
          </p:cNvSpPr>
          <p:nvPr/>
        </p:nvSpPr>
        <p:spPr>
          <a:xfrm>
            <a:off x="11172825" y="6315075"/>
            <a:ext cx="7334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750"/>
          </a:bodyPr>
          <a:lstStyle/>
          <a:p>
            <a:pPr algn="ctr">
              <a:buNone/>
            </a:pPr>
            <a:r>
              <a:rPr sz="1200" b="1" i="0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Forbes</a:t>
            </a:r>
            <a:endParaRPr sz="1200" b="1" i="0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87" name="Forbes English footer second line"/>
          <p:cNvSpPr>
            <a:spLocks noGrp="1"/>
          </p:cNvSpPr>
          <p:nvPr/>
        </p:nvSpPr>
        <p:spPr>
          <a:xfrm>
            <a:off x="11172825" y="6477000"/>
            <a:ext cx="7334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750" b="1" i="0">
                <a:solidFill>
                  <a:srgbClr val="111111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ENGLISH</a:t>
            </a:r>
            <a:endParaRPr sz="750" b="1" i="0">
              <a:solidFill>
                <a:srgbClr val="111111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0111C"/>
                </a:solidFill>
                <a:latin typeface="Aptos"/>
                <a:ea typeface="Aptos"/>
                <a:cs typeface="Aptos"/>
              </a:rPr>
              <a:t>12</a:t>
            </a:r>
            <a:endParaRPr sz="1350" b="1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Shape 3"/>
          <p:cNvSpPr>
            <a:spLocks noGrp="1"/>
          </p:cNvSpPr>
          <p:nvPr/>
        </p:nvSpPr>
        <p:spPr>
          <a:xfrm>
            <a:off x="6095390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6" name="Shape 4"/>
          <p:cNvSpPr>
            <a:spLocks noGrp="1"/>
          </p:cNvSpPr>
          <p:nvPr/>
        </p:nvSpPr>
        <p:spPr>
          <a:xfrm>
            <a:off x="6017666" y="3136392"/>
            <a:ext cx="155448" cy="155448"/>
          </a:xfrm>
          <a:prstGeom prst="diamond">
            <a:avLst/>
          </a:prstGeom>
          <a:solidFill>
            <a:srgbClr val="F6571D"/>
          </a:solidFill>
          <a:ln w="12700">
            <a:solidFill>
              <a:srgbClr val="8A1A1E">
                <a:alpha val="0"/>
              </a:srgbClr>
            </a:solidFill>
            <a:prstDash val="solid"/>
          </a:ln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BY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pattFill prst="narHorz">
                  <a:fgClr>
                    <a:srgbClr val="2F3336"/>
                  </a:fgClr>
                  <a:bgClr>
                    <a:srgbClr val="B7B2AA"/>
                  </a:bgClr>
                </a:pattFill>
                <a:latin typeface="Noto Sans Display Condensed"/>
                <a:ea typeface="Noto Sans Display Condensed"/>
                <a:cs typeface="Noto Sans Display Condensed"/>
              </a:rPr>
              <a:t>UNTIL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pattFill prst="narHorz">
                <a:fgClr>
                  <a:srgbClr val="2F3336"/>
                </a:fgClr>
                <a:bgClr>
                  <a:srgbClr val="B7B2AA"/>
                </a:bgClr>
              </a:patt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475488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8A1A1E"/>
            </a:solidFill>
            <a:prstDash val="solid"/>
          </a:ln>
        </p:spPr>
      </p:sp>
      <p:sp>
        <p:nvSpPr>
          <p:cNvPr id="10" name="Text 8"/>
          <p:cNvSpPr>
            <a:spLocks noGrp="1"/>
          </p:cNvSpPr>
          <p:nvPr/>
        </p:nvSpPr>
        <p:spPr>
          <a:xfrm>
            <a:off x="694944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IMAGE SLOT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  <a:p>
            <a:pPr marL="0" indent="0" algn="ctr">
              <a:buNone/>
            </a:pPr>
          </a:p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Major Briggs standing by the Sheriff’s Station map or evidence board. He must be clearly next to it, calm, formal, recognisable.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Shape 9"/>
          <p:cNvSpPr>
            <a:spLocks noGrp="1"/>
          </p:cNvSpPr>
          <p:nvPr/>
        </p:nvSpPr>
        <p:spPr>
          <a:xfrm>
            <a:off x="6391656" y="1444752"/>
            <a:ext cx="5321808" cy="3547872"/>
          </a:xfrm>
          <a:prstGeom prst="rect">
            <a:avLst/>
          </a:prstGeom>
          <a:solidFill>
            <a:srgbClr val="F8F0DF">
              <a:alpha val="96000"/>
            </a:srgbClr>
          </a:solidFill>
          <a:ln w="13335">
            <a:solidFill>
              <a:srgbClr val="233F63"/>
            </a:solidFill>
            <a:prstDash val="solid"/>
          </a:ln>
        </p:spPr>
      </p:sp>
      <p:sp>
        <p:nvSpPr>
          <p:cNvPr id="12" name="Text 10"/>
          <p:cNvSpPr>
            <a:spLocks noGrp="1"/>
          </p:cNvSpPr>
          <p:nvPr/>
        </p:nvSpPr>
        <p:spPr>
          <a:xfrm>
            <a:off x="6611112" y="1645920"/>
            <a:ext cx="4882896" cy="31455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IMAGE SLOT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  <a:p>
            <a:pPr marL="0" indent="0" algn="ctr">
              <a:buNone/>
            </a:pPr>
          </a:p>
          <a:p>
            <a:pPr marL="0" indent="0" algn="ctr">
              <a:buNone/>
            </a:pPr>
            <a:r>
              <a:rPr sz="1320">
                <a:solidFill>
                  <a:srgbClr val="101918"/>
                </a:solidFill>
                <a:latin typeface="Aptos"/>
                <a:ea typeface="Aptos"/>
                <a:cs typeface="Aptos"/>
              </a:rPr>
              <a:t>Leland Palmer at the Palmer House with a clock or midnight shadow. The time endpoint must be visually clear, not just decorative.</a:t>
            </a: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ext 11"/>
          <p:cNvSpPr>
            <a:spLocks noGrp="1"/>
          </p:cNvSpPr>
          <p:nvPr/>
        </p:nvSpPr>
        <p:spPr>
          <a:xfrm>
            <a:off x="585216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Major Briggs is standing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by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the map.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Text 12"/>
          <p:cNvSpPr>
            <a:spLocks noGrp="1"/>
          </p:cNvSpPr>
          <p:nvPr/>
        </p:nvSpPr>
        <p:spPr>
          <a:xfrm>
            <a:off x="6501384" y="521208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Bobby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waits </a:t>
            </a:r>
            <a:r>
              <a:rPr sz="1700" b="1" i="1">
                <a:solidFill>
                  <a:srgbClr val="233F63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until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midnight.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777240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8A1A1E"/>
                </a:solidFill>
                <a:latin typeface="Roboto Condensed"/>
                <a:ea typeface="Roboto Condensed"/>
                <a:cs typeface="Roboto Condensed"/>
              </a:rPr>
              <a:t>BY</a:t>
            </a:r>
            <a:endParaRPr sz="1220" b="1">
              <a:solidFill>
                <a:srgbClr val="8A1A1E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6" name="Text 14"/>
          <p:cNvSpPr>
            <a:spLocks noGrp="1"/>
          </p:cNvSpPr>
          <p:nvPr/>
        </p:nvSpPr>
        <p:spPr>
          <a:xfrm>
            <a:off x="777240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next to, near, or at the side of something.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7" name="Text 15"/>
          <p:cNvSpPr>
            <a:spLocks noGrp="1"/>
          </p:cNvSpPr>
          <p:nvPr/>
        </p:nvSpPr>
        <p:spPr>
          <a:xfrm>
            <a:off x="6656832" y="5632704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233F63"/>
                </a:solidFill>
                <a:latin typeface="Roboto Condensed"/>
                <a:ea typeface="Roboto Condensed"/>
                <a:cs typeface="Roboto Condensed"/>
              </a:rPr>
              <a:t>UNTIL</a:t>
            </a:r>
            <a:endParaRPr sz="1220" b="1">
              <a:solidFill>
                <a:srgbClr val="233F63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6656832" y="587959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80" i="1">
                <a:solidFill>
                  <a:srgbClr val="69675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up to a specific time; the action continues before that time.</a:t>
            </a:r>
            <a:endParaRPr sz="980" i="1">
              <a:solidFill>
                <a:srgbClr val="69675E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20" name="Shape 18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20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0824" y="6007608"/>
            <a:ext cx="530352" cy="530352"/>
          </a:xfrm>
          <a:prstGeom prst="rect">
            <a:avLst/>
          </a:prstGeom>
        </p:spPr>
      </p:pic>
      <p:sp>
        <p:nvSpPr>
          <p:cNvPr id="22" name="Text 19"/>
          <p:cNvSpPr>
            <a:spLocks noGrp="1"/>
          </p:cNvSpPr>
          <p:nvPr/>
        </p:nvSpPr>
        <p:spPr>
          <a:xfrm>
            <a:off x="310896" y="6382512"/>
            <a:ext cx="22860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20"/>
          <p:cNvSpPr>
            <a:spLocks noGrp="1"/>
          </p:cNvSpPr>
          <p:nvPr/>
        </p:nvSpPr>
        <p:spPr>
          <a:xfrm>
            <a:off x="8302752" y="6382512"/>
            <a:ext cx="2852928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buNone/>
            </a:pPr>
            <a:endParaRPr sz="1050" b="1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25" name="Slide 4 system background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26" name="Slide number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7778"/>
          </a:bodyPr>
          <a:lstStyle/>
          <a:p>
            <a:pPr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90111C"/>
                </a:solidFill>
                <a:latin typeface="Aptos"/>
                <a:ea typeface="Aptos"/>
                <a:cs typeface="Aptos"/>
              </a:rPr>
              <a:t>12</a:t>
            </a:r>
            <a:endParaRPr sz="1350" b="1" i="0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Header separator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28" name="Running header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Centre divider"/>
          <p:cNvSpPr>
            <a:spLocks noGrp="1"/>
          </p:cNvSpPr>
          <p:nvPr/>
        </p:nvSpPr>
        <p:spPr>
          <a:xfrm>
            <a:off x="6095429" y="502920"/>
            <a:ext cx="0" cy="5276088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0" name="Centre diamond"/>
          <p:cNvSpPr>
            <a:spLocks noGrp="1"/>
          </p:cNvSpPr>
          <p:nvPr/>
        </p:nvSpPr>
        <p:spPr>
          <a:xfrm>
            <a:off x="6017705" y="3136392"/>
            <a:ext cx="155448" cy="155448"/>
          </a:xfrm>
          <a:prstGeom prst="diamond">
            <a:avLst/>
          </a:prstGeom>
          <a:solidFill>
            <a:srgbClr val="107390"/>
          </a:solidFill>
          <a:ln w="0">
            <a:noFill/>
            <a:prstDash val="solid"/>
          </a:ln>
        </p:spPr>
      </p:sp>
      <p:sp>
        <p:nvSpPr>
          <p:cNvPr id="31" name="Target title left"/>
          <p:cNvSpPr>
            <a:spLocks noGrp="1"/>
          </p:cNvSpPr>
          <p:nvPr/>
        </p:nvSpPr>
        <p:spPr>
          <a:xfrm>
            <a:off x="68580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BY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2" name="Target title right"/>
          <p:cNvSpPr>
            <a:spLocks noGrp="1"/>
          </p:cNvSpPr>
          <p:nvPr/>
        </p:nvSpPr>
        <p:spPr>
          <a:xfrm>
            <a:off x="6446520" y="731520"/>
            <a:ext cx="5074920" cy="658368"/>
          </a:xfrm>
          <a:prstGeom prst="rect">
            <a:avLst/>
          </a:prstGeom>
          <a:noFill/>
          <a:ln w="0">
            <a:noFill/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 i="0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UNTIL</a:t>
            </a:r>
            <a:endParaRPr sz="4300" b="1" i="0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33" name="Footer line left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34" name="Footer line right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133" name="Picture 1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36" name="Footer left"/>
          <p:cNvSpPr>
            <a:spLocks noGrp="1"/>
          </p:cNvSpPr>
          <p:nvPr/>
        </p:nvSpPr>
        <p:spPr>
          <a:xfrm>
            <a:off x="304800" y="63817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 i="0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7" name="Footer course"/>
          <p:cNvSpPr>
            <a:spLocks noGrp="1"/>
          </p:cNvSpPr>
          <p:nvPr/>
        </p:nvSpPr>
        <p:spPr>
          <a:xfrm>
            <a:off x="8096250" y="6381750"/>
            <a:ext cx="2762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r">
              <a:buNone/>
            </a:pPr>
            <a:endParaRPr sz="1200" b="1" i="0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136" name="Picture 13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4250" y="6267450"/>
            <a:ext cx="781050" cy="361950"/>
          </a:xfrm>
          <a:prstGeom prst="rect">
            <a:avLst/>
          </a:prstGeom>
        </p:spPr>
      </p:pic>
      <p:sp>
        <p:nvSpPr>
          <p:cNvPr id="40" name="Left image slot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1" name="Right image slot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noFill/>
          <a:ln w="0">
            <a:noFill/>
            <a:prstDash val="solid"/>
          </a:ln>
        </p:spPr>
      </p:sp>
      <p:sp>
        <p:nvSpPr>
          <p:cNvPr id="42" name="Left image brief"/>
          <p:cNvSpPr>
            <a:spLocks noGrp="1"/>
          </p:cNvSpPr>
          <p:nvPr/>
        </p:nvSpPr>
        <p:spPr>
          <a:xfrm>
            <a:off x="8096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300" b="0" i="0">
                <a:solidFill>
                  <a:srgbClr val="101918"/>
                </a:solidFill>
                <a:latin typeface="Aptos"/>
                <a:ea typeface="Aptos"/>
                <a:cs typeface="Aptos"/>
              </a:rPr>
              <a:t>Major Briggs stands by the Sheriff’s Station map.</a:t>
            </a: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3" name="Right image brief"/>
          <p:cNvSpPr>
            <a:spLocks noGrp="1"/>
          </p:cNvSpPr>
          <p:nvPr/>
        </p:nvSpPr>
        <p:spPr>
          <a:xfrm>
            <a:off x="6829425" y="2571750"/>
            <a:ext cx="4552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300" b="0" i="0">
                <a:solidFill>
                  <a:srgbClr val="101918"/>
                </a:solidFill>
                <a:latin typeface="Aptos"/>
                <a:ea typeface="Aptos"/>
                <a:cs typeface="Aptos"/>
              </a:rPr>
              <a:t>Leland waits until the clock reaches midnight.</a:t>
            </a:r>
            <a:endParaRPr sz="1300" b="0" i="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4" name="Sentence field left"/>
          <p:cNvSpPr>
            <a:spLocks noGrp="1"/>
          </p:cNvSpPr>
          <p:nvPr/>
        </p:nvSpPr>
        <p:spPr>
          <a:xfrm>
            <a:off x="47625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5" name="Sentence field right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noFill xmlns:a="http://schemas.openxmlformats.org/drawingml/2006/main"/>
          <a:ln w="0">
            <a:noFill/>
            <a:prstDash val="solid"/>
          </a:ln>
        </p:spPr>
      </p:sp>
      <p:sp>
        <p:nvSpPr>
          <p:cNvPr id="46" name="Sentence left"/>
          <p:cNvSpPr>
            <a:spLocks noGrp="1"/>
          </p:cNvSpPr>
          <p:nvPr/>
        </p:nvSpPr>
        <p:spPr>
          <a:xfrm>
            <a:off x="52387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Hopper is standing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by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the map.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7" name="Sentence right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Bobby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waits </a:t>
            </a:r>
            <a:r>
              <a:rPr sz="1700" b="1" i="1">
                <a:solidFill>
                  <a:srgbClr val="8A1A1E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until</a:t>
            </a:r>
            <a:r>
              <a:rPr sz="1700">
                <a:solidFill>
                  <a:srgbClr val="101918"/>
                </a:solidFill>
                <a:latin typeface="Aptos"/>
                <a:ea typeface="Aptos"/>
                <a:cs typeface="Aptos"/>
              </a:rPr>
              <a:t> midnight.</a:t>
            </a:r>
            <a:endParaRPr sz="170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1" name="Clean emblem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46" name="Picture 145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56" name="Cover emblem clean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48" name="Picture 147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62" name="Major Briggs standing by the map cream backing"/>
          <p:cNvSpPr>
            <a:spLocks noGrp="1"/>
          </p:cNvSpPr>
          <p:nvPr/>
        </p:nvSpPr>
        <p:spPr>
          <a:xfrm>
            <a:off x="4762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50" name="Picture 149"/>
          <p:cNvPicPr>
            <a:picLocks noChangeAspect="1"/>
          </p:cNvPicPr>
          <p:nvPr/>
        </p:nvPicPr>
        <p:blipFill>
          <a:blip r:embed="rId7"/>
          <a:srcRect l="1314" r="1314"/>
          <a:stretch>
            <a:fillRect/>
          </a:stretch>
        </p:blipFill>
        <p:spPr>
          <a:xfrm>
            <a:off x="476250" y="1676400"/>
            <a:ext cx="5219700" cy="3429000"/>
          </a:xfrm>
          <a:prstGeom prst="rect">
            <a:avLst/>
          </a:prstGeom>
        </p:spPr>
      </p:pic>
      <p:sp>
        <p:nvSpPr>
          <p:cNvPr id="64" name="Bobby waiting until midnight cream backing"/>
          <p:cNvSpPr>
            <a:spLocks noGrp="1"/>
          </p:cNvSpPr>
          <p:nvPr/>
        </p:nvSpPr>
        <p:spPr>
          <a:xfrm>
            <a:off x="6496050" y="1676400"/>
            <a:ext cx="5219700" cy="3429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152" name="Picture 151"/>
          <p:cNvPicPr>
            <a:picLocks noChangeAspect="1"/>
          </p:cNvPicPr>
          <p:nvPr/>
        </p:nvPicPr>
        <p:blipFill>
          <a:blip r:embed="rId8"/>
          <a:srcRect l="1314" r="1314"/>
          <a:stretch>
            <a:fillRect/>
          </a:stretch>
        </p:blipFill>
        <p:spPr>
          <a:xfrm>
            <a:off x="6496050" y="1676400"/>
            <a:ext cx="5219700" cy="3429000"/>
          </a:xfrm>
          <a:prstGeom prst="rect">
            <a:avLst/>
          </a:prstGeom>
        </p:spPr>
      </p:pic>
      <p:sp>
        <p:nvSpPr>
          <p:cNvPr id="72" name="Basic course header clean backing"/>
          <p:cNvSpPr>
            <a:spLocks noGrp="1"/>
          </p:cNvSpPr>
          <p:nvPr/>
        </p:nvSpPr>
        <p:spPr>
          <a:xfrm>
            <a:off x="723900" y="133350"/>
            <a:ext cx="3286125" cy="381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3" name="Basic course running header"/>
          <p:cNvSpPr>
            <a:spLocks noGrp="1"/>
          </p:cNvSpPr>
          <p:nvPr/>
        </p:nvSpPr>
        <p:spPr>
          <a:xfrm>
            <a:off x="762000" y="1714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4" name="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5" name="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by for a position beside or very near something.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6" name="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77" name="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</a:pPr>
            <a:r>
              <a:rPr sz="1200" b="0" i="0">
                <a:solidFill>
                  <a:srgbClr val="505653"/>
                </a:solidFill>
                <a:latin typeface="Aptos"/>
                <a:ea typeface="Aptos"/>
                <a:cs typeface="Aptos"/>
              </a:rPr>
              <a:t>Use until for an action or state continuing up to a particular time.</a:t>
            </a:r>
            <a:endParaRPr sz="1200" b="0" i="0">
              <a:solidFill>
                <a:srgbClr val="50565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5" name="Bobby caption final backing"/>
          <p:cNvSpPr>
            <a:spLocks noGrp="1"/>
          </p:cNvSpPr>
          <p:nvPr/>
        </p:nvSpPr>
        <p:spPr>
          <a:xfrm>
            <a:off x="6400800" y="5105400"/>
            <a:ext cx="5314950" cy="59055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6" name="Bobby caption final"/>
          <p:cNvSpPr>
            <a:spLocks noGrp="1"/>
          </p:cNvSpPr>
          <p:nvPr/>
        </p:nvSpPr>
        <p:spPr>
          <a:xfrm>
            <a:off x="6448425" y="5162550"/>
            <a:ext cx="5219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7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Mike is waiting </a:t>
            </a:r>
            <a:r>
              <a:rPr sz="17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until</a:t>
            </a:r>
            <a:r>
              <a:rPr sz="1700">
                <a:solidFill>
                  <a:srgbClr val="182E43"/>
                </a:solidFill>
                <a:latin typeface="Aptos"/>
                <a:ea typeface="Aptos"/>
                <a:cs typeface="Aptos"/>
              </a:rPr>
              <a:t> midnight.</a:t>
            </a:r>
            <a:endParaRPr sz="17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7" name="Italic usage note left backing"/>
          <p:cNvSpPr>
            <a:spLocks noGrp="1"/>
          </p:cNvSpPr>
          <p:nvPr/>
        </p:nvSpPr>
        <p:spPr>
          <a:xfrm>
            <a:off x="47625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88" name="Italic usage note left"/>
          <p:cNvSpPr>
            <a:spLocks noGrp="1"/>
          </p:cNvSpPr>
          <p:nvPr/>
        </p:nvSpPr>
        <p:spPr>
          <a:xfrm>
            <a:off x="55245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by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a position beside or very near something.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9" name="Italic usage note right backing"/>
          <p:cNvSpPr>
            <a:spLocks noGrp="1"/>
          </p:cNvSpPr>
          <p:nvPr/>
        </p:nvSpPr>
        <p:spPr>
          <a:xfrm>
            <a:off x="6400800" y="5676900"/>
            <a:ext cx="5314950" cy="48577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90" name="Italic usage note right"/>
          <p:cNvSpPr>
            <a:spLocks noGrp="1"/>
          </p:cNvSpPr>
          <p:nvPr/>
        </p:nvSpPr>
        <p:spPr>
          <a:xfrm>
            <a:off x="6477000" y="5715000"/>
            <a:ext cx="5162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0" rIns="28575" bIns="0" anchor="ctr">
            <a:normAutofit fontScale="95262"/>
          </a:bodyPr>
          <a:lstStyle/>
          <a:p>
            <a:pPr algn="ctr">
              <a:buNone/>
              <a:defRPr sz="1600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Use </a:t>
            </a:r>
            <a:r>
              <a:rPr sz="1600" b="1" i="1">
                <a:solidFill>
                  <a:srgbClr val="182E43"/>
                </a:solidFill>
                <a:latin typeface="Aptos"/>
                <a:ea typeface="Aptos"/>
                <a:cs typeface="Aptos"/>
              </a:rPr>
              <a:t>until</a:t>
            </a:r>
            <a:r>
              <a:rPr sz="1600">
                <a:solidFill>
                  <a:srgbClr val="182E43"/>
                </a:solidFill>
                <a:latin typeface="Aptos"/>
                <a:ea typeface="Aptos"/>
                <a:cs typeface="Aptos"/>
              </a:rPr>
              <a:t> for an action or state continuing up to a particular time.</a:t>
            </a:r>
            <a:endParaRPr sz="160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1" name="Forbes English footer clean backing"/>
          <p:cNvSpPr>
            <a:spLocks noGrp="1"/>
          </p:cNvSpPr>
          <p:nvPr/>
        </p:nvSpPr>
        <p:spPr>
          <a:xfrm>
            <a:off x="11096625" y="6276975"/>
            <a:ext cx="914400" cy="42862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92" name="Forbes English footer wordmark"/>
          <p:cNvSpPr>
            <a:spLocks noGrp="1"/>
          </p:cNvSpPr>
          <p:nvPr/>
        </p:nvSpPr>
        <p:spPr>
          <a:xfrm>
            <a:off x="11172825" y="6315075"/>
            <a:ext cx="7334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750"/>
          </a:bodyPr>
          <a:lstStyle/>
          <a:p>
            <a:pPr algn="ctr">
              <a:buNone/>
            </a:pPr>
            <a:r>
              <a:rPr sz="1200" b="1" i="0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Forbes</a:t>
            </a:r>
            <a:endParaRPr sz="1200" b="1" i="0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93" name="Forbes English footer second line"/>
          <p:cNvSpPr>
            <a:spLocks noGrp="1"/>
          </p:cNvSpPr>
          <p:nvPr/>
        </p:nvSpPr>
        <p:spPr>
          <a:xfrm>
            <a:off x="11172825" y="6477000"/>
            <a:ext cx="7334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750" b="1" i="0">
                <a:solidFill>
                  <a:srgbClr val="111111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ENGLISH</a:t>
            </a:r>
            <a:endParaRPr sz="750" b="1" i="0">
              <a:solidFill>
                <a:srgbClr val="111111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E1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283464" y="219456"/>
            <a:ext cx="210312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  <a:defRPr sz="1350" b="1">
                <a:solidFill>
                  <a:srgbClr val="9011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0111C"/>
                </a:solidFill>
                <a:latin typeface="Aptos"/>
                <a:ea typeface="Aptos"/>
                <a:cs typeface="Aptos"/>
              </a:rPr>
              <a:t>13</a:t>
            </a:r>
            <a:endParaRPr sz="1350" b="1">
              <a:solidFill>
                <a:srgbClr val="90111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Shape 1"/>
          <p:cNvSpPr>
            <a:spLocks noGrp="1"/>
          </p:cNvSpPr>
          <p:nvPr/>
        </p:nvSpPr>
        <p:spPr>
          <a:xfrm>
            <a:off x="566928" y="201168"/>
            <a:ext cx="0" cy="228600"/>
          </a:xfrm>
          <a:prstGeom prst="line">
            <a:avLst/>
          </a:prstGeom>
          <a:noFill/>
          <a:ln w="13335">
            <a:solidFill>
              <a:srgbClr val="101918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768096" y="210312"/>
            <a:ext cx="29718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640080" y="731520"/>
            <a:ext cx="10927080" cy="658368"/>
          </a:xfrm>
          <a:prstGeom prst="rect">
            <a:avLst/>
          </a:prstGeom>
          <a:noFill/>
        </p:spPr>
        <p:style>
          <a:lnRef idx="0">
            <a:srgbClr val="FFFFFF"/>
          </a:lnRef>
          <a:fillRef idx="0">
            <a:srgbClr val="FFFFFF"/>
          </a:fillRef>
          <a:effectRef idx="6">
            <a:srgbClr val="FFFFFF"/>
          </a:effectRef>
          <a:fontRef idx="major"/>
        </p:style>
        <p:txBody>
          <a:bodyPr wrap="none" lIns="0" tIns="0" rIns="0" bIns="0" anchor="ctr">
            <a:normAutofit/>
          </a:bodyPr>
          <a:lstStyle/>
          <a:p>
            <a:pPr algn="ctr">
              <a:buNone/>
              <a:defRPr sz="4300" b="1"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defRPr>
            </a:pPr>
            <a:r>
              <a:rPr sz="4300" b="1">
                <a:ln w="10478">
                  <a:solidFill>
                    <a:srgbClr val="303437"/>
                  </a:solidFill>
                  <a:prstDash val="solid"/>
                </a:ln>
                <a:solidFill>
                  <a:srgbClr val="C9C5BD"/>
                </a:solidFill>
                <a:latin typeface="Noto Sans Display Condensed"/>
                <a:ea typeface="Noto Sans Display Condensed"/>
                <a:cs typeface="Noto Sans Display Condensed"/>
              </a:rPr>
              <a:t>REVIEW</a:t>
            </a:r>
            <a:endParaRPr sz="4300" b="1">
              <a:ln w="10478">
                <a:solidFill>
                  <a:srgbClr val="303437"/>
                </a:solidFill>
                <a:prstDash val="solid"/>
              </a:ln>
              <a:solidFill>
                <a:srgbClr val="C9C5BD"/>
              </a:solidFill>
              <a:latin typeface="Noto Sans Display Condensed"/>
              <a:ea typeface="Noto Sans Display Condensed"/>
              <a:cs typeface="Noto Sans Display Condensed"/>
            </a:endParaRPr>
          </a:p>
        </p:txBody>
      </p:sp>
      <p:sp>
        <p:nvSpPr>
          <p:cNvPr id="6" name="Shape 4"/>
          <p:cNvSpPr>
            <a:spLocks noGrp="1"/>
          </p:cNvSpPr>
          <p:nvPr/>
        </p:nvSpPr>
        <p:spPr>
          <a:xfrm>
            <a:off x="658368" y="1508760"/>
            <a:ext cx="10881360" cy="3639312"/>
          </a:xfrm>
          <a:prstGeom prst="rect">
            <a:avLst/>
          </a:prstGeom>
          <a:solidFill>
            <a:srgbClr val="F8F0DF">
              <a:alpha val="96000"/>
            </a:srgbClr>
          </a:solidFill>
          <a:ln w="0">
            <a:noFill/>
            <a:prstDash val="solid"/>
          </a:ln>
        </p:spPr>
      </p:sp>
      <p:sp>
        <p:nvSpPr>
          <p:cNvPr id="7" name="Text 5"/>
          <p:cNvSpPr>
            <a:spLocks noGrp="1"/>
          </p:cNvSpPr>
          <p:nvPr/>
        </p:nvSpPr>
        <p:spPr>
          <a:xfrm>
            <a:off x="877824" y="1709928"/>
            <a:ext cx="10442448" cy="32369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endParaRPr sz="132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Text 6"/>
          <p:cNvSpPr>
            <a:spLocks noGrp="1"/>
          </p:cNvSpPr>
          <p:nvPr/>
        </p:nvSpPr>
        <p:spPr>
          <a:xfrm>
            <a:off x="731520" y="5413248"/>
            <a:ext cx="10744200" cy="4114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1210">
                <a:solidFill>
                  <a:srgbClr val="101918"/>
                </a:solidFill>
                <a:latin typeface="Aptos"/>
                <a:ea typeface="Aptos"/>
                <a:cs typeface="Aptos"/>
              </a:rPr>
              <a:t>between / among   •   in front of / behind   •   above / over   •   into / out of   •   around / through   •   on / under   •   across / along   •   near / next to   •   opposite / facing   •   inside / outside   •   towards / away from   •   by / until</a:t>
            </a:r>
            <a:endParaRPr sz="1210">
              <a:solidFill>
                <a:srgbClr val="1019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Shape 7"/>
          <p:cNvSpPr>
            <a:spLocks noGrp="1"/>
          </p:cNvSpPr>
          <p:nvPr/>
        </p:nvSpPr>
        <p:spPr>
          <a:xfrm>
            <a:off x="30480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sp>
        <p:nvSpPr>
          <p:cNvPr id="10" name="Shape 8"/>
          <p:cNvSpPr>
            <a:spLocks noGrp="1"/>
          </p:cNvSpPr>
          <p:nvPr/>
        </p:nvSpPr>
        <p:spPr>
          <a:xfrm>
            <a:off x="6496050" y="6238875"/>
            <a:ext cx="5381625" cy="0"/>
          </a:xfrm>
          <a:prstGeom prst="line">
            <a:avLst/>
          </a:prstGeom>
          <a:noFill/>
          <a:ln w="19050">
            <a:solidFill>
              <a:srgbClr val="107390"/>
            </a:solidFill>
            <a:prstDash val="solid"/>
          </a:ln>
        </p:spPr>
      </p:sp>
      <p:pic>
        <p:nvPicPr>
          <p:cNvPr id="37" name="Image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0824" y="6007608"/>
            <a:ext cx="530352" cy="530352"/>
          </a:xfrm>
          <a:prstGeom prst="rect">
            <a:avLst/>
          </a:prstGeom>
        </p:spPr>
      </p:pic>
      <p:sp>
        <p:nvSpPr>
          <p:cNvPr id="12" name="Text 9"/>
          <p:cNvSpPr>
            <a:spLocks noGrp="1"/>
          </p:cNvSpPr>
          <p:nvPr/>
        </p:nvSpPr>
        <p:spPr>
          <a:xfrm>
            <a:off x="310896" y="6382512"/>
            <a:ext cx="2286000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buNone/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HAWKINS FIELD GUIDE</a:t>
            </a:r>
            <a:endParaRPr sz="900" b="1">
              <a:solidFill>
                <a:srgbClr val="11111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ext 10"/>
          <p:cNvSpPr>
            <a:spLocks noGrp="1"/>
          </p:cNvSpPr>
          <p:nvPr/>
        </p:nvSpPr>
        <p:spPr>
          <a:xfrm>
            <a:off x="8302752" y="6382512"/>
            <a:ext cx="2852928" cy="21031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r">
              <a:buNone/>
            </a:pPr>
            <a:endParaRPr sz="1050" b="1">
              <a:solidFill>
                <a:srgbClr val="101918"/>
              </a:solidFill>
              <a:latin typeface="Roboto Condensed"/>
              <a:ea typeface="Roboto Condensed"/>
              <a:cs typeface="Roboto Condensed"/>
            </a:endParaRPr>
          </a:p>
        </p:txBody>
      </p:sp>
      <p:sp>
        <p:nvSpPr>
          <p:cNvPr id="15" name="Cover emblem clean background"/>
          <p:cNvSpPr>
            <a:spLocks noGrp="1"/>
          </p:cNvSpPr>
          <p:nvPr/>
        </p:nvSpPr>
        <p:spPr>
          <a:xfrm>
            <a:off x="5791200" y="6010275"/>
            <a:ext cx="609600" cy="6096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pic>
        <p:nvPicPr>
          <p:cNvPr id="41" name="Picture 4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829300" y="6048375"/>
            <a:ext cx="533400" cy="533400"/>
          </a:xfrm>
          <a:prstGeom prst="rect">
            <a:avLst/>
          </a:prstGeom>
        </p:spPr>
      </p:pic>
      <p:sp>
        <p:nvSpPr>
          <p:cNvPr id="18" name="Basic course header clean backing"/>
          <p:cNvSpPr>
            <a:spLocks noGrp="1"/>
          </p:cNvSpPr>
          <p:nvPr/>
        </p:nvSpPr>
        <p:spPr>
          <a:xfrm>
            <a:off x="723900" y="133350"/>
            <a:ext cx="3286125" cy="381000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19" name="Basic course running header"/>
          <p:cNvSpPr>
            <a:spLocks noGrp="1"/>
          </p:cNvSpPr>
          <p:nvPr/>
        </p:nvSpPr>
        <p:spPr>
          <a:xfrm>
            <a:off x="762000" y="17145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900" b="1">
                <a:solidFill>
                  <a:srgbClr val="182E4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82E43"/>
                </a:solidFill>
                <a:latin typeface="Aptos"/>
                <a:ea typeface="Aptos"/>
                <a:cs typeface="Aptos"/>
              </a:rPr>
              <a:t>FORBES ENGLISH • PREPOSITIONS</a:t>
            </a:r>
            <a:endParaRPr sz="900" b="1" i="0">
              <a:solidFill>
                <a:srgbClr val="182E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Forbes English footer clean backing"/>
          <p:cNvSpPr>
            <a:spLocks noGrp="1"/>
          </p:cNvSpPr>
          <p:nvPr/>
        </p:nvSpPr>
        <p:spPr>
          <a:xfrm>
            <a:off x="11096625" y="6276975"/>
            <a:ext cx="914400" cy="428625"/>
          </a:xfrm>
          <a:prstGeom prst="rect">
            <a:avLst/>
          </a:prstGeom>
          <a:solidFill>
            <a:srgbClr val="D9E1E3"/>
          </a:solidFill>
          <a:ln w="0">
            <a:noFill/>
            <a:prstDash val="solid"/>
          </a:ln>
        </p:spPr>
      </p:sp>
      <p:sp>
        <p:nvSpPr>
          <p:cNvPr id="23" name="Forbes English footer wordmark"/>
          <p:cNvSpPr>
            <a:spLocks noGrp="1"/>
          </p:cNvSpPr>
          <p:nvPr/>
        </p:nvSpPr>
        <p:spPr>
          <a:xfrm>
            <a:off x="11172825" y="6315075"/>
            <a:ext cx="7334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3750"/>
          </a:bodyPr>
          <a:lstStyle/>
          <a:p>
            <a:pPr algn="ctr">
              <a:buNone/>
            </a:pPr>
            <a:r>
              <a:rPr sz="1200" b="1" i="0">
                <a:solidFill>
                  <a:srgbClr val="101918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Forbes</a:t>
            </a:r>
            <a:endParaRPr sz="1200" b="1" i="0">
              <a:solidFill>
                <a:srgbClr val="101918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sp>
        <p:nvSpPr>
          <p:cNvPr id="24" name="Forbes English footer second line"/>
          <p:cNvSpPr>
            <a:spLocks noGrp="1"/>
          </p:cNvSpPr>
          <p:nvPr/>
        </p:nvSpPr>
        <p:spPr>
          <a:xfrm>
            <a:off x="11172825" y="6477000"/>
            <a:ext cx="7334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750" b="1" i="0">
                <a:solidFill>
                  <a:srgbClr val="111111"/>
                </a:solidFill>
                <a:latin typeface="Georgia" panose="02040502050405020303"/>
                <a:ea typeface="Georgia" panose="02040502050405020303"/>
                <a:cs typeface="Georgia" panose="02040502050405020303"/>
              </a:rPr>
              <a:t>ENGLISH</a:t>
            </a:r>
            <a:endParaRPr sz="750" b="1" i="0">
              <a:solidFill>
                <a:srgbClr val="111111"/>
              </a:solidFill>
              <a:latin typeface="Georgia" panose="02040502050405020303"/>
              <a:ea typeface="Georgia" panose="02040502050405020303"/>
              <a:cs typeface="Georgia" panose="02040502050405020303"/>
            </a:endParaRP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rcRect t="20334" b="20334"/>
          <a:stretch>
            <a:fillRect/>
          </a:stretch>
        </p:blipFill>
        <p:spPr>
          <a:xfrm>
            <a:off x="657225" y="1514475"/>
            <a:ext cx="10868025" cy="36290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Display Condens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Display Condens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28575" dist="21299" dir="3806097">
              <a:srgbClr val="0B1E35">
                <a:alpha val="55000"/>
              </a:srgbClr>
            </a:outerShdw>
          </a:effectLst>
        </a:effectStyle>
        <a:effectStyle>
          <a:effectLst>
            <a:outerShdw blurRad="19050" dist="13470" dir="2700000">
              <a:srgbClr val="0B1E35">
                <a:alpha val="22000"/>
              </a:srgbClr>
            </a:outerShdw>
          </a:effectLst>
        </a:effectStyle>
        <a:effectStyle>
          <a:effectLst>
            <a:outerShdw blurRad="19050" dist="13470" dir="2700000">
              <a:srgbClr val="0B1E35">
                <a:alpha val="3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10111</Words>
  <Application>WPS Presentation</Application>
  <PresentationFormat>Converted Presentation</PresentationFormat>
  <Paragraphs>660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8" baseType="lpstr">
      <vt:lpstr>Arial</vt:lpstr>
      <vt:lpstr>SimSun</vt:lpstr>
      <vt:lpstr>Wingdings</vt:lpstr>
      <vt:lpstr>Arial</vt:lpstr>
      <vt:lpstr>Aptos</vt:lpstr>
      <vt:lpstr>Segoe UI</vt:lpstr>
      <vt:lpstr>Noto Sans Display Condensed</vt:lpstr>
      <vt:lpstr>Georgia</vt:lpstr>
      <vt:lpstr>Roboto Condensed</vt:lpstr>
      <vt:lpstr>Noto Sans</vt:lpstr>
      <vt:lpstr>Microsoft YaHei</vt:lpstr>
      <vt:lpstr>Arial Unicode MS</vt:lpstr>
      <vt:lpstr>AMGDT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El Forbez</cp:lastModifiedBy>
  <cp:revision>1</cp:revision>
  <dcterms:created xsi:type="dcterms:W3CDTF">2026-08-17T02:01:46Z</dcterms:created>
  <dcterms:modified xsi:type="dcterms:W3CDTF">2026-08-17T02:01:46Z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195A2A28A9CA4551AB217E04F8BDF14E_13</vt:lpwstr>
  </property>
  <property fmtid="{D5CDD505-2E9C-101B-9397-08002B2CF9AE}" pid="3" name="KSOProductBuildVer">
    <vt:lpwstr>1033-12.1.0.26880</vt:lpwstr>
  </property>
</Properties>
</file>