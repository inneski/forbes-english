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4d6394ede248df" /><Relationship Type="http://schemas.openxmlformats.org/officeDocument/2006/relationships/extended-properties" Target="/docProps/app.xml" Id="R0ab0a437471a44c9" /><Relationship Type="http://schemas.openxmlformats.org/officeDocument/2006/relationships/officeDocument" Target="/ppt/presentation.xml" Id="Re2b19df4cafe42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7843fe86a94efa"/>
  </p:sldMasterIdLst>
  <p:notesMasterIdLst>
    <p:notesMasterId xmlns:r="http://schemas.openxmlformats.org/officeDocument/2006/relationships" r:id="R06d2ae4df3144e25"/>
  </p:notesMasterIdLst>
  <p:sldIdLst>
    <p:sldId xmlns:r="http://schemas.openxmlformats.org/officeDocument/2006/relationships" id="256" r:id="Ra811cfcd04f24bd9"/>
    <p:sldId xmlns:r="http://schemas.openxmlformats.org/officeDocument/2006/relationships" id="257" r:id="R7640548f4cdb43fb"/>
    <p:sldId xmlns:r="http://schemas.openxmlformats.org/officeDocument/2006/relationships" id="258" r:id="R399b50c93b4c453a"/>
    <p:sldId xmlns:r="http://schemas.openxmlformats.org/officeDocument/2006/relationships" id="259" r:id="Re043cb5ba96c433b"/>
    <p:sldId xmlns:r="http://schemas.openxmlformats.org/officeDocument/2006/relationships" id="260" r:id="R08810aef6d1b49e8"/>
    <p:sldId xmlns:r="http://schemas.openxmlformats.org/officeDocument/2006/relationships" id="261" r:id="R5d099c16e4b84cd6"/>
    <p:sldId xmlns:r="http://schemas.openxmlformats.org/officeDocument/2006/relationships" id="262" r:id="Rf80f39a51e484781"/>
    <p:sldId xmlns:r="http://schemas.openxmlformats.org/officeDocument/2006/relationships" id="263" r:id="R2869aa68acdc459a"/>
    <p:sldId xmlns:r="http://schemas.openxmlformats.org/officeDocument/2006/relationships" id="264" r:id="R46c6f9f2b6cf4cfa"/>
    <p:sldId xmlns:r="http://schemas.openxmlformats.org/officeDocument/2006/relationships" id="265" r:id="Rb402be9ee0d944db"/>
    <p:sldId xmlns:r="http://schemas.openxmlformats.org/officeDocument/2006/relationships" id="266" r:id="R5e2ed492cbc5429c"/>
    <p:sldId xmlns:r="http://schemas.openxmlformats.org/officeDocument/2006/relationships" id="267" r:id="R7a9ce27a59634d52"/>
    <p:sldId xmlns:r="http://schemas.openxmlformats.org/officeDocument/2006/relationships" id="268" r:id="R49aef044b5374137"/>
    <p:sldId xmlns:r="http://schemas.openxmlformats.org/officeDocument/2006/relationships" id="269" r:id="Reb129e19c84d4477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bc93d30c3247aa" /><Relationship Type="http://schemas.openxmlformats.org/officeDocument/2006/relationships/slideMaster" Target="/ppt/slideMasters/slideMaster1.xml" Id="Rdc7843fe86a94efa" /><Relationship Type="http://schemas.openxmlformats.org/officeDocument/2006/relationships/notesMaster" Target="/ppt/notesMasters/notesMaster1.xml" Id="R06d2ae4df3144e25" /><Relationship Type="http://schemas.openxmlformats.org/officeDocument/2006/relationships/presProps" Target="/ppt/presProps.xml" Id="Rb361ed5e423a419b" /><Relationship Type="http://schemas.openxmlformats.org/officeDocument/2006/relationships/viewProps" Target="/ppt/viewProps.xml" Id="Ra047f1d3ac424361" /><Relationship Type="http://schemas.openxmlformats.org/officeDocument/2006/relationships/tableStyles" Target="/ppt/tableStyles.xml" Id="Rbefc5e18982d4397" /><Relationship Type="http://schemas.openxmlformats.org/officeDocument/2006/relationships/slide" Target="/ppt/slides/slide1.xml" Id="Ra811cfcd04f24bd9" /><Relationship Type="http://schemas.openxmlformats.org/officeDocument/2006/relationships/slide" Target="/ppt/slides/slide2.xml" Id="R7640548f4cdb43fb" /><Relationship Type="http://schemas.openxmlformats.org/officeDocument/2006/relationships/slide" Target="/ppt/slides/slide3.xml" Id="R399b50c93b4c453a" /><Relationship Type="http://schemas.openxmlformats.org/officeDocument/2006/relationships/slide" Target="/ppt/slides/slide4.xml" Id="Re043cb5ba96c433b" /><Relationship Type="http://schemas.openxmlformats.org/officeDocument/2006/relationships/slide" Target="/ppt/slides/slide5.xml" Id="R08810aef6d1b49e8" /><Relationship Type="http://schemas.openxmlformats.org/officeDocument/2006/relationships/slide" Target="/ppt/slides/slide6.xml" Id="R5d099c16e4b84cd6" /><Relationship Type="http://schemas.openxmlformats.org/officeDocument/2006/relationships/slide" Target="/ppt/slides/slide7.xml" Id="Rf80f39a51e484781" /><Relationship Type="http://schemas.openxmlformats.org/officeDocument/2006/relationships/slide" Target="/ppt/slides/slide8.xml" Id="R2869aa68acdc459a" /><Relationship Type="http://schemas.openxmlformats.org/officeDocument/2006/relationships/slide" Target="/ppt/slides/slide9.xml" Id="R46c6f9f2b6cf4cfa" /><Relationship Type="http://schemas.openxmlformats.org/officeDocument/2006/relationships/slide" Target="/ppt/slides/slide10.xml" Id="Rb402be9ee0d944db" /><Relationship Type="http://schemas.openxmlformats.org/officeDocument/2006/relationships/slide" Target="/ppt/slides/slide11.xml" Id="R5e2ed492cbc5429c" /><Relationship Type="http://schemas.openxmlformats.org/officeDocument/2006/relationships/slide" Target="/ppt/slides/slide12.xml" Id="R7a9ce27a59634d52" /><Relationship Type="http://schemas.openxmlformats.org/officeDocument/2006/relationships/slide" Target="/ppt/slides/slide13.xml" Id="R49aef044b5374137" /><Relationship Type="http://schemas.openxmlformats.org/officeDocument/2006/relationships/slide" Target="/ppt/slides/slide14.xml" Id="Reb129e19c84d44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e7211a096d540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Display Condense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28575" dist="21299" dir="3806097">
              <a:srgbClr val="0B1E35">
                <a:alpha val="55000"/>
              </a:srgbClr>
            </a:outerShdw>
          </a:effectLst>
        </a:effectStyle>
        <a:effectStyle>
          <a:effectLst>
            <a:outerShdw blurRad="19050" dist="13470" dir="2700000">
              <a:srgbClr val="0B1E35">
                <a:alpha val="22000"/>
              </a:srgbClr>
            </a:outerShdw>
          </a:effectLst>
        </a:effectStyle>
        <a:effectStyle>
          <a:effectLst>
            <a:outerShdw blurRad="19050" dist="13470" dir="2700000">
              <a:srgbClr val="0B1E35">
                <a:alpha val="3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e8338a11b2d440a" /><Relationship Type="http://schemas.openxmlformats.org/officeDocument/2006/relationships/notesMaster" Target="/ppt/notesMasters/notesMaster1.xml" Id="Rc4279200f7b34d4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6c897183734189" /><Relationship Type="http://schemas.openxmlformats.org/officeDocument/2006/relationships/notesMaster" Target="/ppt/notesMasters/notesMaster1.xml" Id="R99a67c86bc384a7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7439b815fdc43fc" /><Relationship Type="http://schemas.openxmlformats.org/officeDocument/2006/relationships/notesMaster" Target="/ppt/notesMasters/notesMaster1.xml" Id="Rcde5960074a64c2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c46e0678f5c46cd" /><Relationship Type="http://schemas.openxmlformats.org/officeDocument/2006/relationships/notesMaster" Target="/ppt/notesMasters/notesMaster1.xml" Id="R173183342b624d4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d82ba9e2fb54665" /><Relationship Type="http://schemas.openxmlformats.org/officeDocument/2006/relationships/notesMaster" Target="/ppt/notesMasters/notesMaster1.xml" Id="Rc3f26095a7524b0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1149ad10df49d9" /><Relationship Type="http://schemas.openxmlformats.org/officeDocument/2006/relationships/notesMaster" Target="/ppt/notesMasters/notesMaster1.xml" Id="Rf219627c349b49c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f7ab7de45fd4296" /><Relationship Type="http://schemas.openxmlformats.org/officeDocument/2006/relationships/notesMaster" Target="/ppt/notesMasters/notesMaster1.xml" Id="Rf6619b20585e45d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8d792d49ac84a59" /><Relationship Type="http://schemas.openxmlformats.org/officeDocument/2006/relationships/notesMaster" Target="/ppt/notesMasters/notesMaster1.xml" Id="R6f62bc03bb4b441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a77a78f0e4f4769" /><Relationship Type="http://schemas.openxmlformats.org/officeDocument/2006/relationships/notesMaster" Target="/ppt/notesMasters/notesMaster1.xml" Id="R334261eb7d3e4f7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f533dd1ddda4967" /><Relationship Type="http://schemas.openxmlformats.org/officeDocument/2006/relationships/notesMaster" Target="/ppt/notesMasters/notesMaster1.xml" Id="Rdb4e54d850b145f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c3bc252a77344d0" /><Relationship Type="http://schemas.openxmlformats.org/officeDocument/2006/relationships/notesMaster" Target="/ppt/notesMasters/notesMaster1.xml" Id="R0cc81a56ecd34d9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f6734b07b654b97" /><Relationship Type="http://schemas.openxmlformats.org/officeDocument/2006/relationships/notesMaster" Target="/ppt/notesMasters/notesMaster1.xml" Id="Re7d495ee0f7e498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f727f6921f645e3" /><Relationship Type="http://schemas.openxmlformats.org/officeDocument/2006/relationships/notesMaster" Target="/ppt/notesMasters/notesMaster1.xml" Id="R34afc060a4bb45a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fff58abd45b4206" /><Relationship Type="http://schemas.openxmlformats.org/officeDocument/2006/relationships/notesMaster" Target="/ppt/notesMasters/notesMaster1.xml" Id="R1265513799c64f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Stranger Things Season 1 character/reference sheet: stranger things bible.pdf</a:t>
            </a:r>
          </a:p>
          <a:p xmlns:a="http://schemas.openxmlformats.org/drawingml/2006/main">
            <a:r>
              <a:t>- User-supplied Hawkins road reference: stranger.webp</a:t>
            </a:r>
          </a:p>
          <a:p xmlns:a="http://schemas.openxmlformats.org/drawingml/2006/main">
            <a:r>
              <a:t>- User-supplied palette references: stranger things palette 2.jpg, stranger things palette 3.jpg, and st graphicnove;.jpg</a:t>
            </a:r>
          </a:p>
          <a:p xmlns:a="http://schemas.openxmlformats.org/drawingml/2006/main">
            <a:r>
              <a:t>- User-supplied cover logo: stranger-things-logo-png_seeklogo-509066B.png</a:t>
            </a:r>
          </a:p>
          <a:p xmlns:a="http://schemas.openxmlformats.org/drawingml/2006/main">
            <a:r>
              <a:t>- User-supplied Hellfire Club emblem reference: codex-clipboard-5f3595d0-15de-4255-89d8-c79a6045cada.png</a:t>
            </a:r>
          </a:p>
          <a:p xmlns:a="http://schemas.openxmlformats.org/drawingml/2006/main">
            <a:r>
              <a:t>- Artwork: AI-generated composition proof and vector-style transformation created for this deck.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Identity references: user-supplied Stranger Things Season 1 character sheet in stranger things bible.pdf.</a:t>
            </a:r>
          </a:p>
          <a:p xmlns:a="http://schemas.openxmlformats.org/drawingml/2006/main">
            <a:r>
              <a:t>- User-supplied palette references: stranger things palette 2.jpg, stranger things palette 3.jpg, and st graphicnove;.jpg.</a:t>
            </a:r>
          </a:p>
          <a:p xmlns:a="http://schemas.openxmlformats.org/drawingml/2006/main">
            <a:r>
              <a:t>- User-supplied Hellfire Club emblem reference: codex-clipboard-5f3595d0-15de-4255-89d8-c79a6045cada.png.</a:t>
            </a:r>
          </a:p>
          <a:p xmlns:a="http://schemas.openxmlformats.org/drawingml/2006/main">
            <a:r>
              <a:t>- Artwork: AI-generated photorealistic composition proof, then AI-generated flat editorial vector-style transformation for slide 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Identity references: user-supplied Stranger Things Season 1 character sheet in stranger things bible.pdf.</a:t>
            </a:r>
          </a:p>
          <a:p xmlns:a="http://schemas.openxmlformats.org/drawingml/2006/main">
            <a:r>
              <a:t>- User-supplied palette references: stranger things palette 2.jpg, stranger things palette 3.jpg, and st graphicnove;.jpg.</a:t>
            </a:r>
          </a:p>
          <a:p xmlns:a="http://schemas.openxmlformats.org/drawingml/2006/main">
            <a:r>
              <a:t>- User-supplied Hellfire Club emblem reference: codex-clipboard-5f3595d0-15de-4255-89d8-c79a6045cada.png.</a:t>
            </a:r>
          </a:p>
          <a:p xmlns:a="http://schemas.openxmlformats.org/drawingml/2006/main">
            <a:r>
              <a:t>- Artwork: AI-generated photorealistic composition proof, then AI-generated flat editorial vector-style transformation for slide 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Identity references: user-supplied Stranger Things Season 1 character sheet in stranger things bible.pdf.</a:t>
            </a:r>
          </a:p>
          <a:p xmlns:a="http://schemas.openxmlformats.org/drawingml/2006/main">
            <a:r>
              <a:t>- User-supplied palette references: stranger things palette 2.jpg, stranger things palette 3.jpg, and st graphicnove;.jpg.</a:t>
            </a:r>
          </a:p>
          <a:p xmlns:a="http://schemas.openxmlformats.org/drawingml/2006/main">
            <a:r>
              <a:t>- User-supplied Hellfire Club emblem reference: codex-clipboard-5f3595d0-15de-4255-89d8-c79a6045cada.png.</a:t>
            </a:r>
          </a:p>
          <a:p xmlns:a="http://schemas.openxmlformats.org/drawingml/2006/main">
            <a:r>
              <a:t>- Artwork: AI-generated photorealistic composition proof, then AI-generated flat editorial vector-style transformation for slide 4.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Identity references: user-supplied Stranger Things Season 1 character sheet in stranger things bible.pdf.</a:t>
            </a:r>
          </a:p>
          <a:p xmlns:a="http://schemas.openxmlformats.org/drawingml/2006/main">
            <a:r>
              <a:t>- User-supplied palette references: stranger things palette 2.jpg, stranger things palette 3.jpg, and st graphicnove;.jpg.</a:t>
            </a:r>
          </a:p>
          <a:p xmlns:a="http://schemas.openxmlformats.org/drawingml/2006/main">
            <a:r>
              <a:t>- User-supplied Hellfire Club emblem reference: codex-clipboard-5f3595d0-15de-4255-89d8-c79a6045cada.png.</a:t>
            </a:r>
          </a:p>
          <a:p xmlns:a="http://schemas.openxmlformats.org/drawingml/2006/main">
            <a:r>
              <a:t>- Artwork: AI-generated photorealistic composition proof, then AI-generated flat editorial vector-style transformation for slide 5.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Identity references: user-supplied Stranger Things Season 1 character sheet in stranger things bible.pdf.</a:t>
            </a:r>
          </a:p>
          <a:p xmlns:a="http://schemas.openxmlformats.org/drawingml/2006/main">
            <a:r>
              <a:t>- User-supplied palette references: stranger things palette 2.jpg, stranger things palette 3.jpg, and st graphicnove;.jpg.</a:t>
            </a:r>
          </a:p>
          <a:p xmlns:a="http://schemas.openxmlformats.org/drawingml/2006/main">
            <a:r>
              <a:t>- User-supplied Hellfire Club emblem reference: codex-clipboard-5f3595d0-15de-4255-89d8-c79a6045cada.png.</a:t>
            </a:r>
          </a:p>
          <a:p xmlns:a="http://schemas.openxmlformats.org/drawingml/2006/main">
            <a:r>
              <a:t>- Artwork: AI-generated photorealistic composition proof, then AI-generated flat editorial vector-style transformation for slide 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Identity references: user-supplied Stranger Things Season 1 character sheet in stranger things bible.pdf.</a:t>
            </a:r>
          </a:p>
          <a:p xmlns:a="http://schemas.openxmlformats.org/drawingml/2006/main">
            <a:r>
              <a:t>- User-supplied palette references: stranger things palette 2.jpg, stranger things palette 3.jpg, and st graphicnove;.jpg.</a:t>
            </a:r>
          </a:p>
          <a:p xmlns:a="http://schemas.openxmlformats.org/drawingml/2006/main">
            <a:r>
              <a:t>- User-supplied Hellfire Club emblem reference: codex-clipboard-5f3595d0-15de-4255-89d8-c79a6045cada.png.</a:t>
            </a:r>
          </a:p>
          <a:p xmlns:a="http://schemas.openxmlformats.org/drawingml/2006/main">
            <a:r>
              <a:t>- Artwork: AI-generated photorealistic composition proof, then AI-generated flat editorial vector-style transformation for slide 7.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Identity references: user-supplied Stranger Things Season 1 character sheet in stranger things bible.pdf.</a:t>
            </a:r>
          </a:p>
          <a:p xmlns:a="http://schemas.openxmlformats.org/drawingml/2006/main">
            <a:r>
              <a:t>- User-supplied palette references: stranger things palette 2.jpg, stranger things palette 3.jpg, and st graphicnove;.jpg.</a:t>
            </a:r>
          </a:p>
          <a:p xmlns:a="http://schemas.openxmlformats.org/drawingml/2006/main">
            <a:r>
              <a:t>- User-supplied Hellfire Club emblem reference: codex-clipboard-5f3595d0-15de-4255-89d8-c79a6045cada.png.</a:t>
            </a:r>
          </a:p>
          <a:p xmlns:a="http://schemas.openxmlformats.org/drawingml/2006/main">
            <a:r>
              <a:t>- Artwork: AI-generated photorealistic composition proof, then AI-generated flat editorial vector-style transformation for slide 8.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Identity references: user-supplied Stranger Things Season 1 character sheet in stranger things bible.pdf.</a:t>
            </a:r>
          </a:p>
          <a:p xmlns:a="http://schemas.openxmlformats.org/drawingml/2006/main">
            <a:r>
              <a:t>- User-supplied palette references: stranger things palette 2.jpg, stranger things palette 3.jpg, and st graphicnove;.jpg.</a:t>
            </a:r>
          </a:p>
          <a:p xmlns:a="http://schemas.openxmlformats.org/drawingml/2006/main">
            <a:r>
              <a:t>- User-supplied Hellfire Club emblem reference: codex-clipboard-5f3595d0-15de-4255-89d8-c79a6045cada.png.</a:t>
            </a:r>
          </a:p>
          <a:p xmlns:a="http://schemas.openxmlformats.org/drawingml/2006/main">
            <a:r>
              <a:t>- Artwork: AI-generated photorealistic composition proof, then AI-generated flat editorial vector-style transformation for slide 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Identity references: user-supplied Stranger Things Season 1 character sheet in stranger things bible.pdf.</a:t>
            </a:r>
          </a:p>
          <a:p xmlns:a="http://schemas.openxmlformats.org/drawingml/2006/main">
            <a:r>
              <a:t>- User-supplied palette references: stranger things palette 2.jpg, stranger things palette 3.jpg, and st graphicnove;.jpg.</a:t>
            </a:r>
          </a:p>
          <a:p xmlns:a="http://schemas.openxmlformats.org/drawingml/2006/main">
            <a:r>
              <a:t>- User-supplied Hellfire Club emblem reference: codex-clipboard-5f3595d0-15de-4255-89d8-c79a6045cada.png.</a:t>
            </a:r>
          </a:p>
          <a:p xmlns:a="http://schemas.openxmlformats.org/drawingml/2006/main">
            <a:r>
              <a:t>- Artwork: AI-generated photorealistic composition proof, then AI-generated flat editorial vector-style transformation for slide 10.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Identity references: user-supplied Stranger Things Season 1 character sheet in stranger things bible.pdf.</a:t>
            </a:r>
          </a:p>
          <a:p xmlns:a="http://schemas.openxmlformats.org/drawingml/2006/main">
            <a:r>
              <a:t>- User-supplied palette references: stranger things palette 2.jpg, stranger things palette 3.jpg, and st graphicnove;.jpg.</a:t>
            </a:r>
          </a:p>
          <a:p xmlns:a="http://schemas.openxmlformats.org/drawingml/2006/main">
            <a:r>
              <a:t>- User-supplied Hellfire Club emblem reference: codex-clipboard-5f3595d0-15de-4255-89d8-c79a6045cada.png.</a:t>
            </a:r>
          </a:p>
          <a:p xmlns:a="http://schemas.openxmlformats.org/drawingml/2006/main">
            <a:r>
              <a:t>- Artwork: AI-generated photorealistic composition proof, then AI-generated flat editorial vector-style transformation for slide 11.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Identity references: user-supplied Stranger Things Season 1 character sheet in stranger things bible.pdf.</a:t>
            </a:r>
          </a:p>
          <a:p xmlns:a="http://schemas.openxmlformats.org/drawingml/2006/main">
            <a:r>
              <a:t>- User-supplied palette references: stranger things palette 2.jpg, stranger things palette 3.jpg, and st graphicnove;.jpg.</a:t>
            </a:r>
          </a:p>
          <a:p xmlns:a="http://schemas.openxmlformats.org/drawingml/2006/main">
            <a:r>
              <a:t>- User-supplied Hellfire Club emblem reference: codex-clipboard-5f3595d0-15de-4255-89d8-c79a6045cada.png.</a:t>
            </a:r>
          </a:p>
          <a:p xmlns:a="http://schemas.openxmlformats.org/drawingml/2006/main">
            <a:r>
              <a:t>- Artwork: AI-generated photorealistic composition proof, then AI-generated flat editorial vector-style transformation for slide 12.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Identity references: user-supplied Stranger Things Season 1 character sheet in stranger things bible.pdf.</a:t>
            </a:r>
          </a:p>
          <a:p xmlns:a="http://schemas.openxmlformats.org/drawingml/2006/main">
            <a:r>
              <a:t>- User-supplied palette references: stranger things palette 2.jpg, stranger things palette 3.jpg, and st graphicnove;.jpg.</a:t>
            </a:r>
          </a:p>
          <a:p xmlns:a="http://schemas.openxmlformats.org/drawingml/2006/main">
            <a:r>
              <a:t>- User-supplied Hellfire Club emblem reference: codex-clipboard-5f3595d0-15de-4255-89d8-c79a6045cada.png.</a:t>
            </a:r>
          </a:p>
          <a:p xmlns:a="http://schemas.openxmlformats.org/drawingml/2006/main">
            <a:r>
              <a:t>- Artwork: AI-generated photorealistic composition proof, then AI-generated flat editorial vector-style transformation for slide 13.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Identity and setting references: user-supplied stranger things bible.pdf and stranger.jpg.</a:t>
            </a:r>
          </a:p>
          <a:p xmlns:a="http://schemas.openxmlformats.org/drawingml/2006/main">
            <a:r>
              <a:t>- User-supplied palette references: stranger things palette 2.jpg, stranger things palette 3.jpg, and st graphicnove;.jpg.</a:t>
            </a:r>
          </a:p>
          <a:p xmlns:a="http://schemas.openxmlformats.org/drawingml/2006/main">
            <a:r>
              <a:t>- User-supplied Hellfire Club emblem reference: codex-clipboard-5f3595d0-15de-4255-89d8-c79a6045cada.png.</a:t>
            </a:r>
          </a:p>
          <a:p xmlns:a="http://schemas.openxmlformats.org/drawingml/2006/main">
            <a:r>
              <a:t>- Artwork: AI-generated composition proof and vector-style transformation created for this deck.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a3571420c649f7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20f3a85bde4a17" /><Relationship Type="http://schemas.openxmlformats.org/officeDocument/2006/relationships/slideLayout" Target="/ppt/slideLayouts/slideLayout1.xml" Id="R1b8b18fbaac64389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8b18fbaac64389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Display Condense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9710eb6f1b4a36" /><Relationship Type="http://schemas.openxmlformats.org/officeDocument/2006/relationships/image" Target="/ppt/media/image.png" Id="R83ae8abcddc24562" /><Relationship Type="http://schemas.openxmlformats.org/officeDocument/2006/relationships/image" Target="/ppt/media/image.jpeg" Id="R539ef84b59014ea9" /><Relationship Type="http://schemas.openxmlformats.org/officeDocument/2006/relationships/image" Target="/ppt/media/image2.png" Id="R77f166d29e5d4e72" /><Relationship Type="http://schemas.openxmlformats.org/officeDocument/2006/relationships/image" Target="/ppt/media/image3.png" Id="R7ba3980efeff40ab" /><Relationship Type="http://schemas.openxmlformats.org/officeDocument/2006/relationships/notesSlide" Target="/ppt/notesSlides/notesSlide1.xml" Id="Ra8b87f6a796f45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19870930bb4d42" /><Relationship Type="http://schemas.openxmlformats.org/officeDocument/2006/relationships/image" Target="/ppt/media/image4_c.jpeg" Id="Rbaba4e70400143fb" /><Relationship Type="http://schemas.openxmlformats.org/officeDocument/2006/relationships/image" Target="/ppt/media/image5_c.jpeg" Id="R4aea6d05c040422e" /><Relationship Type="http://schemas.openxmlformats.org/officeDocument/2006/relationships/image" Target="/ppt/media/image6.png" Id="R62e695a249954cdf" /><Relationship Type="http://schemas.openxmlformats.org/officeDocument/2006/relationships/image" Target="/ppt/media/image7.png" Id="R74472df1631745e1" /><Relationship Type="http://schemas.openxmlformats.org/officeDocument/2006/relationships/image" Target="/ppt/media/image.svg" Id="R3492879fca394124" /><Relationship Type="http://schemas.openxmlformats.org/officeDocument/2006/relationships/image" Target="/ppt/media/image.png" Id="R0d5048ab874e4bcd" /><Relationship Type="http://schemas.openxmlformats.org/officeDocument/2006/relationships/image" Target="/ppt/media/image2.jpeg" Id="R7df39075866e434c" /><Relationship Type="http://schemas.openxmlformats.org/officeDocument/2006/relationships/image" Target="/ppt/media/image2.svg" Id="Rb26b0a31f3884d65" /><Relationship Type="http://schemas.openxmlformats.org/officeDocument/2006/relationships/image" Target="/ppt/media/image.jpeg" Id="Rd75b57a104d846be" /><Relationship Type="http://schemas.openxmlformats.org/officeDocument/2006/relationships/image" Target="/ppt/media/image3.jpeg" Id="Rfc612ad4fc3e494e" /><Relationship Type="http://schemas.openxmlformats.org/officeDocument/2006/relationships/image" Target="/ppt/media/image8.png" Id="R9359afdabd3d4d78" /><Relationship Type="http://schemas.openxmlformats.org/officeDocument/2006/relationships/notesSlide" Target="/ppt/notesSlides/notesSlide2.xml" Id="R3f088ea90e514e8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72a4822f2c4033" /><Relationship Type="http://schemas.openxmlformats.org/officeDocument/2006/relationships/image" Target="/ppt/media/image9.png" Id="Rf1cab497ba844679" /><Relationship Type="http://schemas.openxmlformats.org/officeDocument/2006/relationships/image" Target="/ppt/media/image3.svg" Id="Re20b10d0b7204b71" /><Relationship Type="http://schemas.openxmlformats.org/officeDocument/2006/relationships/image" Target="/ppt/media/image2.png" Id="Rb5f00d64a966418a" /><Relationship Type="http://schemas.openxmlformats.org/officeDocument/2006/relationships/image" Target="/ppt/media/image4.jpeg" Id="R4d6b14fc25bf4c8f" /><Relationship Type="http://schemas.openxmlformats.org/officeDocument/2006/relationships/image" Target="/ppt/media/image4.svg" Id="Rd3edc5cf6bbb48ef" /><Relationship Type="http://schemas.openxmlformats.org/officeDocument/2006/relationships/image" Target="/ppt/media/image3.png" Id="R47e19609990941bb" /><Relationship Type="http://schemas.openxmlformats.org/officeDocument/2006/relationships/image" Target="/ppt/media/image5.jpeg" Id="Ra027fc57e18b4784" /><Relationship Type="http://schemas.openxmlformats.org/officeDocument/2006/relationships/image" Target="/ppt/media/image10.png" Id="Rf24dca2f37944edb" /><Relationship Type="http://schemas.openxmlformats.org/officeDocument/2006/relationships/notesSlide" Target="/ppt/notesSlides/notesSlide3.xml" Id="R388b0966112640a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cf27c3a8c34a35" /><Relationship Type="http://schemas.openxmlformats.org/officeDocument/2006/relationships/image" Target="/ppt/media/image11.png" Id="Raacf3473cf054aef" /><Relationship Type="http://schemas.openxmlformats.org/officeDocument/2006/relationships/image" Target="/ppt/media/image12_c.jpeg" Id="R9d25fe5a92dc45a7" /><Relationship Type="http://schemas.openxmlformats.org/officeDocument/2006/relationships/image" Target="/ppt/media/image5.svg" Id="Rcd8e1c5ae4304133" /><Relationship Type="http://schemas.openxmlformats.org/officeDocument/2006/relationships/image" Target="/ppt/media/image6.svg" Id="R2e547ec994f149c2" /><Relationship Type="http://schemas.openxmlformats.org/officeDocument/2006/relationships/image" Target="/ppt/media/image4_c.jpeg" Id="R6308a72334df45c3" /><Relationship Type="http://schemas.openxmlformats.org/officeDocument/2006/relationships/image" Target="/ppt/media/image13.png" Id="Re082172bf0ed4813" /><Relationship Type="http://schemas.openxmlformats.org/officeDocument/2006/relationships/image" Target="/ppt/media/image6.jpeg" Id="R0adce959b0f14109" /><Relationship Type="http://schemas.openxmlformats.org/officeDocument/2006/relationships/image" Target="/ppt/media/image7.jpeg" Id="Ra1b6649c7c844747" /><Relationship Type="http://schemas.openxmlformats.org/officeDocument/2006/relationships/notesSlide" Target="/ppt/notesSlides/notesSlide4.xml" Id="Rd1c8f81413d24ff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328d8259974de0" /><Relationship Type="http://schemas.openxmlformats.org/officeDocument/2006/relationships/image" Target="/ppt/media/image14.png" Id="R7dcba7f8666f4111" /><Relationship Type="http://schemas.openxmlformats.org/officeDocument/2006/relationships/image" Target="/ppt/media/image7.svg" Id="Rb7c2804367114a07" /><Relationship Type="http://schemas.openxmlformats.org/officeDocument/2006/relationships/image" Target="/ppt/media/image5_c.jpeg" Id="R82992b2977794605" /><Relationship Type="http://schemas.openxmlformats.org/officeDocument/2006/relationships/image" Target="/ppt/media/image8.jpeg" Id="R4638df0b6a71421b" /><Relationship Type="http://schemas.openxmlformats.org/officeDocument/2006/relationships/image" Target="/ppt/media/image8.svg" Id="Rcff8f3f4360e4022" /><Relationship Type="http://schemas.openxmlformats.org/officeDocument/2006/relationships/image" Target="/ppt/media/image6.png" Id="R88fbcfefa8624869" /><Relationship Type="http://schemas.openxmlformats.org/officeDocument/2006/relationships/image" Target="/ppt/media/image9.jpeg" Id="Raa04577e4bc14c34" /><Relationship Type="http://schemas.openxmlformats.org/officeDocument/2006/relationships/image" Target="/ppt/media/image15.png" Id="R108607ba0ab1472a" /><Relationship Type="http://schemas.openxmlformats.org/officeDocument/2006/relationships/notesSlide" Target="/ppt/notesSlides/notesSlide5.xml" Id="R89a33557203d4fb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76fed59e0d4390" /><Relationship Type="http://schemas.openxmlformats.org/officeDocument/2006/relationships/image" Target="/ppt/media/image16.png" Id="R7f800fd5207b4020" /><Relationship Type="http://schemas.openxmlformats.org/officeDocument/2006/relationships/image" Target="/ppt/media/image9.svg" Id="R4cff412501604bdd" /><Relationship Type="http://schemas.openxmlformats.org/officeDocument/2006/relationships/image" Target="/ppt/media/image7.png" Id="Ra0f34f1238af4b90" /><Relationship Type="http://schemas.openxmlformats.org/officeDocument/2006/relationships/image" Target="/ppt/media/image17_c.jpeg" Id="R05cd3a6712c94037" /><Relationship Type="http://schemas.openxmlformats.org/officeDocument/2006/relationships/image" Target="/ppt/media/image10.svg" Id="R3e4e2f4798c14e80" /><Relationship Type="http://schemas.openxmlformats.org/officeDocument/2006/relationships/image" Target="/ppt/media/image18.png" Id="Rbff2de9e9bf94f02" /><Relationship Type="http://schemas.openxmlformats.org/officeDocument/2006/relationships/image" Target="/ppt/media/image10.jpeg" Id="Ra9b16f1f3797442d" /><Relationship Type="http://schemas.openxmlformats.org/officeDocument/2006/relationships/image" Target="/ppt/media/image19_c.jpeg" Id="R27e9a76e7ec04aef" /><Relationship Type="http://schemas.openxmlformats.org/officeDocument/2006/relationships/notesSlide" Target="/ppt/notesSlides/notesSlide6.xml" Id="R76eee80fde51492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51f931b5af47ef" /><Relationship Type="http://schemas.openxmlformats.org/officeDocument/2006/relationships/image" Target="/ppt/media/image20.png" Id="R260a5197361d40e6" /><Relationship Type="http://schemas.openxmlformats.org/officeDocument/2006/relationships/image" Target="/ppt/media/image11.svg" Id="Ra02ce480300f45cd" /><Relationship Type="http://schemas.openxmlformats.org/officeDocument/2006/relationships/image" Target="/ppt/media/image2.jpeg" Id="R077db5001bdc49f8" /><Relationship Type="http://schemas.openxmlformats.org/officeDocument/2006/relationships/image" Target="/ppt/media/image21_c.jpeg" Id="Rcf14094236594a52" /><Relationship Type="http://schemas.openxmlformats.org/officeDocument/2006/relationships/image" Target="/ppt/media/image12.svg" Id="R005d2bb6b8fc484f" /><Relationship Type="http://schemas.openxmlformats.org/officeDocument/2006/relationships/image" Target="/ppt/media/image22.png" Id="Rbb63aaffe21c4a91" /><Relationship Type="http://schemas.openxmlformats.org/officeDocument/2006/relationships/image" Target="/ppt/media/image11.jpeg" Id="R92b429998638490f" /><Relationship Type="http://schemas.openxmlformats.org/officeDocument/2006/relationships/image" Target="/ppt/media/image12.jpeg" Id="Ra6e115b5f68d43e0" /><Relationship Type="http://schemas.openxmlformats.org/officeDocument/2006/relationships/notesSlide" Target="/ppt/notesSlides/notesSlide7.xml" Id="Rc568c200a1ed4e7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d092769fb442f9" /><Relationship Type="http://schemas.openxmlformats.org/officeDocument/2006/relationships/image" Target="/ppt/media/image23.png" Id="R4137d399c78c4867" /><Relationship Type="http://schemas.openxmlformats.org/officeDocument/2006/relationships/image" Target="/ppt/media/image13.svg" Id="Rc0a3176452ce4278" /><Relationship Type="http://schemas.openxmlformats.org/officeDocument/2006/relationships/image" Target="/ppt/media/image3.jpeg" Id="Rf6d1ff37ffb8438c" /><Relationship Type="http://schemas.openxmlformats.org/officeDocument/2006/relationships/image" Target="/ppt/media/image14.svg" Id="R1e1f4cf7ce924040" /><Relationship Type="http://schemas.openxmlformats.org/officeDocument/2006/relationships/image" Target="/ppt/media/image8.png" Id="Re66d575e92eb448b" /><Relationship Type="http://schemas.openxmlformats.org/officeDocument/2006/relationships/image" Target="/ppt/media/image13.jpeg" Id="R06bbf1b8cda9479c" /><Relationship Type="http://schemas.openxmlformats.org/officeDocument/2006/relationships/image" Target="/ppt/media/image24.png" Id="Rc4091e877a414f09" /><Relationship Type="http://schemas.openxmlformats.org/officeDocument/2006/relationships/image" Target="/ppt/media/image14.jpeg" Id="R3d84d981e7ea4d91" /><Relationship Type="http://schemas.openxmlformats.org/officeDocument/2006/relationships/notesSlide" Target="/ppt/notesSlides/notesSlide8.xml" Id="R95007b3442b7414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d34195bcc64cb7" /><Relationship Type="http://schemas.openxmlformats.org/officeDocument/2006/relationships/image" Target="/ppt/media/image25.png" Id="Raee7efd43f184287" /><Relationship Type="http://schemas.openxmlformats.org/officeDocument/2006/relationships/image" Target="/ppt/media/image26_c.jpeg" Id="Ra80598d515a84643" /><Relationship Type="http://schemas.openxmlformats.org/officeDocument/2006/relationships/image" Target="/ppt/media/image15.svg" Id="R85c068264cb34d93" /><Relationship Type="http://schemas.openxmlformats.org/officeDocument/2006/relationships/image" Target="/ppt/media/image16.svg" Id="Ra36fb709eb0e4149" /><Relationship Type="http://schemas.openxmlformats.org/officeDocument/2006/relationships/image" Target="/ppt/media/image9.png" Id="R18a6be08371a432d" /><Relationship Type="http://schemas.openxmlformats.org/officeDocument/2006/relationships/image" Target="/ppt/media/image27.png" Id="R58c4da38d1a34bf7" /><Relationship Type="http://schemas.openxmlformats.org/officeDocument/2006/relationships/image" Target="/ppt/media/image15.jpeg" Id="R98ae9232f5c34afd" /><Relationship Type="http://schemas.openxmlformats.org/officeDocument/2006/relationships/image" Target="/ppt/media/image16.jpeg" Id="R0ea0892c3f2a477d" /><Relationship Type="http://schemas.openxmlformats.org/officeDocument/2006/relationships/notesSlide" Target="/ppt/notesSlides/notesSlide9.xml" Id="R539cae52f1234f1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50affc952644a8" /><Relationship Type="http://schemas.openxmlformats.org/officeDocument/2006/relationships/image" Target="/ppt/media/image28.png" Id="R6088254b5aa84e40" /><Relationship Type="http://schemas.openxmlformats.org/officeDocument/2006/relationships/image" Target="/ppt/media/image17.svg" Id="Rc7ddeb1416e043db" /><Relationship Type="http://schemas.openxmlformats.org/officeDocument/2006/relationships/image" Target="/ppt/media/image4.jpeg" Id="Rca5bfdb3ecaa45a5" /><Relationship Type="http://schemas.openxmlformats.org/officeDocument/2006/relationships/image" Target="/ppt/media/image18.svg" Id="Rb122ab3a295d4ba8" /><Relationship Type="http://schemas.openxmlformats.org/officeDocument/2006/relationships/image" Target="/ppt/media/image5.jpeg" Id="R16a788a7f14d4afd" /><Relationship Type="http://schemas.openxmlformats.org/officeDocument/2006/relationships/image" Target="/ppt/media/image29.png" Id="R38d5bc9a4fcc4ce5" /><Relationship Type="http://schemas.openxmlformats.org/officeDocument/2006/relationships/image" Target="/ppt/media/image17.jpeg" Id="R9ce7192ca3814aa7" /><Relationship Type="http://schemas.openxmlformats.org/officeDocument/2006/relationships/image" Target="/ppt/media/image30_c.jpeg" Id="R9aa272c4f1e340c8" /><Relationship Type="http://schemas.openxmlformats.org/officeDocument/2006/relationships/notesSlide" Target="/ppt/notesSlides/notesSlide10.xml" Id="Rd345a490349144c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1a9a18aca442b0" /><Relationship Type="http://schemas.openxmlformats.org/officeDocument/2006/relationships/image" Target="/ppt/media/image31.png" Id="Rbed97343603a42a2" /><Relationship Type="http://schemas.openxmlformats.org/officeDocument/2006/relationships/image" Target="/ppt/media/image19.svg" Id="Rd4daeef5cc224bfb" /><Relationship Type="http://schemas.openxmlformats.org/officeDocument/2006/relationships/image" Target="/ppt/media/image10.png" Id="R0dc9d2d3f552443d" /><Relationship Type="http://schemas.openxmlformats.org/officeDocument/2006/relationships/image" Target="/ppt/media/image32_c.jpeg" Id="R51ef1a0325cc42cc" /><Relationship Type="http://schemas.openxmlformats.org/officeDocument/2006/relationships/image" Target="/ppt/media/image20.svg" Id="R95d91eb57a094476" /><Relationship Type="http://schemas.openxmlformats.org/officeDocument/2006/relationships/image" Target="/ppt/media/image33.png" Id="R7fd2f61df26c45ae" /><Relationship Type="http://schemas.openxmlformats.org/officeDocument/2006/relationships/image" Target="/ppt/media/image34_c.jpeg" Id="R1a4902aa86e8493c" /><Relationship Type="http://schemas.openxmlformats.org/officeDocument/2006/relationships/image" Target="/ppt/media/image18.jpeg" Id="Rb98aac3e5deb420c" /><Relationship Type="http://schemas.openxmlformats.org/officeDocument/2006/relationships/notesSlide" Target="/ppt/notesSlides/notesSlide11.xml" Id="R226057f63db747d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edbeb1d87c4e8a" /><Relationship Type="http://schemas.openxmlformats.org/officeDocument/2006/relationships/image" Target="/ppt/media/image35.png" Id="R9b78416f48834228" /><Relationship Type="http://schemas.openxmlformats.org/officeDocument/2006/relationships/image" Target="/ppt/media/image21.svg" Id="R2e0e943bc2194baf" /><Relationship Type="http://schemas.openxmlformats.org/officeDocument/2006/relationships/image" Target="/ppt/media/image11.png" Id="R6d638e336eb448d1" /><Relationship Type="http://schemas.openxmlformats.org/officeDocument/2006/relationships/image" Target="/ppt/media/image22.svg" Id="Rdea065b0830b4d82" /><Relationship Type="http://schemas.openxmlformats.org/officeDocument/2006/relationships/image" Target="/ppt/media/image13.png" Id="Rea7d570e78704275" /><Relationship Type="http://schemas.openxmlformats.org/officeDocument/2006/relationships/image" Target="/ppt/media/image36.png" Id="R6f35f42eddd7414f" /><Relationship Type="http://schemas.openxmlformats.org/officeDocument/2006/relationships/image" Target="/ppt/media/image19.jpeg" Id="R2d153976878e4132" /><Relationship Type="http://schemas.openxmlformats.org/officeDocument/2006/relationships/image" Target="/ppt/media/image37_c.jpeg" Id="R05c4d83b58d54bec" /><Relationship Type="http://schemas.openxmlformats.org/officeDocument/2006/relationships/notesSlide" Target="/ppt/notesSlides/notesSlide12.xml" Id="R96b197e8e07c48c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a1c6e62f884fb0" /><Relationship Type="http://schemas.openxmlformats.org/officeDocument/2006/relationships/image" Target="/ppt/media/image38.png" Id="R12777358ca3848d3" /><Relationship Type="http://schemas.openxmlformats.org/officeDocument/2006/relationships/image" Target="/ppt/media/image23.svg" Id="R577dc6eb537b454b" /><Relationship Type="http://schemas.openxmlformats.org/officeDocument/2006/relationships/image" Target="/ppt/media/image6.jpeg" Id="R33bed9f07d94407e" /><Relationship Type="http://schemas.openxmlformats.org/officeDocument/2006/relationships/image" Target="/ppt/media/image24.svg" Id="R3d76b7eef37740f1" /><Relationship Type="http://schemas.openxmlformats.org/officeDocument/2006/relationships/image" Target="/ppt/media/image7.jpeg" Id="Raef3f6fe042e47be" /><Relationship Type="http://schemas.openxmlformats.org/officeDocument/2006/relationships/image" Target="/ppt/media/image39.png" Id="R27be58521cee48c3" /><Relationship Type="http://schemas.openxmlformats.org/officeDocument/2006/relationships/image" Target="/ppt/media/image20.jpeg" Id="Rce71e0a8076049a3" /><Relationship Type="http://schemas.openxmlformats.org/officeDocument/2006/relationships/image" Target="/ppt/media/image21.jpeg" Id="R63e13b31ad214bde" /><Relationship Type="http://schemas.openxmlformats.org/officeDocument/2006/relationships/notesSlide" Target="/ppt/notesSlides/notesSlide13.xml" Id="R52366ba79ec94a6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26cd4073db4352" /><Relationship Type="http://schemas.openxmlformats.org/officeDocument/2006/relationships/image" Target="/ppt/media/image40.png" Id="Rfd2c744e75cf4f7f" /><Relationship Type="http://schemas.openxmlformats.org/officeDocument/2006/relationships/image" Target="/ppt/media/image22.jpeg" Id="R898dc152f7554979" /><Relationship Type="http://schemas.openxmlformats.org/officeDocument/2006/relationships/notesSlide" Target="/ppt/notesSlides/notesSlide14.xml" Id="R554e6569c9c2401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D9E1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Cover eyebrow">
            <a:extLst xmlns:a="http://schemas.openxmlformats.org/drawingml/2006/main">
              <a:ext uri="{FF2B5EF4-FFF2-40B4-BE49-F238E27FC236}">
                <a16:creationId xmlns:a16="http://schemas.microsoft.com/office/drawing/2014/main" id="{DC774324-21F9-4D76-8E70-42720DF95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82E4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E43"/>
                </a:solidFill>
                <a:latin typeface="Aptos"/>
                <a:ea typeface="Aptos"/>
                <a:cs typeface="Aptos"/>
              </a:rPr>
              <a:t>FORBES ENGLISH • PREPOSITIONS</a:t>
            </a:r>
          </a:p>
        </p:txBody>
      </p:sp>
      <p:sp>
        <p:nvSpPr>
          <p:cNvPr id="4" name="Cover title Twin">
            <a:extLst xmlns:a="http://schemas.openxmlformats.org/drawingml/2006/main">
              <a:ext uri="{FF2B5EF4-FFF2-40B4-BE49-F238E27FC236}">
                <a16:creationId xmlns:a16="http://schemas.microsoft.com/office/drawing/2014/main" id="{336DD2E9-DFA7-46A5-BF3F-953C894AD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4572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6450" b="1">
                <a:solidFill>
                  <a:srgbClr val="101918"/>
                </a:solidFill>
                <a:latin typeface="Noto Sans Display Condensed"/>
                <a:ea typeface="Noto Sans Display Condensed"/>
                <a:cs typeface="Noto Sans Display Condensed"/>
              </a:defRPr>
            </a:pPr>
            <a:r>
              <a:rPr sz="6450" b="1">
                <a:solidFill>
                  <a:srgbClr val="101918"/>
                </a:solidFill>
                <a:latin typeface="Noto Sans Display Condensed"/>
                <a:ea typeface="Noto Sans Display Condensed"/>
                <a:cs typeface="Noto Sans Display Condensed"/>
              </a:rPr>
              <a:t>TWIN</a:t>
            </a:r>
          </a:p>
        </p:txBody>
      </p:sp>
      <p:sp>
        <p:nvSpPr>
          <p:cNvPr id="5" name="Cover title Peaks">
            <a:extLst xmlns:a="http://schemas.openxmlformats.org/drawingml/2006/main">
              <a:ext uri="{FF2B5EF4-FFF2-40B4-BE49-F238E27FC236}">
                <a16:creationId xmlns:a16="http://schemas.microsoft.com/office/drawing/2014/main" id="{95EE2B6A-EF27-4EC2-89B1-3FB2FB21B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762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6450" b="1">
                <a:solidFill>
                  <a:srgbClr val="101918"/>
                </a:solidFill>
                <a:latin typeface="Noto Sans Display Condensed"/>
                <a:ea typeface="Noto Sans Display Condensed"/>
                <a:cs typeface="Noto Sans Display Condensed"/>
              </a:defRPr>
            </a:pPr>
            <a:r>
              <a:rPr sz="6450" b="1">
                <a:solidFill>
                  <a:srgbClr val="101918"/>
                </a:solidFill>
                <a:latin typeface="Noto Sans Display Condensed"/>
                <a:ea typeface="Noto Sans Display Condensed"/>
                <a:cs typeface="Noto Sans Display Condensed"/>
              </a:rPr>
              <a:t>PEAKS</a:t>
            </a:r>
          </a:p>
        </p:txBody>
      </p:sp>
      <p:sp>
        <p:nvSpPr>
          <p:cNvPr id="6" name="Cover subtitle">
            <a:extLst xmlns:a="http://schemas.openxmlformats.org/drawingml/2006/main">
              <a:ext uri="{FF2B5EF4-FFF2-40B4-BE49-F238E27FC236}">
                <a16:creationId xmlns:a16="http://schemas.microsoft.com/office/drawing/2014/main" id="{BDCFC191-F653-4A3E-9E90-4D359C10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05125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HAWKINS FIELD GUIDE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ae8abcddc24562"/>
          <a:stretch xmlns:a="http://schemas.openxmlformats.org/drawingml/2006/main"/>
        </p:blipFill>
        <p:spPr>
          <a:xfrm xmlns:a="http://schemas.openxmlformats.org/drawingml/2006/main">
            <a:off x="914400" y="3771900"/>
            <a:ext cx="723900" cy="723900"/>
          </a:xfrm>
          <a:prstGeom xmlns:a="http://schemas.openxmlformats.org/drawingml/2006/main" prst="rect">
            <a:avLst/>
          </a:prstGeom>
        </p:spPr>
      </p:pic>
      <p:sp>
        <p:nvSpPr>
          <p:cNvPr id="8" name="Cover guide line 1">
            <a:extLst xmlns:a="http://schemas.openxmlformats.org/drawingml/2006/main">
              <a:ext uri="{FF2B5EF4-FFF2-40B4-BE49-F238E27FC236}">
                <a16:creationId xmlns:a16="http://schemas.microsoft.com/office/drawing/2014/main" id="{7C839524-EF1B-4FB8-AF12-5C3AEE651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918"/>
                </a:solidFill>
                <a:latin typeface="Noto Sans Display Condensed"/>
                <a:ea typeface="Noto Sans Display Condensed"/>
                <a:cs typeface="Noto Sans Display Condensed"/>
              </a:defRPr>
            </a:pPr>
            <a:r>
              <a:rPr sz="1275" b="1">
                <a:solidFill>
                  <a:srgbClr val="E6DFCF"/>
                </a:solidFill>
                <a:latin typeface="Noto Sans Display Condensed"/>
                <a:ea typeface="Noto Sans Display Condensed"/>
                <a:cs typeface="Noto Sans Display Condensed"/>
              </a:rPr>
              <a:t>A VISUAL GUIDE</a:t>
            </a:r>
          </a:p>
        </p:txBody>
      </p:sp>
      <p:sp>
        <p:nvSpPr>
          <p:cNvPr id="9" name="Cover guide line 2">
            <a:extLst xmlns:a="http://schemas.openxmlformats.org/drawingml/2006/main">
              <a:ext uri="{FF2B5EF4-FFF2-40B4-BE49-F238E27FC236}">
                <a16:creationId xmlns:a16="http://schemas.microsoft.com/office/drawing/2014/main" id="{E220FAB2-A038-4C50-B7B4-F909815B6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9650"/>
            <a:ext cx="228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918"/>
                </a:solidFill>
                <a:latin typeface="Noto Sans Display Condensed"/>
                <a:ea typeface="Noto Sans Display Condensed"/>
                <a:cs typeface="Noto Sans Display Condensed"/>
              </a:defRPr>
            </a:pPr>
            <a:r>
              <a:rPr sz="1275" b="1">
                <a:solidFill>
                  <a:srgbClr val="E6DFCF"/>
                </a:solidFill>
                <a:latin typeface="Noto Sans Display Condensed"/>
                <a:ea typeface="Noto Sans Display Condensed"/>
                <a:cs typeface="Noto Sans Display Condensed"/>
              </a:rPr>
              <a:t>TO PREPOSITIONS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9ef84b59014ea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4" name="Cover eyebrow final">
            <a:extLst xmlns:a="http://schemas.openxmlformats.org/drawingml/2006/main">
              <a:ext uri="{FF2B5EF4-FFF2-40B4-BE49-F238E27FC236}">
                <a16:creationId xmlns:a16="http://schemas.microsoft.com/office/drawing/2014/main" id="{31946A05-76CC-47B0-948A-44EBA52F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 i="0">
                <a:solidFill>
                  <a:srgbClr val="101918"/>
                </a:solidFill>
                <a:latin typeface="Noto Sans Display Condensed"/>
                <a:ea typeface="Noto Sans Display Condensed"/>
                <a:cs typeface="Noto Sans Display Condensed"/>
              </a:rPr>
              <a:t/>
            </a:r>
          </a:p>
        </p:txBody>
      </p:sp>
      <p:sp>
        <p:nvSpPr>
          <p:cNvPr id="15" name="Cover title Twin final">
            <a:extLst xmlns:a="http://schemas.openxmlformats.org/drawingml/2006/main">
              <a:ext uri="{FF2B5EF4-FFF2-40B4-BE49-F238E27FC236}">
                <a16:creationId xmlns:a16="http://schemas.microsoft.com/office/drawing/2014/main" id="{D8ED4733-AD61-4A8C-A9EF-B520EC82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4572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600" b="1" i="0">
                <a:solidFill>
                  <a:srgbClr val="101918"/>
                </a:solidFill>
                <a:latin typeface="Noto Sans Display Condensed"/>
                <a:ea typeface="Noto Sans Display Condensed"/>
                <a:cs typeface="Noto Sans Display Condensed"/>
              </a:rPr>
              <a:t/>
            </a:r>
          </a:p>
        </p:txBody>
      </p:sp>
      <p:sp>
        <p:nvSpPr>
          <p:cNvPr id="16" name="Cover title Peaks final">
            <a:extLst xmlns:a="http://schemas.openxmlformats.org/drawingml/2006/main">
              <a:ext uri="{FF2B5EF4-FFF2-40B4-BE49-F238E27FC236}">
                <a16:creationId xmlns:a16="http://schemas.microsoft.com/office/drawing/2014/main" id="{6DA97711-1A77-4A69-B6D3-F26635C9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762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600" b="1" i="0">
                <a:solidFill>
                  <a:srgbClr val="101918"/>
                </a:solidFill>
                <a:latin typeface="Noto Sans Display Condensed"/>
                <a:ea typeface="Noto Sans Display Condensed"/>
                <a:cs typeface="Noto Sans Display Condensed"/>
              </a:rPr>
              <a:t/>
            </a:r>
          </a:p>
        </p:txBody>
      </p:sp>
      <p:sp>
        <p:nvSpPr>
          <p:cNvPr id="17" name="Cover subtitle final">
            <a:extLst xmlns:a="http://schemas.openxmlformats.org/drawingml/2006/main">
              <a:ext uri="{FF2B5EF4-FFF2-40B4-BE49-F238E27FC236}">
                <a16:creationId xmlns:a16="http://schemas.microsoft.com/office/drawing/2014/main" id="{DA8BAD19-C77D-4635-8858-0CC642CCA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05125"/>
            <a:ext cx="419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 i="0">
                <a:solidFill>
                  <a:srgbClr val="8E1D24"/>
                </a:solidFill>
                <a:latin typeface="Noto Sans Display Condensed"/>
                <a:ea typeface="Noto Sans Display Condensed"/>
                <a:cs typeface="Noto Sans Display Condensed"/>
              </a:rPr>
              <a:t/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f166d29e5d4e7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4400" y="3771900"/>
            <a:ext cx="723900" cy="723900"/>
          </a:xfrm>
          <a:prstGeom xmlns:a="http://schemas.openxmlformats.org/drawingml/2006/main" prst="rect">
            <a:avLst/>
          </a:prstGeom>
        </p:spPr>
      </p:pic>
      <p:sp>
        <p:nvSpPr>
          <p:cNvPr id="19" name="Cover guide line 1 final">
            <a:extLst xmlns:a="http://schemas.openxmlformats.org/drawingml/2006/main">
              <a:ext uri="{FF2B5EF4-FFF2-40B4-BE49-F238E27FC236}">
                <a16:creationId xmlns:a16="http://schemas.microsoft.com/office/drawing/2014/main" id="{755833A5-C759-4F64-B178-D312C88EC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rmAutofit fontScale="99265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 i="0">
                <a:solidFill>
                  <a:srgbClr val="E6DFCF"/>
                </a:solidFill>
                <a:latin typeface="Noto Sans Display Condensed"/>
                <a:ea typeface="Noto Sans Display Condensed"/>
                <a:cs typeface="Noto Sans Display Condensed"/>
              </a:rPr>
              <a:t>A VISUAL GUIDE</a:t>
            </a:r>
          </a:p>
        </p:txBody>
      </p:sp>
      <p:sp>
        <p:nvSpPr>
          <p:cNvPr id="20" name="Cover guide line 2 final">
            <a:extLst xmlns:a="http://schemas.openxmlformats.org/drawingml/2006/main">
              <a:ext uri="{FF2B5EF4-FFF2-40B4-BE49-F238E27FC236}">
                <a16:creationId xmlns:a16="http://schemas.microsoft.com/office/drawing/2014/main" id="{2A9A100B-7F94-4F03-B9A9-E0DEEAE5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228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rmAutofit fontScale="99265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 i="0">
                <a:solidFill>
                  <a:srgbClr val="E6DFCF"/>
                </a:solidFill>
                <a:latin typeface="Noto Sans Display Condensed"/>
                <a:ea typeface="Noto Sans Display Condensed"/>
                <a:cs typeface="Noto Sans Display Condensed"/>
              </a:rPr>
              <a:t>TO PREPOSITIONS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a3980efeff40a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1950" y="838200"/>
            <a:ext cx="5905500" cy="2146649"/>
          </a:xfrm>
          <a:prstGeom xmlns:a="http://schemas.openxmlformats.org/drawingml/2006/main" prst="rect">
            <a:avLst/>
          </a:prstGeom>
        </p:spPr>
      </p:pic>
      <p:sp>
        <p:nvSpPr>
          <p:cNvPr id="41" name="Forbes English cover wordmark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835015"/>
            <a:ext cx="1100138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 i="0">
                <a:solidFill>
                  <a:srgbClr val="F8F0DF"/>
                </a:solidFill>
                <a:latin typeface="Georgia"/>
                <a:ea typeface="Georgia"/>
                <a:cs typeface="Georgia"/>
              </a:rPr>
              <a:t>Forbes</a:t>
            </a:r>
          </a:p>
        </p:txBody>
      </p:sp>
      <p:sp>
        <p:nvSpPr>
          <p:cNvPr id="42" name="Forbes English cover second lin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6077902"/>
            <a:ext cx="1100138" cy="1857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50" b="1" i="0">
                <a:solidFill>
                  <a:srgbClr val="F8F0DF"/>
                </a:solidFill>
                <a:latin typeface="Georgia"/>
                <a:ea typeface="Georgia"/>
                <a:cs typeface="Georgia"/>
              </a:rPr>
              <a:t>ENGLISH</a:t>
            </a:r>
          </a:p>
        </p:txBody>
      </p:sp>
    </p:spTree>
    <p:extLst>
      <p:ext uri="{BB962C8B-B14F-4D97-AF65-F5344CB8AC3E}">
        <p14:creationId xmlns:p14="http://schemas.microsoft.com/office/powerpoint/2010/main" val="14083618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D9E1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ream background overlay">
            <a:extLst xmlns:a="http://schemas.openxmlformats.org/drawingml/2006/main">
              <a:ext uri="{FF2B5EF4-FFF2-40B4-BE49-F238E27FC236}">
                <a16:creationId xmlns:a16="http://schemas.microsoft.com/office/drawing/2014/main" id="{339443C1-ABE7-47B4-B0F6-DA38C512E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E16C0977-126B-4ECE-A042-E6689FF3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219456"/>
            <a:ext cx="210312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777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90111C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90111C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4" name="Header separator">
            <a:extLst xmlns:a="http://schemas.openxmlformats.org/drawingml/2006/main">
              <a:ext uri="{FF2B5EF4-FFF2-40B4-BE49-F238E27FC236}">
                <a16:creationId xmlns:a16="http://schemas.microsoft.com/office/drawing/2014/main" id="{52E8D1F2-53B6-4C33-9BE0-3522E216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1168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01918"/>
            </a:solidFill>
            <a:prstDash val="solid"/>
          </a:ln>
        </p:spPr>
      </p:sp>
      <p:sp>
        <p:nvSpPr>
          <p:cNvPr id="5" name="Running header">
            <a:extLst xmlns:a="http://schemas.openxmlformats.org/drawingml/2006/main">
              <a:ext uri="{FF2B5EF4-FFF2-40B4-BE49-F238E27FC236}">
                <a16:creationId xmlns:a16="http://schemas.microsoft.com/office/drawing/2014/main" id="{DA0B83D8-4324-4DEF-A782-7485C8838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10312"/>
            <a:ext cx="2971800" cy="210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82E43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82E43"/>
                </a:solidFill>
                <a:latin typeface="Aptos"/>
                <a:ea typeface="Aptos"/>
                <a:cs typeface="Aptos"/>
              </a:rPr>
              <a:t>FORBES ENGLISH • PREPOSITIONS</a:t>
            </a:r>
          </a:p>
        </p:txBody>
      </p:sp>
      <p:sp>
        <p:nvSpPr>
          <p:cNvPr id="6" name="Centre divider">
            <a:extLst xmlns:a="http://schemas.openxmlformats.org/drawingml/2006/main">
              <a:ext uri="{FF2B5EF4-FFF2-40B4-BE49-F238E27FC236}">
                <a16:creationId xmlns:a16="http://schemas.microsoft.com/office/drawing/2014/main" id="{30A10CAD-315D-46B6-9816-54B179F99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429" y="502920"/>
            <a:ext cx="0" cy="52760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7390"/>
            </a:solidFill>
            <a:prstDash val="solid"/>
          </a:ln>
        </p:spPr>
      </p:sp>
      <p:sp>
        <p:nvSpPr>
          <p:cNvPr id="7" name="Centre diamond">
            <a:extLst xmlns:a="http://schemas.openxmlformats.org/drawingml/2006/main">
              <a:ext uri="{FF2B5EF4-FFF2-40B4-BE49-F238E27FC236}">
                <a16:creationId xmlns:a16="http://schemas.microsoft.com/office/drawing/2014/main" id="{69A00C9E-F79D-4F20-9C1A-8DA07572D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7705" y="3136392"/>
            <a:ext cx="155448" cy="155448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1073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arget title left">
            <a:extLst xmlns:a="http://schemas.openxmlformats.org/drawingml/2006/main">
              <a:ext uri="{FF2B5EF4-FFF2-40B4-BE49-F238E27FC236}">
                <a16:creationId xmlns:a16="http://schemas.microsoft.com/office/drawing/2014/main" id="{5E917BEF-C6F7-496F-B55B-94208D4A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1520"/>
            <a:ext cx="5074920" cy="658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>
                <a:solidFill>
                  <a:srgbClr val="C9C5BD"/>
                </a:solidFill>
              </a:defRPr>
            </a:pPr>
            <a:r>
              <a:rPr sz="4300" b="1">
                <a:ln w="10478">
                  <a:solidFill>
                    <a:srgbClr val="303437"/>
                  </a:solidFill>
                  <a:prstDash val="solid"/>
                </a:ln>
                <a:solidFill>
                  <a:srgbClr val="C9C5BD"/>
                </a:solidFill>
                <a:latin typeface="Noto Sans Display Condensed"/>
                <a:ea typeface="Noto Sans Display Condensed"/>
                <a:cs typeface="Noto Sans Display Condensed"/>
              </a:rPr>
              <a:t>BETWEEN</a:t>
            </a:r>
          </a:p>
        </p:txBody>
      </p:sp>
      <p:sp>
        <p:nvSpPr>
          <p:cNvPr id="9" name="Target title right">
            <a:extLst xmlns:a="http://schemas.openxmlformats.org/drawingml/2006/main">
              <a:ext uri="{FF2B5EF4-FFF2-40B4-BE49-F238E27FC236}">
                <a16:creationId xmlns:a16="http://schemas.microsoft.com/office/drawing/2014/main" id="{46F9BC0B-BC43-4CE7-BCFD-42E4FF228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731520"/>
            <a:ext cx="5074920" cy="658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>
                <a:solidFill>
                  <a:srgbClr val="C9C5BD"/>
                </a:solidFill>
              </a:defRPr>
            </a:pPr>
            <a:r>
              <a:rPr sz="4300" b="1">
                <a:ln w="10478">
                  <a:solidFill>
                    <a:srgbClr val="303437"/>
                  </a:solidFill>
                  <a:prstDash val="solid"/>
                </a:ln>
                <a:solidFill>
                  <a:srgbClr val="C9C5BD"/>
                </a:solidFill>
                <a:latin typeface="Noto Sans Display Condensed"/>
                <a:ea typeface="Noto Sans Display Condensed"/>
                <a:cs typeface="Noto Sans Display Condensed"/>
              </a:rPr>
              <a:t>AMONG</a:t>
            </a:r>
          </a:p>
        </p:txBody>
      </p:sp>
      <p:pic>
        <p:nvPicPr>
          <p:cNvPr id="2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ba4e70400143fb"/>
          <a:srcRect xmlns:a="http://schemas.openxmlformats.org/drawingml/2006/main" l="0" t="1717" r="0" b="17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4944" y="1645920"/>
            <a:ext cx="4882896" cy="3145536"/>
          </a:xfrm>
          <a:prstGeom xmlns:a="http://schemas.openxmlformats.org/drawingml/2006/main" prst="rect">
            <a:avLst/>
          </a:prstGeom>
        </p:spPr>
      </p:pic>
      <p:pic>
        <p:nvPicPr>
          <p:cNvPr id="2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ea6d05c040422e"/>
          <a:srcRect xmlns:a="http://schemas.openxmlformats.org/drawingml/2006/main" l="0" t="1717" r="0" b="17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11112" y="1645920"/>
            <a:ext cx="4882896" cy="3145536"/>
          </a:xfrm>
          <a:prstGeom xmlns:a="http://schemas.openxmlformats.org/drawingml/2006/main" prst="rect">
            <a:avLst/>
          </a:prstGeom>
        </p:spPr>
      </p:pic>
      <p:sp>
        <p:nvSpPr>
          <p:cNvPr id="12" name="Between sentence">
            <a:extLst xmlns:a="http://schemas.openxmlformats.org/drawingml/2006/main">
              <a:ext uri="{FF2B5EF4-FFF2-40B4-BE49-F238E27FC236}">
                <a16:creationId xmlns:a16="http://schemas.microsoft.com/office/drawing/2014/main" id="{41CF2DF4-7BF3-4882-A836-4E18EEA9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5212080"/>
            <a:ext cx="5102352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>
                <a:solidFill>
                  <a:srgbClr val="101918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13" name="Among sentence">
            <a:extLst xmlns:a="http://schemas.openxmlformats.org/drawingml/2006/main">
              <a:ext uri="{FF2B5EF4-FFF2-40B4-BE49-F238E27FC236}">
                <a16:creationId xmlns:a16="http://schemas.microsoft.com/office/drawing/2014/main" id="{5D4E7041-8321-45EB-84D5-9B365CAC3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384" y="5212080"/>
            <a:ext cx="5102352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>
                <a:solidFill>
                  <a:srgbClr val="101918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14" name="Between definition title">
            <a:extLst xmlns:a="http://schemas.openxmlformats.org/drawingml/2006/main">
              <a:ext uri="{FF2B5EF4-FFF2-40B4-BE49-F238E27FC236}">
                <a16:creationId xmlns:a16="http://schemas.microsoft.com/office/drawing/2014/main" id="{17B54E0F-E39B-4024-A8B1-F1713116A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632704"/>
            <a:ext cx="47548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 i="0">
                <a:solidFill>
                  <a:srgbClr val="8A1A1E"/>
                </a:solidFill>
                <a:latin typeface="Noto Sans Display Condensed"/>
                <a:ea typeface="Noto Sans Display Condensed"/>
                <a:cs typeface="Noto Sans Display Condensed"/>
              </a:rPr>
              <a:t>BETWEEN</a:t>
            </a:r>
          </a:p>
        </p:txBody>
      </p:sp>
      <p:sp>
        <p:nvSpPr>
          <p:cNvPr id="15" name="Between definition">
            <a:extLst xmlns:a="http://schemas.openxmlformats.org/drawingml/2006/main">
              <a:ext uri="{FF2B5EF4-FFF2-40B4-BE49-F238E27FC236}">
                <a16:creationId xmlns:a16="http://schemas.microsoft.com/office/drawing/2014/main" id="{72A32932-40F6-45EC-8E3F-D0CC935E3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879592"/>
            <a:ext cx="475488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0" i="1">
                <a:solidFill>
                  <a:srgbClr val="101918"/>
                </a:solidFill>
                <a:latin typeface="Georgia"/>
                <a:ea typeface="Georgia"/>
                <a:cs typeface="Georgia"/>
              </a:rPr>
              <a:t>used for two people or things.</a:t>
            </a:r>
          </a:p>
        </p:txBody>
      </p:sp>
      <p:sp>
        <p:nvSpPr>
          <p:cNvPr id="16" name="Among definition title">
            <a:extLst xmlns:a="http://schemas.openxmlformats.org/drawingml/2006/main">
              <a:ext uri="{FF2B5EF4-FFF2-40B4-BE49-F238E27FC236}">
                <a16:creationId xmlns:a16="http://schemas.microsoft.com/office/drawing/2014/main" id="{157945A1-D57E-480A-A32D-962D1D74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5632704"/>
            <a:ext cx="47548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 i="0">
                <a:solidFill>
                  <a:srgbClr val="8A1A1E"/>
                </a:solidFill>
                <a:latin typeface="Noto Sans Display Condensed"/>
                <a:ea typeface="Noto Sans Display Condensed"/>
                <a:cs typeface="Noto Sans Display Condensed"/>
              </a:rPr>
              <a:t>AMONG</a:t>
            </a:r>
          </a:p>
        </p:txBody>
      </p:sp>
      <p:sp>
        <p:nvSpPr>
          <p:cNvPr id="17" name="Among definition">
            <a:extLst xmlns:a="http://schemas.openxmlformats.org/drawingml/2006/main">
              <a:ext uri="{FF2B5EF4-FFF2-40B4-BE49-F238E27FC236}">
                <a16:creationId xmlns:a16="http://schemas.microsoft.com/office/drawing/2014/main" id="{9B21BDF0-2AC0-475B-9804-59A1BE076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5879592"/>
            <a:ext cx="475488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0" i="1">
                <a:solidFill>
                  <a:srgbClr val="101918"/>
                </a:solidFill>
                <a:latin typeface="Georgia"/>
                <a:ea typeface="Georgia"/>
                <a:cs typeface="Georgia"/>
              </a:rPr>
              <a:t>used for three or more people or things.</a:t>
            </a:r>
          </a:p>
        </p:txBody>
      </p:sp>
      <p:sp>
        <p:nvSpPr>
          <p:cNvPr id="18" name="Footer line left">
            <a:extLst xmlns:a="http://schemas.openxmlformats.org/drawingml/2006/main">
              <a:ext uri="{FF2B5EF4-FFF2-40B4-BE49-F238E27FC236}">
                <a16:creationId xmlns:a16="http://schemas.microsoft.com/office/drawing/2014/main" id="{B2E8DD2D-2137-404F-B352-0DCD73FB5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238875"/>
            <a:ext cx="538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7390"/>
            </a:solidFill>
            <a:prstDash val="solid"/>
          </a:ln>
        </p:spPr>
      </p:sp>
      <p:sp>
        <p:nvSpPr>
          <p:cNvPr id="19" name="Footer line right">
            <a:extLst xmlns:a="http://schemas.openxmlformats.org/drawingml/2006/main">
              <a:ext uri="{FF2B5EF4-FFF2-40B4-BE49-F238E27FC236}">
                <a16:creationId xmlns:a16="http://schemas.microsoft.com/office/drawing/2014/main" id="{9D71432B-65B7-4A05-85F0-AB96452FC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6238875"/>
            <a:ext cx="538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7390"/>
            </a:solidFill>
            <a:prstDash val="solid"/>
          </a:ln>
        </p:spPr>
      </p:sp>
      <p:pic>
        <p:nvPicPr>
          <p:cNvPr id="2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e695a249954cdf"/>
          <a:stretch xmlns:a="http://schemas.openxmlformats.org/drawingml/2006/main"/>
        </p:blipFill>
        <p:spPr>
          <a:xfrm xmlns:a="http://schemas.openxmlformats.org/drawingml/2006/main">
            <a:off x="5830824" y="6007608"/>
            <a:ext cx="530352" cy="530352"/>
          </a:xfrm>
          <a:prstGeom xmlns:a="http://schemas.openxmlformats.org/drawingml/2006/main" prst="rect">
            <a:avLst/>
          </a:prstGeom>
        </p:spPr>
      </p:pic>
      <p:sp>
        <p:nvSpPr>
          <p:cNvPr id="21" name="Footer left">
            <a:extLst xmlns:a="http://schemas.openxmlformats.org/drawingml/2006/main">
              <a:ext uri="{FF2B5EF4-FFF2-40B4-BE49-F238E27FC236}">
                <a16:creationId xmlns:a16="http://schemas.microsoft.com/office/drawing/2014/main" id="{AA1E2954-A3B8-4603-8256-D826FE324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6382512"/>
            <a:ext cx="2286000" cy="210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11111"/>
                </a:solidFill>
                <a:latin typeface="Aptos"/>
                <a:ea typeface="Aptos"/>
                <a:cs typeface="Aptos"/>
              </a:rPr>
              <a:t>HAWKINS FIELD GUIDE</a:t>
            </a:r>
          </a:p>
        </p:txBody>
      </p:sp>
      <p:sp>
        <p:nvSpPr>
          <p:cNvPr id="22" name="Footer right">
            <a:extLst xmlns:a="http://schemas.openxmlformats.org/drawingml/2006/main">
              <a:ext uri="{FF2B5EF4-FFF2-40B4-BE49-F238E27FC236}">
                <a16:creationId xmlns:a16="http://schemas.microsoft.com/office/drawing/2014/main" id="{A0D1E773-948B-4E01-ADE9-238A0E85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6382512"/>
            <a:ext cx="2852928" cy="210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 b="1" i="0">
                <a:solidFill>
                  <a:srgbClr val="101918"/>
                </a:solidFill>
                <a:latin typeface="Roboto Condensed"/>
                <a:ea typeface="Roboto Condensed"/>
                <a:cs typeface="Roboto Condensed"/>
              </a:rPr>
              <a:t/>
            </a:r>
          </a:p>
        </p:txBody>
      </p:sp>
      <p:sp>
        <p:nvSpPr>
          <p:cNvPr id="27" name="Slide 4 system background">
            <a:extLst xmlns:a="http://schemas.openxmlformats.org/drawingml/2006/main">
              <a:ext uri="{FF2B5EF4-FFF2-40B4-BE49-F238E27FC236}">
                <a16:creationId xmlns:a16="http://schemas.microsoft.com/office/drawing/2014/main" id="{DF33ABCD-A168-421F-8B83-FB039F473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0E23C704-ADEC-4A84-A9B9-AFBE2D79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219456"/>
            <a:ext cx="210312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777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90111C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90111C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9" name="Header separator">
            <a:extLst xmlns:a="http://schemas.openxmlformats.org/drawingml/2006/main">
              <a:ext uri="{FF2B5EF4-FFF2-40B4-BE49-F238E27FC236}">
                <a16:creationId xmlns:a16="http://schemas.microsoft.com/office/drawing/2014/main" id="{C12BDCB4-C864-487D-AFC2-C3E42C1D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1168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01918"/>
            </a:solidFill>
            <a:prstDash val="solid"/>
          </a:ln>
        </p:spPr>
      </p:sp>
      <p:sp>
        <p:nvSpPr>
          <p:cNvPr id="30" name="Running header">
            <a:extLst xmlns:a="http://schemas.openxmlformats.org/drawingml/2006/main">
              <a:ext uri="{FF2B5EF4-FFF2-40B4-BE49-F238E27FC236}">
                <a16:creationId xmlns:a16="http://schemas.microsoft.com/office/drawing/2014/main" id="{DF1474F0-F9DE-489C-BDA7-9AB76A6BE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10312"/>
            <a:ext cx="2971800" cy="210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82E43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82E43"/>
                </a:solidFill>
                <a:latin typeface="Aptos"/>
                <a:ea typeface="Aptos"/>
                <a:cs typeface="Aptos"/>
              </a:rPr>
              <a:t>FORBES ENGLISH • PREPOSITIONS</a:t>
            </a:r>
          </a:p>
        </p:txBody>
      </p:sp>
      <p:sp>
        <p:nvSpPr>
          <p:cNvPr id="31" name="Centre divider">
            <a:extLst xmlns:a="http://schemas.openxmlformats.org/drawingml/2006/main">
              <a:ext uri="{FF2B5EF4-FFF2-40B4-BE49-F238E27FC236}">
                <a16:creationId xmlns:a16="http://schemas.microsoft.com/office/drawing/2014/main" id="{265158A3-0B44-4AFD-8D52-A77BE7441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429" y="502920"/>
            <a:ext cx="0" cy="52760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7390"/>
            </a:solidFill>
            <a:prstDash val="solid"/>
          </a:ln>
        </p:spPr>
      </p:sp>
      <p:sp>
        <p:nvSpPr>
          <p:cNvPr id="32" name="Centre diamond">
            <a:extLst xmlns:a="http://schemas.openxmlformats.org/drawingml/2006/main">
              <a:ext uri="{FF2B5EF4-FFF2-40B4-BE49-F238E27FC236}">
                <a16:creationId xmlns:a16="http://schemas.microsoft.com/office/drawing/2014/main" id="{34DE7136-8343-48BE-A785-8DD0B6712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7705" y="3136392"/>
            <a:ext cx="155448" cy="155448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1073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arget title left">
            <a:extLst xmlns:a="http://schemas.openxmlformats.org/drawingml/2006/main">
              <a:ext uri="{FF2B5EF4-FFF2-40B4-BE49-F238E27FC236}">
                <a16:creationId xmlns:a16="http://schemas.microsoft.com/office/drawing/2014/main" id="{9630BFD8-2166-4DBE-842B-059D8134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1520"/>
            <a:ext cx="5074920" cy="658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300" b="1">
                <a:solidFill>
                  <a:srgbClr val="C9C5BD"/>
                </a:solidFill>
                <a:latin typeface="Noto Sans Display Condensed"/>
                <a:ea typeface="Noto Sans Display Condensed"/>
                <a:cs typeface="Noto Sans Display Condensed"/>
              </a:defRPr>
            </a:pPr>
            <a:r>
              <a:rPr sz="4300" b="1" i="0">
                <a:ln w="10478">
                  <a:solidFill>
                    <a:srgbClr val="303437"/>
                  </a:solidFill>
                  <a:prstDash val="solid"/>
                </a:ln>
                <a:solidFill>
                  <a:srgbClr val="C9C5BD"/>
                </a:solidFill>
                <a:latin typeface="Noto Sans Display Condensed"/>
                <a:ea typeface="Noto Sans Display Condensed"/>
                <a:cs typeface="Noto Sans Display Condensed"/>
              </a:rPr>
              <a:t>BETWEEN</a:t>
            </a:r>
          </a:p>
        </p:txBody>
      </p:sp>
      <p:sp>
        <p:nvSpPr>
          <p:cNvPr id="34" name="Target title right">
            <a:extLst xmlns:a="http://schemas.openxmlformats.org/drawingml/2006/main">
              <a:ext uri="{FF2B5EF4-FFF2-40B4-BE49-F238E27FC236}">
                <a16:creationId xmlns:a16="http://schemas.microsoft.com/office/drawing/2014/main" id="{E23EEE00-0D9E-4A0A-A58A-17E7ABCC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731520"/>
            <a:ext cx="5074920" cy="658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300" b="1">
                <a:solidFill>
                  <a:srgbClr val="C9C5BD"/>
                </a:solidFill>
                <a:latin typeface="Noto Sans Display Condensed"/>
                <a:ea typeface="Noto Sans Display Condensed"/>
                <a:cs typeface="Noto Sans Display Condensed"/>
              </a:defRPr>
            </a:pPr>
            <a:r>
              <a:rPr sz="4300" b="1" i="0">
                <a:ln w="10478">
                  <a:solidFill>
                    <a:srgbClr val="303437"/>
                  </a:solidFill>
                  <a:prstDash val="solid"/>
                </a:ln>
                <a:solidFill>
                  <a:srgbClr val="C9C5BD"/>
                </a:solidFill>
                <a:latin typeface="Noto Sans Display Condensed"/>
                <a:ea typeface="Noto Sans Display Condensed"/>
                <a:cs typeface="Noto Sans Display Condensed"/>
              </a:rPr>
              <a:t>AMONG</a:t>
            </a:r>
          </a:p>
        </p:txBody>
      </p:sp>
      <p:sp>
        <p:nvSpPr>
          <p:cNvPr id="35" name="Footer line left">
            <a:extLst xmlns:a="http://schemas.openxmlformats.org/drawingml/2006/main">
              <a:ext uri="{FF2B5EF4-FFF2-40B4-BE49-F238E27FC236}">
                <a16:creationId xmlns:a16="http://schemas.microsoft.com/office/drawing/2014/main" id="{6709C4A7-E154-4789-8F6E-A5918607D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238875"/>
            <a:ext cx="538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7390"/>
            </a:solidFill>
            <a:prstDash val="solid"/>
          </a:ln>
        </p:spPr>
      </p:sp>
      <p:sp>
        <p:nvSpPr>
          <p:cNvPr id="36" name="Footer line right">
            <a:extLst xmlns:a="http://schemas.openxmlformats.org/drawingml/2006/main">
              <a:ext uri="{FF2B5EF4-FFF2-40B4-BE49-F238E27FC236}">
                <a16:creationId xmlns:a16="http://schemas.microsoft.com/office/drawing/2014/main" id="{CB1650F0-407C-4C48-ABE3-6FBED1505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6238875"/>
            <a:ext cx="538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7390"/>
            </a:solidFill>
            <a:prstDash val="solid"/>
          </a:ln>
        </p:spPr>
      </p:sp>
      <p:pic>
        <p:nvPicPr>
          <p:cNvPr id="2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472df1631745e1"/>
          <a:stretch xmlns:a="http://schemas.openxmlformats.org/drawingml/2006/main"/>
        </p:blipFill>
        <p:spPr>
          <a:xfrm xmlns:a="http://schemas.openxmlformats.org/drawingml/2006/main">
            <a:off x="5829300" y="6048375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38" name="Footer left">
            <a:extLst xmlns:a="http://schemas.openxmlformats.org/drawingml/2006/main">
              <a:ext uri="{FF2B5EF4-FFF2-40B4-BE49-F238E27FC236}">
                <a16:creationId xmlns:a16="http://schemas.microsoft.com/office/drawing/2014/main" id="{8A56EBEA-1BFD-4BED-AD14-3841D2C88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3817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11111"/>
                </a:solidFill>
                <a:latin typeface="Aptos"/>
                <a:ea typeface="Aptos"/>
                <a:cs typeface="Aptos"/>
              </a:rPr>
              <a:t>HAWKINS FIELD GUIDE</a:t>
            </a:r>
          </a:p>
        </p:txBody>
      </p:sp>
      <p:sp>
        <p:nvSpPr>
          <p:cNvPr id="39" name="Footer course">
            <a:extLst xmlns:a="http://schemas.openxmlformats.org/drawingml/2006/main">
              <a:ext uri="{FF2B5EF4-FFF2-40B4-BE49-F238E27FC236}">
                <a16:creationId xmlns:a16="http://schemas.microsoft.com/office/drawing/2014/main" id="{0665DD38-22E1-4EB6-A2ED-94607201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38175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 b="1" i="0">
                <a:solidFill>
                  <a:srgbClr val="101918"/>
                </a:solidFill>
                <a:latin typeface="Roboto Condensed"/>
                <a:ea typeface="Roboto Condensed"/>
                <a:cs typeface="Roboto Condensed"/>
              </a:rPr>
              <a:t/>
            </a:r>
          </a:p>
        </p:txBody>
      </p:sp>
      <p:pic>
        <p:nvPicPr>
          <p:cNvPr id="2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5048ab874e4bcd">
            <a:extLst>
              <a:ext uri="{96DAC541-7B7A-43D3-8B79-37D633B846F1}">
                <asvg:svgBlip xmlns:asvg="http://schemas.microsoft.com/office/drawing/2016/SVG/main" r:embed="R3492879fca39412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144250" y="6267450"/>
            <a:ext cx="781050" cy="361950"/>
          </a:xfrm>
          <a:prstGeom xmlns:a="http://schemas.openxmlformats.org/drawingml/2006/main" prst="rect">
            <a:avLst/>
          </a:prstGeom>
        </p:spPr>
      </p:pic>
      <p:sp>
        <p:nvSpPr>
          <p:cNvPr id="44" name="Sentence field left">
            <a:extLst xmlns:a="http://schemas.openxmlformats.org/drawingml/2006/main">
              <a:ext uri="{FF2B5EF4-FFF2-40B4-BE49-F238E27FC236}">
                <a16:creationId xmlns:a16="http://schemas.microsoft.com/office/drawing/2014/main" id="{EAAEAB90-9E4B-4B42-8E78-371A12C8D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05400"/>
            <a:ext cx="5314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5" name="Sentence field right">
            <a:extLst xmlns:a="http://schemas.openxmlformats.org/drawingml/2006/main">
              <a:ext uri="{FF2B5EF4-FFF2-40B4-BE49-F238E27FC236}">
                <a16:creationId xmlns:a16="http://schemas.microsoft.com/office/drawing/2014/main" id="{FC8EF398-B305-4F75-A76A-6FB42227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05400"/>
            <a:ext cx="5314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6" name="Sentence left">
            <a:extLst xmlns:a="http://schemas.openxmlformats.org/drawingml/2006/main">
              <a:ext uri="{FF2B5EF4-FFF2-40B4-BE49-F238E27FC236}">
                <a16:creationId xmlns:a16="http://schemas.microsoft.com/office/drawing/2014/main" id="{8F2A91C7-15BA-41B5-9BFF-52CC3AD37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62550"/>
            <a:ext cx="5219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>
                <a:solidFill>
                  <a:srgbClr val="101918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47" name="Sentence right">
            <a:extLst xmlns:a="http://schemas.openxmlformats.org/drawingml/2006/main">
              <a:ext uri="{FF2B5EF4-FFF2-40B4-BE49-F238E27FC236}">
                <a16:creationId xmlns:a16="http://schemas.microsoft.com/office/drawing/2014/main" id="{91231F4A-6506-43D0-A0A8-FEA13D98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5162550"/>
            <a:ext cx="5219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>
                <a:solidFill>
                  <a:srgbClr val="182E43"/>
                </a:solidFill>
                <a:latin typeface="Aptos"/>
                <a:ea typeface="Aptos"/>
                <a:cs typeface="Aptos"/>
              </a:defRPr>
            </a:pPr>
            <a:r>
              <a:rPr sz="1700">
                <a:solidFill>
                  <a:srgbClr val="182E43"/>
                </a:solidFill>
                <a:latin typeface="Aptos"/>
                <a:ea typeface="Aptos"/>
                <a:cs typeface="Aptos"/>
              </a:rPr>
              <a:t>Lucas is sitting </a:t>
            </a:r>
            <a:r>
              <a:rPr sz="1700" b="1" i="1">
                <a:solidFill>
                  <a:srgbClr val="182E43"/>
                </a:solidFill>
                <a:latin typeface="Aptos"/>
                <a:ea typeface="Aptos"/>
                <a:cs typeface="Aptos"/>
              </a:rPr>
              <a:t>among</a:t>
            </a:r>
            <a:r>
              <a:rPr sz="1700">
                <a:solidFill>
                  <a:srgbClr val="182E43"/>
                </a:solidFill>
                <a:latin typeface="Aptos"/>
                <a:ea typeface="Aptos"/>
                <a:cs typeface="Aptos"/>
              </a:rPr>
              <a:t> the boys.</a:t>
            </a:r>
          </a:p>
        </p:txBody>
      </p:sp>
      <p:sp>
        <p:nvSpPr>
          <p:cNvPr id="56" name="Corrected BETWEEN Cooper backing">
            <a:extLst xmlns:a="http://schemas.openxmlformats.org/drawingml/2006/main">
              <a:ext uri="{FF2B5EF4-FFF2-40B4-BE49-F238E27FC236}">
                <a16:creationId xmlns:a16="http://schemas.microsoft.com/office/drawing/2014/main" id="{6EF765F8-D1ED-402C-89A5-EA52B308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52197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Corrected BETWEEN Cooper border">
            <a:extLst xmlns:a="http://schemas.openxmlformats.org/drawingml/2006/main">
              <a:ext uri="{FF2B5EF4-FFF2-40B4-BE49-F238E27FC236}">
                <a16:creationId xmlns:a16="http://schemas.microsoft.com/office/drawing/2014/main" id="{1A52F9FE-1652-43CB-84A6-C0E0CCE0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52197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8" name="Audrey BETWEEN backing">
            <a:extLst xmlns:a="http://schemas.openxmlformats.org/drawingml/2006/main">
              <a:ext uri="{FF2B5EF4-FFF2-40B4-BE49-F238E27FC236}">
                <a16:creationId xmlns:a16="http://schemas.microsoft.com/office/drawing/2014/main" id="{1143E086-2E99-4DF6-9287-F964BBA78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52197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Audrey BETWEEN border">
            <a:extLst xmlns:a="http://schemas.openxmlformats.org/drawingml/2006/main">
              <a:ext uri="{FF2B5EF4-FFF2-40B4-BE49-F238E27FC236}">
                <a16:creationId xmlns:a16="http://schemas.microsoft.com/office/drawing/2014/main" id="{1C9BD0CB-0082-4602-BA17-33C7BB39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52197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1" name="Audrey caption backing">
            <a:extLst xmlns:a="http://schemas.openxmlformats.org/drawingml/2006/main">
              <a:ext uri="{FF2B5EF4-FFF2-40B4-BE49-F238E27FC236}">
                <a16:creationId xmlns:a16="http://schemas.microsoft.com/office/drawing/2014/main" id="{D4E30531-87D1-40D6-A1B3-2A801B55E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05400"/>
            <a:ext cx="5314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Audrey BETWEEN caption">
            <a:extLst xmlns:a="http://schemas.openxmlformats.org/drawingml/2006/main">
              <a:ext uri="{FF2B5EF4-FFF2-40B4-BE49-F238E27FC236}">
                <a16:creationId xmlns:a16="http://schemas.microsoft.com/office/drawing/2014/main" id="{162FAB8C-A2BF-4E55-AC5D-75D87F047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62550"/>
            <a:ext cx="5219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>
                <a:solidFill>
                  <a:srgbClr val="101918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83" name="Audrey BETWEEN backing">
            <a:extLst xmlns:a="http://schemas.openxmlformats.org/drawingml/2006/main">
              <a:ext uri="{FF2B5EF4-FFF2-40B4-BE49-F238E27FC236}">
                <a16:creationId xmlns:a16="http://schemas.microsoft.com/office/drawing/2014/main" id="{B80692C3-CBF4-41D9-8BF0-0BD4372D3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52197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Audrey BETWEEN border">
            <a:extLst xmlns:a="http://schemas.openxmlformats.org/drawingml/2006/main">
              <a:ext uri="{FF2B5EF4-FFF2-40B4-BE49-F238E27FC236}">
                <a16:creationId xmlns:a16="http://schemas.microsoft.com/office/drawing/2014/main" id="{D817A65A-203C-4ABC-B772-17A7041C0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52197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6" name="Audrey caption backing">
            <a:extLst xmlns:a="http://schemas.openxmlformats.org/drawingml/2006/main">
              <a:ext uri="{FF2B5EF4-FFF2-40B4-BE49-F238E27FC236}">
                <a16:creationId xmlns:a16="http://schemas.microsoft.com/office/drawing/2014/main" id="{4DE78EAF-5C3B-4F0B-8ED2-077D46AC4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05400"/>
            <a:ext cx="5314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Audrey BETWEEN caption">
            <a:extLst xmlns:a="http://schemas.openxmlformats.org/drawingml/2006/main">
              <a:ext uri="{FF2B5EF4-FFF2-40B4-BE49-F238E27FC236}">
                <a16:creationId xmlns:a16="http://schemas.microsoft.com/office/drawing/2014/main" id="{2413B943-DE2B-425B-9F4A-71BA30F40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62550"/>
            <a:ext cx="5219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>
                <a:solidFill>
                  <a:srgbClr val="182E43"/>
                </a:solidFill>
                <a:latin typeface="Aptos"/>
                <a:ea typeface="Aptos"/>
                <a:cs typeface="Aptos"/>
              </a:defRPr>
            </a:pPr>
            <a:r>
              <a:rPr sz="1700">
                <a:solidFill>
                  <a:srgbClr val="182E43"/>
                </a:solidFill>
                <a:latin typeface="Aptos"/>
                <a:ea typeface="Aptos"/>
                <a:cs typeface="Aptos"/>
              </a:rPr>
              <a:t>Eleven is standing </a:t>
            </a:r>
            <a:r>
              <a:rPr sz="1700" b="1" i="1">
                <a:solidFill>
                  <a:srgbClr val="182E43"/>
                </a:solidFill>
                <a:latin typeface="Aptos"/>
                <a:ea typeface="Aptos"/>
                <a:cs typeface="Aptos"/>
              </a:rPr>
              <a:t>between</a:t>
            </a:r>
            <a:r>
              <a:rPr sz="1700">
                <a:solidFill>
                  <a:srgbClr val="182E43"/>
                </a:solidFill>
                <a:latin typeface="Aptos"/>
                <a:ea typeface="Aptos"/>
                <a:cs typeface="Aptos"/>
              </a:rPr>
              <a:t> Mike and Dustin.</a:t>
            </a:r>
          </a:p>
        </p:txBody>
      </p:sp>
      <p:sp>
        <p:nvSpPr>
          <p:cNvPr id="99" name="Pink Audrey BETWEEN backing">
            <a:extLst xmlns:a="http://schemas.openxmlformats.org/drawingml/2006/main">
              <a:ext uri="{FF2B5EF4-FFF2-40B4-BE49-F238E27FC236}">
                <a16:creationId xmlns:a16="http://schemas.microsoft.com/office/drawing/2014/main" id="{7B57B846-F88C-430B-86F5-9015496D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52197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f39075866e434c"/>
          <a:srcRect xmlns:a="http://schemas.openxmlformats.org/drawingml/2006/main" l="0" t="762" r="0" b="7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476250" y="1676400"/>
            <a:ext cx="5219700" cy="3429000"/>
          </a:xfrm>
          <a:prstGeom xmlns:a="http://schemas.openxmlformats.org/drawingml/2006/main" prst="rect">
            <a:avLst/>
          </a:prstGeom>
        </p:spPr>
      </p:pic>
      <p:sp>
        <p:nvSpPr>
          <p:cNvPr id="101" name="Pink Audrey BETWEEN border">
            <a:extLst xmlns:a="http://schemas.openxmlformats.org/drawingml/2006/main">
              <a:ext uri="{FF2B5EF4-FFF2-40B4-BE49-F238E27FC236}">
                <a16:creationId xmlns:a16="http://schemas.microsoft.com/office/drawing/2014/main" id="{8C573F42-173B-4BF7-988E-F49BE636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52197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4" name="Clean emblem background">
            <a:extLst xmlns:a="http://schemas.openxmlformats.org/drawingml/2006/main">
              <a:ext uri="{FF2B5EF4-FFF2-40B4-BE49-F238E27FC236}">
                <a16:creationId xmlns:a16="http://schemas.microsoft.com/office/drawing/2014/main" id="{1A94FB0F-E81A-46ED-A797-DCCA42AE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6010275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5b57a104d846be">
            <a:extLst>
              <a:ext uri="{96DAC541-7B7A-43D3-8B79-37D633B846F1}">
                <asvg:svgBlip xmlns:asvg="http://schemas.microsoft.com/office/drawing/2016/SVG/main" r:embed="Rb26b0a31f3884d6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829300" y="6048375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128" name="Dictaphone Cooper AMONG backing">
            <a:extLst xmlns:a="http://schemas.openxmlformats.org/drawingml/2006/main">
              <a:ext uri="{FF2B5EF4-FFF2-40B4-BE49-F238E27FC236}">
                <a16:creationId xmlns:a16="http://schemas.microsoft.com/office/drawing/2014/main" id="{3E199F8D-A797-4B5E-B595-0E7961AE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76400"/>
            <a:ext cx="52197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Dictaphone Cooper AMONG border">
            <a:extLst xmlns:a="http://schemas.openxmlformats.org/drawingml/2006/main">
              <a:ext uri="{FF2B5EF4-FFF2-40B4-BE49-F238E27FC236}">
                <a16:creationId xmlns:a16="http://schemas.microsoft.com/office/drawing/2014/main" id="{A9824B0F-0EB3-4F2E-BB7A-01DDFEA67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76400"/>
            <a:ext cx="52197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5" name="Previous Cooper dictaphone backing">
            <a:extLst xmlns:a="http://schemas.openxmlformats.org/drawingml/2006/main">
              <a:ext uri="{FF2B5EF4-FFF2-40B4-BE49-F238E27FC236}">
                <a16:creationId xmlns:a16="http://schemas.microsoft.com/office/drawing/2014/main" id="{79A821C6-1B5A-4B23-9263-39218239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76400"/>
            <a:ext cx="52197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612ad4fc3e494e"/>
          <a:srcRect xmlns:a="http://schemas.openxmlformats.org/drawingml/2006/main" l="0" t="762" r="0" b="7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496050" y="1676400"/>
            <a:ext cx="5219700" cy="3429000"/>
          </a:xfrm>
          <a:prstGeom xmlns:a="http://schemas.openxmlformats.org/drawingml/2006/main" prst="rect">
            <a:avLst/>
          </a:prstGeom>
        </p:spPr>
      </p:pic>
      <p:sp>
        <p:nvSpPr>
          <p:cNvPr id="147" name="Previous Cooper dictaphone border">
            <a:extLst xmlns:a="http://schemas.openxmlformats.org/drawingml/2006/main">
              <a:ext uri="{FF2B5EF4-FFF2-40B4-BE49-F238E27FC236}">
                <a16:creationId xmlns:a16="http://schemas.microsoft.com/office/drawing/2014/main" id="{ECC7A908-DF8D-4509-A01F-B14C1B910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76400"/>
            <a:ext cx="52197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3" name="Cover emblem clean background">
            <a:extLst xmlns:a="http://schemas.openxmlformats.org/drawingml/2006/main">
              <a:ext uri="{FF2B5EF4-FFF2-40B4-BE49-F238E27FC236}">
                <a16:creationId xmlns:a16="http://schemas.microsoft.com/office/drawing/2014/main" id="{723BD0B1-BF53-4034-B1C8-0B8E39DF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6010275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59afdabd3d4d7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29300" y="6048375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180" name="Basic course header clean backing">
            <a:extLst xmlns:a="http://schemas.openxmlformats.org/drawingml/2006/main">
              <a:ext uri="{FF2B5EF4-FFF2-40B4-BE49-F238E27FC236}">
                <a16:creationId xmlns:a16="http://schemas.microsoft.com/office/drawing/2014/main" id="{6A12997E-8AC7-4053-9163-E030E413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"/>
            <a:ext cx="32861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" name="Basic course running header">
            <a:extLst xmlns:a="http://schemas.openxmlformats.org/drawingml/2006/main">
              <a:ext uri="{FF2B5EF4-FFF2-40B4-BE49-F238E27FC236}">
                <a16:creationId xmlns:a16="http://schemas.microsoft.com/office/drawing/2014/main" id="{D0F6EBCF-4D1D-4091-B7BD-D6CF85163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82E43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82E43"/>
                </a:solidFill>
                <a:latin typeface="Aptos"/>
                <a:ea typeface="Aptos"/>
                <a:cs typeface="Aptos"/>
              </a:rPr>
              <a:t>FORBES ENGLISH • PREPOSITIONS</a:t>
            </a:r>
          </a:p>
        </p:txBody>
      </p:sp>
      <p:sp>
        <p:nvSpPr>
          <p:cNvPr id="182" name="Usage note left backing">
            <a:extLst xmlns:a="http://schemas.openxmlformats.org/drawingml/2006/main">
              <a:ext uri="{FF2B5EF4-FFF2-40B4-BE49-F238E27FC236}">
                <a16:creationId xmlns:a16="http://schemas.microsoft.com/office/drawing/2014/main" id="{BE8C9276-92D9-4237-9262-A69F7564E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76900"/>
            <a:ext cx="53149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" name="Usage note left">
            <a:extLst xmlns:a="http://schemas.openxmlformats.org/drawingml/2006/main">
              <a:ext uri="{FF2B5EF4-FFF2-40B4-BE49-F238E27FC236}">
                <a16:creationId xmlns:a16="http://schemas.microsoft.com/office/drawing/2014/main" id="{7F9F24C6-7301-42C9-8998-96060217D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516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 i="0">
                <a:solidFill>
                  <a:srgbClr val="505653"/>
                </a:solidFill>
                <a:latin typeface="Aptos"/>
                <a:ea typeface="Aptos"/>
                <a:cs typeface="Aptos"/>
              </a:rPr>
              <a:t>Use between for a position separating two distinct people or things.</a:t>
            </a:r>
          </a:p>
        </p:txBody>
      </p:sp>
      <p:sp>
        <p:nvSpPr>
          <p:cNvPr id="184" name="Usage note right backing">
            <a:extLst xmlns:a="http://schemas.openxmlformats.org/drawingml/2006/main">
              <a:ext uri="{FF2B5EF4-FFF2-40B4-BE49-F238E27FC236}">
                <a16:creationId xmlns:a16="http://schemas.microsoft.com/office/drawing/2014/main" id="{642D2152-5735-4577-819B-B40E0BBC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676900"/>
            <a:ext cx="53149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" name="Usage note right">
            <a:extLst xmlns:a="http://schemas.openxmlformats.org/drawingml/2006/main">
              <a:ext uri="{FF2B5EF4-FFF2-40B4-BE49-F238E27FC236}">
                <a16:creationId xmlns:a16="http://schemas.microsoft.com/office/drawing/2014/main" id="{749628E7-616F-42FA-8024-F7831775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715000"/>
            <a:ext cx="516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 i="0">
                <a:solidFill>
                  <a:srgbClr val="505653"/>
                </a:solidFill>
                <a:latin typeface="Aptos"/>
                <a:ea typeface="Aptos"/>
                <a:cs typeface="Aptos"/>
              </a:rPr>
              <a:t>Use among when someone or something is surrounded by a group.</a:t>
            </a:r>
          </a:p>
        </p:txBody>
      </p:sp>
      <p:sp>
        <p:nvSpPr>
          <p:cNvPr id="202" name="Italic usage note left backing">
            <a:extLst xmlns:a="http://schemas.openxmlformats.org/drawingml/2006/main">
              <a:ext uri="{FF2B5EF4-FFF2-40B4-BE49-F238E27FC236}">
                <a16:creationId xmlns:a16="http://schemas.microsoft.com/office/drawing/2014/main" id="{E70406CB-6031-4E50-A36E-E70B0E93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76900"/>
            <a:ext cx="53149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" name="Italic usage note left">
            <a:extLst xmlns:a="http://schemas.openxmlformats.org/drawingml/2006/main">
              <a:ext uri="{FF2B5EF4-FFF2-40B4-BE49-F238E27FC236}">
                <a16:creationId xmlns:a16="http://schemas.microsoft.com/office/drawing/2014/main" id="{077CBA51-C008-4FF5-B9C0-03A044BCB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516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9139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>
                <a:solidFill>
                  <a:srgbClr val="182E43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182E43"/>
                </a:solidFill>
                <a:latin typeface="Aptos"/>
                <a:ea typeface="Aptos"/>
                <a:cs typeface="Aptos"/>
              </a:rPr>
              <a:t>Use </a:t>
            </a:r>
            <a:r>
              <a:rPr sz="1600" b="1" i="1">
                <a:solidFill>
                  <a:srgbClr val="182E43"/>
                </a:solidFill>
                <a:latin typeface="Aptos"/>
                <a:ea typeface="Aptos"/>
                <a:cs typeface="Aptos"/>
              </a:rPr>
              <a:t>between</a:t>
            </a:r>
            <a:r>
              <a:rPr sz="1600">
                <a:solidFill>
                  <a:srgbClr val="182E43"/>
                </a:solidFill>
                <a:latin typeface="Aptos"/>
                <a:ea typeface="Aptos"/>
                <a:cs typeface="Aptos"/>
              </a:rPr>
              <a:t> for a position separating two distinct people or things.</a:t>
            </a:r>
          </a:p>
        </p:txBody>
      </p:sp>
      <p:sp>
        <p:nvSpPr>
          <p:cNvPr id="204" name="Italic usage note right backing">
            <a:extLst xmlns:a="http://schemas.openxmlformats.org/drawingml/2006/main">
              <a:ext uri="{FF2B5EF4-FFF2-40B4-BE49-F238E27FC236}">
                <a16:creationId xmlns:a16="http://schemas.microsoft.com/office/drawing/2014/main" id="{9476422A-58B6-44B9-8678-EA237A05E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676900"/>
            <a:ext cx="53149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" name="Italic usage note right">
            <a:extLst xmlns:a="http://schemas.openxmlformats.org/drawingml/2006/main">
              <a:ext uri="{FF2B5EF4-FFF2-40B4-BE49-F238E27FC236}">
                <a16:creationId xmlns:a16="http://schemas.microsoft.com/office/drawing/2014/main" id="{265B859A-F43C-4963-BA69-6CEDC4FD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715000"/>
            <a:ext cx="516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9180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>
                <a:solidFill>
                  <a:srgbClr val="182E43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182E43"/>
                </a:solidFill>
                <a:latin typeface="Aptos"/>
                <a:ea typeface="Aptos"/>
                <a:cs typeface="Aptos"/>
              </a:rPr>
              <a:t>Use </a:t>
            </a:r>
            <a:r>
              <a:rPr sz="1600" b="1" i="1">
                <a:solidFill>
                  <a:srgbClr val="182E43"/>
                </a:solidFill>
                <a:latin typeface="Aptos"/>
                <a:ea typeface="Aptos"/>
                <a:cs typeface="Aptos"/>
              </a:rPr>
              <a:t>among</a:t>
            </a:r>
            <a:r>
              <a:rPr sz="1600">
                <a:solidFill>
                  <a:srgbClr val="182E43"/>
                </a:solidFill>
                <a:latin typeface="Aptos"/>
                <a:ea typeface="Aptos"/>
                <a:cs typeface="Aptos"/>
              </a:rPr>
              <a:t> when someone or something is surrounded by a group.</a:t>
            </a:r>
          </a:p>
        </p:txBody>
      </p:sp>
      <p:sp>
        <p:nvSpPr>
          <p:cNvPr id="206" name="Forbes English footer clean backing">
            <a:extLst xmlns:a="http://schemas.openxmlformats.org/drawingml/2006/main">
              <a:ext uri="{FF2B5EF4-FFF2-40B4-BE49-F238E27FC236}">
                <a16:creationId xmlns:a16="http://schemas.microsoft.com/office/drawing/2014/main" id="{99816891-A819-4928-A5F6-35D2F44D7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76975"/>
            <a:ext cx="9144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" name="Forbes English footer wordmark">
            <a:extLst xmlns:a="http://schemas.openxmlformats.org/drawingml/2006/main">
              <a:ext uri="{FF2B5EF4-FFF2-40B4-BE49-F238E27FC236}">
                <a16:creationId xmlns:a16="http://schemas.microsoft.com/office/drawing/2014/main" id="{65FF9346-5BB2-40BC-8A54-5800A106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15075"/>
            <a:ext cx="733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i="0">
                <a:solidFill>
                  <a:srgbClr val="101918"/>
                </a:solidFill>
                <a:latin typeface="Georgia"/>
                <a:ea typeface="Georgia"/>
                <a:cs typeface="Georgia"/>
              </a:rPr>
              <a:t>Forbes</a:t>
            </a:r>
          </a:p>
        </p:txBody>
      </p:sp>
      <p:sp>
        <p:nvSpPr>
          <p:cNvPr id="208" name="Forbes English footer second line">
            <a:extLst xmlns:a="http://schemas.openxmlformats.org/drawingml/2006/main">
              <a:ext uri="{FF2B5EF4-FFF2-40B4-BE49-F238E27FC236}">
                <a16:creationId xmlns:a16="http://schemas.microsoft.com/office/drawing/2014/main" id="{68AC44AD-2BCA-4158-9D23-0BBF72BF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477000"/>
            <a:ext cx="7334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50" b="1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ENGLISH</a:t>
            </a:r>
          </a:p>
        </p:txBody>
      </p:sp>
    </p:spTree>
    <p:extLst>
      <p:ext uri="{BB962C8B-B14F-4D97-AF65-F5344CB8AC3E}">
        <p14:creationId xmlns:p14="http://schemas.microsoft.com/office/powerpoint/2010/main" val="10004108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D9E1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mask left">
            <a:extLst xmlns:a="http://schemas.openxmlformats.org/drawingml/2006/main">
              <a:ext uri="{FF2B5EF4-FFF2-40B4-BE49-F238E27FC236}">
                <a16:creationId xmlns:a16="http://schemas.microsoft.com/office/drawing/2014/main" id="{327B153E-129A-40E3-B0B8-D62EB14A5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53054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 mask right">
            <a:extLst xmlns:a="http://schemas.openxmlformats.org/drawingml/2006/main">
              <a:ext uri="{FF2B5EF4-FFF2-40B4-BE49-F238E27FC236}">
                <a16:creationId xmlns:a16="http://schemas.microsoft.com/office/drawing/2014/main" id="{1E536195-DD56-4B7C-AEFE-4F79E7F4F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71500"/>
            <a:ext cx="53054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arget title left">
            <a:extLst xmlns:a="http://schemas.openxmlformats.org/drawingml/2006/main">
              <a:ext uri="{FF2B5EF4-FFF2-40B4-BE49-F238E27FC236}">
                <a16:creationId xmlns:a16="http://schemas.microsoft.com/office/drawing/2014/main" id="{6CA2079D-5BA0-4696-B25C-AF8C258AA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1520"/>
            <a:ext cx="5074920" cy="658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>
                <a:solidFill>
                  <a:srgbClr val="C9C5BD"/>
                </a:solidFill>
              </a:defRPr>
            </a:pPr>
            <a:r>
              <a:rPr sz="4300" b="1">
                <a:ln w="10478">
                  <a:solidFill>
                    <a:srgbClr val="303437"/>
                  </a:solidFill>
                  <a:prstDash val="solid"/>
                </a:ln>
                <a:solidFill>
                  <a:srgbClr val="C9C5BD"/>
                </a:solidFill>
                <a:latin typeface="Noto Sans Display Condensed"/>
                <a:ea typeface="Noto Sans Display Condensed"/>
                <a:cs typeface="Noto Sans Display Condensed"/>
              </a:rPr>
              <a:t>IN FRONT OF</a:t>
            </a:r>
          </a:p>
        </p:txBody>
      </p:sp>
      <p:sp>
        <p:nvSpPr>
          <p:cNvPr id="5" name="Target title right">
            <a:extLst xmlns:a="http://schemas.openxmlformats.org/drawingml/2006/main">
              <a:ext uri="{FF2B5EF4-FFF2-40B4-BE49-F238E27FC236}">
                <a16:creationId xmlns:a16="http://schemas.microsoft.com/office/drawing/2014/main" id="{8BD15FF3-D10B-44AD-A4E0-432E7973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731520"/>
            <a:ext cx="5074920" cy="658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>
                <a:solidFill>
                  <a:srgbClr val="C9C5BD"/>
                </a:solidFill>
              </a:defRPr>
            </a:pPr>
            <a:r>
              <a:rPr sz="4300" b="1">
                <a:ln w="10478">
                  <a:solidFill>
                    <a:srgbClr val="303437"/>
                  </a:solidFill>
                  <a:prstDash val="solid"/>
                </a:ln>
                <a:solidFill>
                  <a:srgbClr val="C9C5BD"/>
                </a:solidFill>
                <a:latin typeface="Noto Sans Display Condensed"/>
                <a:ea typeface="Noto Sans Display Condensed"/>
                <a:cs typeface="Noto Sans Display Condensed"/>
              </a:rPr>
              <a:t>BEHIND</a:t>
            </a:r>
          </a:p>
        </p:txBody>
      </p:sp>
      <p:sp>
        <p:nvSpPr>
          <p:cNvPr id="6" name="Sentence mask left">
            <a:extLst xmlns:a="http://schemas.openxmlformats.org/drawingml/2006/main">
              <a:ext uri="{FF2B5EF4-FFF2-40B4-BE49-F238E27FC236}">
                <a16:creationId xmlns:a16="http://schemas.microsoft.com/office/drawing/2014/main" id="{F5635A14-2B8A-4028-8881-5A3D9E596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95875"/>
            <a:ext cx="528637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entence mask right">
            <a:extLst xmlns:a="http://schemas.openxmlformats.org/drawingml/2006/main">
              <a:ext uri="{FF2B5EF4-FFF2-40B4-BE49-F238E27FC236}">
                <a16:creationId xmlns:a16="http://schemas.microsoft.com/office/drawing/2014/main" id="{779724B8-C292-4BC7-8252-FDBCAD38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095875"/>
            <a:ext cx="528637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entence left">
            <a:extLst xmlns:a="http://schemas.openxmlformats.org/drawingml/2006/main">
              <a:ext uri="{FF2B5EF4-FFF2-40B4-BE49-F238E27FC236}">
                <a16:creationId xmlns:a16="http://schemas.microsoft.com/office/drawing/2014/main" id="{382BC342-03F8-437D-AF97-1C04004B1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5212080"/>
            <a:ext cx="5102352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>
                <a:solidFill>
                  <a:srgbClr val="101918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9" name="Sentence right">
            <a:extLst xmlns:a="http://schemas.openxmlformats.org/drawingml/2006/main">
              <a:ext uri="{FF2B5EF4-FFF2-40B4-BE49-F238E27FC236}">
                <a16:creationId xmlns:a16="http://schemas.microsoft.com/office/drawing/2014/main" id="{764C8073-0845-4A44-8E30-1C908FAC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384" y="5212080"/>
            <a:ext cx="5102352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>
                <a:solidFill>
                  <a:srgbClr val="101918"/>
                </a:solidFill>
                <a:latin typeface="Aptos"/>
                <a:ea typeface="Aptos"/>
                <a:cs typeface="Aptos"/>
              </a:rPr>
              <a:t>Leland Palmer is standing </a:t>
            </a:r>
            <a:r>
              <a:rPr sz="1700" b="1" i="1">
                <a:solidFill>
                  <a:srgbClr val="8A1A1E"/>
                </a:solidFill>
                <a:latin typeface="Georgia"/>
                <a:ea typeface="Georgia"/>
                <a:cs typeface="Georgia"/>
              </a:rPr>
              <a:t>behind</a:t>
            </a:r>
            <a:r>
              <a:rPr sz="1700">
                <a:solidFill>
                  <a:srgbClr val="101918"/>
                </a:solidFill>
                <a:latin typeface="Aptos"/>
                <a:ea typeface="Aptos"/>
                <a:cs typeface="Aptos"/>
              </a:rPr>
              <a:t> bars.</a:t>
            </a:r>
          </a:p>
        </p:txBody>
      </p:sp>
      <p:sp>
        <p:nvSpPr>
          <p:cNvPr id="11" name="Slide 4 system background">
            <a:extLst xmlns:a="http://schemas.openxmlformats.org/drawingml/2006/main">
              <a:ext uri="{FF2B5EF4-FFF2-40B4-BE49-F238E27FC236}">
                <a16:creationId xmlns:a16="http://schemas.microsoft.com/office/drawing/2014/main" id="{F7AA49BE-9E7E-4B22-9DB8-E89051F09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16B8C807-BF8B-4662-BDD9-2F1B766E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219456"/>
            <a:ext cx="210312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777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90111C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90111C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Header separator">
            <a:extLst xmlns:a="http://schemas.openxmlformats.org/drawingml/2006/main">
              <a:ext uri="{FF2B5EF4-FFF2-40B4-BE49-F238E27FC236}">
                <a16:creationId xmlns:a16="http://schemas.microsoft.com/office/drawing/2014/main" id="{E2072582-3FF8-44D1-ACD4-CEB121618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1168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01918"/>
            </a:solidFill>
            <a:prstDash val="solid"/>
          </a:ln>
        </p:spPr>
      </p:sp>
      <p:sp>
        <p:nvSpPr>
          <p:cNvPr id="14" name="Running header">
            <a:extLst xmlns:a="http://schemas.openxmlformats.org/drawingml/2006/main">
              <a:ext uri="{FF2B5EF4-FFF2-40B4-BE49-F238E27FC236}">
                <a16:creationId xmlns:a16="http://schemas.microsoft.com/office/drawing/2014/main" id="{DBAA70C0-4FDB-44F7-812A-A2B8537B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10312"/>
            <a:ext cx="2971800" cy="210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82E43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82E43"/>
                </a:solidFill>
                <a:latin typeface="Aptos"/>
                <a:ea typeface="Aptos"/>
                <a:cs typeface="Aptos"/>
              </a:rPr>
              <a:t>FORBES ENGLISH • PREPOSITIONS</a:t>
            </a:r>
          </a:p>
        </p:txBody>
      </p:sp>
      <p:sp>
        <p:nvSpPr>
          <p:cNvPr id="15" name="Centre divider">
            <a:extLst xmlns:a="http://schemas.openxmlformats.org/drawingml/2006/main">
              <a:ext uri="{FF2B5EF4-FFF2-40B4-BE49-F238E27FC236}">
                <a16:creationId xmlns:a16="http://schemas.microsoft.com/office/drawing/2014/main" id="{15D816F5-99EB-4C0E-AC58-6252F909F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429" y="502920"/>
            <a:ext cx="0" cy="52760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7390"/>
            </a:solidFill>
            <a:prstDash val="solid"/>
          </a:ln>
        </p:spPr>
      </p:sp>
      <p:sp>
        <p:nvSpPr>
          <p:cNvPr id="16" name="Centre diamond">
            <a:extLst xmlns:a="http://schemas.openxmlformats.org/drawingml/2006/main">
              <a:ext uri="{FF2B5EF4-FFF2-40B4-BE49-F238E27FC236}">
                <a16:creationId xmlns:a16="http://schemas.microsoft.com/office/drawing/2014/main" id="{FCBA72C9-05B4-4C57-BDCC-5D87BEA0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7705" y="3136392"/>
            <a:ext cx="155448" cy="155448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1073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arget title left">
            <a:extLst xmlns:a="http://schemas.openxmlformats.org/drawingml/2006/main">
              <a:ext uri="{FF2B5EF4-FFF2-40B4-BE49-F238E27FC236}">
                <a16:creationId xmlns:a16="http://schemas.microsoft.com/office/drawing/2014/main" id="{0378AEFA-0905-4AC7-A3FB-1B4F69746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1520"/>
            <a:ext cx="5074920" cy="658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300" b="1">
                <a:solidFill>
                  <a:srgbClr val="C9C5BD"/>
                </a:solidFill>
                <a:latin typeface="Noto Sans Display Condensed"/>
                <a:ea typeface="Noto Sans Display Condensed"/>
                <a:cs typeface="Noto Sans Display Condensed"/>
              </a:defRPr>
            </a:pPr>
            <a:r>
              <a:rPr sz="4300" b="1" i="0">
                <a:ln w="10478">
                  <a:solidFill>
                    <a:srgbClr val="303437"/>
                  </a:solidFill>
                  <a:prstDash val="solid"/>
                </a:ln>
                <a:solidFill>
                  <a:srgbClr val="C9C5BD"/>
                </a:solidFill>
                <a:latin typeface="Noto Sans Display Condensed"/>
                <a:ea typeface="Noto Sans Display Condensed"/>
                <a:cs typeface="Noto Sans Display Condensed"/>
              </a:rPr>
              <a:t>IN FRONT OF</a:t>
            </a:r>
          </a:p>
        </p:txBody>
      </p:sp>
      <p:sp>
        <p:nvSpPr>
          <p:cNvPr id="18" name="Target title right">
            <a:extLst xmlns:a="http://schemas.openxmlformats.org/drawingml/2006/main">
              <a:ext uri="{FF2B5EF4-FFF2-40B4-BE49-F238E27FC236}">
                <a16:creationId xmlns:a16="http://schemas.microsoft.com/office/drawing/2014/main" id="{37EB72E8-C15F-4ACE-9191-53C5BC1FC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731520"/>
            <a:ext cx="5074920" cy="658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300" b="1">
                <a:solidFill>
                  <a:srgbClr val="C9C5BD"/>
                </a:solidFill>
                <a:latin typeface="Noto Sans Display Condensed"/>
                <a:ea typeface="Noto Sans Display Condensed"/>
                <a:cs typeface="Noto Sans Display Condensed"/>
              </a:defRPr>
            </a:pPr>
            <a:r>
              <a:rPr sz="4300" b="1" i="0">
                <a:ln w="10478">
                  <a:solidFill>
                    <a:srgbClr val="303437"/>
                  </a:solidFill>
                  <a:prstDash val="solid"/>
                </a:ln>
                <a:solidFill>
                  <a:srgbClr val="C9C5BD"/>
                </a:solidFill>
                <a:latin typeface="Noto Sans Display Condensed"/>
                <a:ea typeface="Noto Sans Display Condensed"/>
                <a:cs typeface="Noto Sans Display Condensed"/>
              </a:rPr>
              <a:t>BEHIND</a:t>
            </a:r>
          </a:p>
        </p:txBody>
      </p:sp>
      <p:sp>
        <p:nvSpPr>
          <p:cNvPr id="19" name="Footer line left">
            <a:extLst xmlns:a="http://schemas.openxmlformats.org/drawingml/2006/main">
              <a:ext uri="{FF2B5EF4-FFF2-40B4-BE49-F238E27FC236}">
                <a16:creationId xmlns:a16="http://schemas.microsoft.com/office/drawing/2014/main" id="{96F8359F-8499-4E10-8701-B2F32CA05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238875"/>
            <a:ext cx="538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7390"/>
            </a:solidFill>
            <a:prstDash val="solid"/>
          </a:ln>
        </p:spPr>
      </p:sp>
      <p:sp>
        <p:nvSpPr>
          <p:cNvPr id="20" name="Footer line right">
            <a:extLst xmlns:a="http://schemas.openxmlformats.org/drawingml/2006/main">
              <a:ext uri="{FF2B5EF4-FFF2-40B4-BE49-F238E27FC236}">
                <a16:creationId xmlns:a16="http://schemas.microsoft.com/office/drawing/2014/main" id="{B837A3D5-16A2-4B24-8AC5-6623B4362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6238875"/>
            <a:ext cx="538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7390"/>
            </a:solidFill>
            <a:prstDash val="solid"/>
          </a:ln>
        </p:spPr>
      </p:sp>
      <p:pic>
        <p:nvPicPr>
          <p:cNvPr id="1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cab497ba844679"/>
          <a:stretch xmlns:a="http://schemas.openxmlformats.org/drawingml/2006/main"/>
        </p:blipFill>
        <p:spPr>
          <a:xfrm xmlns:a="http://schemas.openxmlformats.org/drawingml/2006/main">
            <a:off x="5829300" y="6048375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22" name="Footer left">
            <a:extLst xmlns:a="http://schemas.openxmlformats.org/drawingml/2006/main">
              <a:ext uri="{FF2B5EF4-FFF2-40B4-BE49-F238E27FC236}">
                <a16:creationId xmlns:a16="http://schemas.microsoft.com/office/drawing/2014/main" id="{B1786B82-2256-4632-8A76-4D6434F6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3817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11111"/>
                </a:solidFill>
                <a:latin typeface="Aptos"/>
                <a:ea typeface="Aptos"/>
                <a:cs typeface="Aptos"/>
              </a:rPr>
              <a:t>HAWKINS FIELD GUIDE</a:t>
            </a:r>
          </a:p>
        </p:txBody>
      </p:sp>
      <p:sp>
        <p:nvSpPr>
          <p:cNvPr id="23" name="Footer course">
            <a:extLst xmlns:a="http://schemas.openxmlformats.org/drawingml/2006/main">
              <a:ext uri="{FF2B5EF4-FFF2-40B4-BE49-F238E27FC236}">
                <a16:creationId xmlns:a16="http://schemas.microsoft.com/office/drawing/2014/main" id="{E460F04F-FFFB-493E-92F5-82BD6DD07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38175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 b="1" i="0">
                <a:solidFill>
                  <a:srgbClr val="101918"/>
                </a:solidFill>
                <a:latin typeface="Roboto Condensed"/>
                <a:ea typeface="Roboto Condensed"/>
                <a:cs typeface="Roboto Condensed"/>
              </a:rPr>
              <a:t/>
            </a:r>
          </a:p>
        </p:txBody>
      </p:sp>
      <p:pic>
        <p:nvPicPr>
          <p:cNvPr id="1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f00d64a966418a">
            <a:extLst>
              <a:ext uri="{96DAC541-7B7A-43D3-8B79-37D633B846F1}">
                <asvg:svgBlip xmlns:asvg="http://schemas.microsoft.com/office/drawing/2016/SVG/main" r:embed="Re20b10d0b7204b7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144250" y="6267450"/>
            <a:ext cx="781050" cy="361950"/>
          </a:xfrm>
          <a:prstGeom xmlns:a="http://schemas.openxmlformats.org/drawingml/2006/main" prst="rect">
            <a:avLst/>
          </a:prstGeom>
        </p:spPr>
      </p:pic>
      <p:pic>
        <p:nvPicPr>
          <p:cNvPr id="1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6b14fc25bf4c8f"/>
          <a:srcRect xmlns:a="http://schemas.openxmlformats.org/drawingml/2006/main" l="0" t="762" r="0" b="7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496050" y="1676400"/>
            <a:ext cx="5219700" cy="3429000"/>
          </a:xfrm>
          <a:prstGeom xmlns:a="http://schemas.openxmlformats.org/drawingml/2006/main" prst="rect">
            <a:avLst/>
          </a:prstGeom>
        </p:spPr>
      </p:pic>
      <p:sp>
        <p:nvSpPr>
          <p:cNvPr id="28" name="Sentence field left">
            <a:extLst xmlns:a="http://schemas.openxmlformats.org/drawingml/2006/main">
              <a:ext uri="{FF2B5EF4-FFF2-40B4-BE49-F238E27FC236}">
                <a16:creationId xmlns:a16="http://schemas.microsoft.com/office/drawing/2014/main" id="{0D24781C-E46F-402A-859C-766A73A37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05400"/>
            <a:ext cx="5314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Sentence field right">
            <a:extLst xmlns:a="http://schemas.openxmlformats.org/drawingml/2006/main">
              <a:ext uri="{FF2B5EF4-FFF2-40B4-BE49-F238E27FC236}">
                <a16:creationId xmlns:a16="http://schemas.microsoft.com/office/drawing/2014/main" id="{EBE03305-0087-498F-AA53-FDB8E36B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05400"/>
            <a:ext cx="5314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Sentence left">
            <a:extLst xmlns:a="http://schemas.openxmlformats.org/drawingml/2006/main">
              <a:ext uri="{FF2B5EF4-FFF2-40B4-BE49-F238E27FC236}">
                <a16:creationId xmlns:a16="http://schemas.microsoft.com/office/drawing/2014/main" id="{8CA244FD-92DC-43F6-8EBF-29E0458DE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62550"/>
            <a:ext cx="5219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>
                <a:solidFill>
                  <a:srgbClr val="182E43"/>
                </a:solidFill>
                <a:latin typeface="Aptos"/>
                <a:ea typeface="Aptos"/>
                <a:cs typeface="Aptos"/>
              </a:defRPr>
            </a:pPr>
            <a:r>
              <a:rPr sz="1700">
                <a:solidFill>
                  <a:srgbClr val="182E43"/>
                </a:solidFill>
                <a:latin typeface="Aptos"/>
                <a:ea typeface="Aptos"/>
                <a:cs typeface="Aptos"/>
              </a:rPr>
              <a:t>Hopper is standing </a:t>
            </a:r>
            <a:r>
              <a:rPr sz="1700" b="1" i="1">
                <a:solidFill>
                  <a:srgbClr val="182E43"/>
                </a:solidFill>
                <a:latin typeface="Aptos"/>
                <a:ea typeface="Aptos"/>
                <a:cs typeface="Aptos"/>
              </a:rPr>
              <a:t>in front of</a:t>
            </a:r>
            <a:r>
              <a:rPr sz="1700">
                <a:solidFill>
                  <a:srgbClr val="182E43"/>
                </a:solidFill>
                <a:latin typeface="Aptos"/>
                <a:ea typeface="Aptos"/>
                <a:cs typeface="Aptos"/>
              </a:rPr>
              <a:t> the police station.</a:t>
            </a:r>
          </a:p>
        </p:txBody>
      </p:sp>
      <p:sp>
        <p:nvSpPr>
          <p:cNvPr id="31" name="Sentence right">
            <a:extLst xmlns:a="http://schemas.openxmlformats.org/drawingml/2006/main">
              <a:ext uri="{FF2B5EF4-FFF2-40B4-BE49-F238E27FC236}">
                <a16:creationId xmlns:a16="http://schemas.microsoft.com/office/drawing/2014/main" id="{66540E37-D6ED-4874-85C5-A5878674B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5162550"/>
            <a:ext cx="5219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>
                <a:solidFill>
                  <a:srgbClr val="182E43"/>
                </a:solidFill>
                <a:latin typeface="Aptos"/>
                <a:ea typeface="Aptos"/>
                <a:cs typeface="Aptos"/>
              </a:defRPr>
            </a:pPr>
            <a:r>
              <a:rPr sz="1700">
                <a:solidFill>
                  <a:srgbClr val="182E43"/>
                </a:solidFill>
                <a:latin typeface="Aptos"/>
                <a:ea typeface="Aptos"/>
                <a:cs typeface="Aptos"/>
              </a:rPr>
              <a:t>Dr Brenner is standing </a:t>
            </a:r>
            <a:r>
              <a:rPr sz="1700" b="1" i="1">
                <a:solidFill>
                  <a:srgbClr val="182E43"/>
                </a:solidFill>
                <a:latin typeface="Aptos"/>
                <a:ea typeface="Aptos"/>
                <a:cs typeface="Aptos"/>
              </a:rPr>
              <a:t>behind</a:t>
            </a:r>
            <a:r>
              <a:rPr sz="1700">
                <a:solidFill>
                  <a:srgbClr val="182E43"/>
                </a:solidFill>
                <a:latin typeface="Aptos"/>
                <a:ea typeface="Aptos"/>
                <a:cs typeface="Aptos"/>
              </a:rPr>
              <a:t> the observation glass.</a:t>
            </a:r>
          </a:p>
        </p:txBody>
      </p:sp>
      <p:sp>
        <p:nvSpPr>
          <p:cNvPr id="37" name="Corrected Cooper panel backing">
            <a:extLst xmlns:a="http://schemas.openxmlformats.org/drawingml/2006/main">
              <a:ext uri="{FF2B5EF4-FFF2-40B4-BE49-F238E27FC236}">
                <a16:creationId xmlns:a16="http://schemas.microsoft.com/office/drawing/2014/main" id="{00D99054-32E2-4CB6-AAF0-2C2BE50A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52197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Corrected Cooper panel border">
            <a:extLst xmlns:a="http://schemas.openxmlformats.org/drawingml/2006/main">
              <a:ext uri="{FF2B5EF4-FFF2-40B4-BE49-F238E27FC236}">
                <a16:creationId xmlns:a16="http://schemas.microsoft.com/office/drawing/2014/main" id="{3BF80A73-5FA1-4B15-8CBA-D402704FB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52197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6" name="Clean emblem background">
            <a:extLst xmlns:a="http://schemas.openxmlformats.org/drawingml/2006/main">
              <a:ext uri="{FF2B5EF4-FFF2-40B4-BE49-F238E27FC236}">
                <a16:creationId xmlns:a16="http://schemas.microsoft.com/office/drawing/2014/main" id="{1835DAC2-DDEF-4BC2-BFF0-E5212218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6010275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e19609990941bb">
            <a:extLst>
              <a:ext uri="{96DAC541-7B7A-43D3-8B79-37D633B846F1}">
                <asvg:svgBlip xmlns:asvg="http://schemas.microsoft.com/office/drawing/2016/SVG/main" r:embed="Rd3edc5cf6bbb48e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829300" y="6048375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54" name="Raincoat Cooper IN FRONT OF backing">
            <a:extLst xmlns:a="http://schemas.openxmlformats.org/drawingml/2006/main">
              <a:ext uri="{FF2B5EF4-FFF2-40B4-BE49-F238E27FC236}">
                <a16:creationId xmlns:a16="http://schemas.microsoft.com/office/drawing/2014/main" id="{A1E68E2C-9C8D-45BB-961C-97217B5D8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52197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27fc57e18b4784"/>
          <a:srcRect xmlns:a="http://schemas.openxmlformats.org/drawingml/2006/main" l="0" t="730" r="0" b="7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476250" y="1676400"/>
            <a:ext cx="5219700" cy="3429000"/>
          </a:xfrm>
          <a:prstGeom xmlns:a="http://schemas.openxmlformats.org/drawingml/2006/main" prst="rect">
            <a:avLst/>
          </a:prstGeom>
        </p:spPr>
      </p:pic>
      <p:sp>
        <p:nvSpPr>
          <p:cNvPr id="56" name="Raincoat Cooper IN FRONT OF border">
            <a:extLst xmlns:a="http://schemas.openxmlformats.org/drawingml/2006/main">
              <a:ext uri="{FF2B5EF4-FFF2-40B4-BE49-F238E27FC236}">
                <a16:creationId xmlns:a16="http://schemas.microsoft.com/office/drawing/2014/main" id="{CFFACF77-EAC3-4E39-B00A-122396EB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52197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5" name="Cover emblem clean background">
            <a:extLst xmlns:a="http://schemas.openxmlformats.org/drawingml/2006/main">
              <a:ext uri="{FF2B5EF4-FFF2-40B4-BE49-F238E27FC236}">
                <a16:creationId xmlns:a16="http://schemas.microsoft.com/office/drawing/2014/main" id="{11381C79-EAED-44B6-A4B3-E8215ED02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6010275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4dca2f37944ed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29300" y="6048375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75" name="Basic course header clean backing">
            <a:extLst xmlns:a="http://schemas.openxmlformats.org/drawingml/2006/main">
              <a:ext uri="{FF2B5EF4-FFF2-40B4-BE49-F238E27FC236}">
                <a16:creationId xmlns:a16="http://schemas.microsoft.com/office/drawing/2014/main" id="{80BBA16D-9DA2-4344-866A-ABBCD85D4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"/>
            <a:ext cx="32861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Basic course running header">
            <a:extLst xmlns:a="http://schemas.openxmlformats.org/drawingml/2006/main">
              <a:ext uri="{FF2B5EF4-FFF2-40B4-BE49-F238E27FC236}">
                <a16:creationId xmlns:a16="http://schemas.microsoft.com/office/drawing/2014/main" id="{1B28463B-EDC6-4B52-8665-CD9A41707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82E43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82E43"/>
                </a:solidFill>
                <a:latin typeface="Aptos"/>
                <a:ea typeface="Aptos"/>
                <a:cs typeface="Aptos"/>
              </a:rPr>
              <a:t>FORBES ENGLISH • PREPOSITIONS</a:t>
            </a:r>
          </a:p>
        </p:txBody>
      </p:sp>
      <p:sp>
        <p:nvSpPr>
          <p:cNvPr id="77" name="Usage note left backing">
            <a:extLst xmlns:a="http://schemas.openxmlformats.org/drawingml/2006/main">
              <a:ext uri="{FF2B5EF4-FFF2-40B4-BE49-F238E27FC236}">
                <a16:creationId xmlns:a16="http://schemas.microsoft.com/office/drawing/2014/main" id="{5F05B598-9982-4929-A378-E597F2ADC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76900"/>
            <a:ext cx="53149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Usage note left">
            <a:extLst xmlns:a="http://schemas.openxmlformats.org/drawingml/2006/main">
              <a:ext uri="{FF2B5EF4-FFF2-40B4-BE49-F238E27FC236}">
                <a16:creationId xmlns:a16="http://schemas.microsoft.com/office/drawing/2014/main" id="{750DF9BE-2149-4DF9-9E4E-528F2CFAF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516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 i="0">
                <a:solidFill>
                  <a:srgbClr val="505653"/>
                </a:solidFill>
                <a:latin typeface="Aptos"/>
                <a:ea typeface="Aptos"/>
                <a:cs typeface="Aptos"/>
              </a:rPr>
              <a:t>Use in front of for a position ahead of another person or object.</a:t>
            </a:r>
          </a:p>
        </p:txBody>
      </p:sp>
      <p:sp>
        <p:nvSpPr>
          <p:cNvPr id="79" name="Usage note right backing">
            <a:extLst xmlns:a="http://schemas.openxmlformats.org/drawingml/2006/main">
              <a:ext uri="{FF2B5EF4-FFF2-40B4-BE49-F238E27FC236}">
                <a16:creationId xmlns:a16="http://schemas.microsoft.com/office/drawing/2014/main" id="{568CFCAF-0D3C-455F-9D61-C36E6BEB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676900"/>
            <a:ext cx="53149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Usage note right">
            <a:extLst xmlns:a="http://schemas.openxmlformats.org/drawingml/2006/main">
              <a:ext uri="{FF2B5EF4-FFF2-40B4-BE49-F238E27FC236}">
                <a16:creationId xmlns:a16="http://schemas.microsoft.com/office/drawing/2014/main" id="{7209D283-4875-4A93-AE8E-471CCD736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715000"/>
            <a:ext cx="516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 i="0">
                <a:solidFill>
                  <a:srgbClr val="505653"/>
                </a:solidFill>
                <a:latin typeface="Aptos"/>
                <a:ea typeface="Aptos"/>
                <a:cs typeface="Aptos"/>
              </a:rPr>
              <a:t>Use behind for a position at the back of someone or something.</a:t>
            </a:r>
          </a:p>
        </p:txBody>
      </p:sp>
      <p:sp>
        <p:nvSpPr>
          <p:cNvPr id="90" name="Italic usage note left backing">
            <a:extLst xmlns:a="http://schemas.openxmlformats.org/drawingml/2006/main">
              <a:ext uri="{FF2B5EF4-FFF2-40B4-BE49-F238E27FC236}">
                <a16:creationId xmlns:a16="http://schemas.microsoft.com/office/drawing/2014/main" id="{F759B986-CB91-4352-8FDC-A43623DCB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76900"/>
            <a:ext cx="53149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Italic usage note left">
            <a:extLst xmlns:a="http://schemas.openxmlformats.org/drawingml/2006/main">
              <a:ext uri="{FF2B5EF4-FFF2-40B4-BE49-F238E27FC236}">
                <a16:creationId xmlns:a16="http://schemas.microsoft.com/office/drawing/2014/main" id="{3FCCA1B6-B8FB-4DC2-BA85-60BE8188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516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9700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>
                <a:solidFill>
                  <a:srgbClr val="182E43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182E43"/>
                </a:solidFill>
                <a:latin typeface="Aptos"/>
                <a:ea typeface="Aptos"/>
                <a:cs typeface="Aptos"/>
              </a:rPr>
              <a:t>Use </a:t>
            </a:r>
            <a:r>
              <a:rPr sz="1600" b="1" i="1">
                <a:solidFill>
                  <a:srgbClr val="182E43"/>
                </a:solidFill>
                <a:latin typeface="Aptos"/>
                <a:ea typeface="Aptos"/>
                <a:cs typeface="Aptos"/>
              </a:rPr>
              <a:t>in front of</a:t>
            </a:r>
            <a:r>
              <a:rPr sz="1600">
                <a:solidFill>
                  <a:srgbClr val="182E43"/>
                </a:solidFill>
                <a:latin typeface="Aptos"/>
                <a:ea typeface="Aptos"/>
                <a:cs typeface="Aptos"/>
              </a:rPr>
              <a:t> for a position ahead of another person or object.</a:t>
            </a:r>
          </a:p>
        </p:txBody>
      </p:sp>
      <p:sp>
        <p:nvSpPr>
          <p:cNvPr id="92" name="Italic usage note right backing">
            <a:extLst xmlns:a="http://schemas.openxmlformats.org/drawingml/2006/main">
              <a:ext uri="{FF2B5EF4-FFF2-40B4-BE49-F238E27FC236}">
                <a16:creationId xmlns:a16="http://schemas.microsoft.com/office/drawing/2014/main" id="{1E5D5BC8-4214-44FA-AA72-BE00B41A3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676900"/>
            <a:ext cx="53149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Italic usage note right">
            <a:extLst xmlns:a="http://schemas.openxmlformats.org/drawingml/2006/main">
              <a:ext uri="{FF2B5EF4-FFF2-40B4-BE49-F238E27FC236}">
                <a16:creationId xmlns:a16="http://schemas.microsoft.com/office/drawing/2014/main" id="{B8BAEB1D-29BA-4237-B211-18CC4B868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715000"/>
            <a:ext cx="516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9704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>
                <a:solidFill>
                  <a:srgbClr val="182E43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182E43"/>
                </a:solidFill>
                <a:latin typeface="Aptos"/>
                <a:ea typeface="Aptos"/>
                <a:cs typeface="Aptos"/>
              </a:rPr>
              <a:t>Use </a:t>
            </a:r>
            <a:r>
              <a:rPr sz="1600" b="1" i="1">
                <a:solidFill>
                  <a:srgbClr val="182E43"/>
                </a:solidFill>
                <a:latin typeface="Aptos"/>
                <a:ea typeface="Aptos"/>
                <a:cs typeface="Aptos"/>
              </a:rPr>
              <a:t>behind</a:t>
            </a:r>
            <a:r>
              <a:rPr sz="1600">
                <a:solidFill>
                  <a:srgbClr val="182E43"/>
                </a:solidFill>
                <a:latin typeface="Aptos"/>
                <a:ea typeface="Aptos"/>
                <a:cs typeface="Aptos"/>
              </a:rPr>
              <a:t> for a position at the back of someone or something.</a:t>
            </a:r>
          </a:p>
        </p:txBody>
      </p:sp>
      <p:sp>
        <p:nvSpPr>
          <p:cNvPr id="94" name="Forbes English footer clean backing">
            <a:extLst xmlns:a="http://schemas.openxmlformats.org/drawingml/2006/main">
              <a:ext uri="{FF2B5EF4-FFF2-40B4-BE49-F238E27FC236}">
                <a16:creationId xmlns:a16="http://schemas.microsoft.com/office/drawing/2014/main" id="{EA8F098B-C98C-40AB-94A3-5DF688D8B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76975"/>
            <a:ext cx="9144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Forbes English footer wordmark">
            <a:extLst xmlns:a="http://schemas.openxmlformats.org/drawingml/2006/main">
              <a:ext uri="{FF2B5EF4-FFF2-40B4-BE49-F238E27FC236}">
                <a16:creationId xmlns:a16="http://schemas.microsoft.com/office/drawing/2014/main" id="{7620F34F-868A-4DF0-AB6D-E9226893E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15075"/>
            <a:ext cx="733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i="0">
                <a:solidFill>
                  <a:srgbClr val="101918"/>
                </a:solidFill>
                <a:latin typeface="Georgia"/>
                <a:ea typeface="Georgia"/>
                <a:cs typeface="Georgia"/>
              </a:rPr>
              <a:t>Forbes</a:t>
            </a:r>
          </a:p>
        </p:txBody>
      </p:sp>
      <p:sp>
        <p:nvSpPr>
          <p:cNvPr id="96" name="Forbes English footer second line">
            <a:extLst xmlns:a="http://schemas.openxmlformats.org/drawingml/2006/main">
              <a:ext uri="{FF2B5EF4-FFF2-40B4-BE49-F238E27FC236}">
                <a16:creationId xmlns:a16="http://schemas.microsoft.com/office/drawing/2014/main" id="{D602F49B-E93C-42E7-8B1A-E4D33AA72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477000"/>
            <a:ext cx="7334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50" b="1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ENGLISH</a:t>
            </a:r>
          </a:p>
        </p:txBody>
      </p:sp>
    </p:spTree>
    <p:extLst>
      <p:ext uri="{BB962C8B-B14F-4D97-AF65-F5344CB8AC3E}">
        <p14:creationId xmlns:p14="http://schemas.microsoft.com/office/powerpoint/2010/main" val="7450264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D9E1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mask left">
            <a:extLst xmlns:a="http://schemas.openxmlformats.org/drawingml/2006/main">
              <a:ext uri="{FF2B5EF4-FFF2-40B4-BE49-F238E27FC236}">
                <a16:creationId xmlns:a16="http://schemas.microsoft.com/office/drawing/2014/main" id="{3A9C77DB-9BC4-48ED-B772-E450A26E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53054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 mask right">
            <a:extLst xmlns:a="http://schemas.openxmlformats.org/drawingml/2006/main">
              <a:ext uri="{FF2B5EF4-FFF2-40B4-BE49-F238E27FC236}">
                <a16:creationId xmlns:a16="http://schemas.microsoft.com/office/drawing/2014/main" id="{C987ABA3-4597-442A-9689-6B03D9A3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71500"/>
            <a:ext cx="53054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arget title left">
            <a:extLst xmlns:a="http://schemas.openxmlformats.org/drawingml/2006/main">
              <a:ext uri="{FF2B5EF4-FFF2-40B4-BE49-F238E27FC236}">
                <a16:creationId xmlns:a16="http://schemas.microsoft.com/office/drawing/2014/main" id="{07C731BF-B448-4C4C-9337-01293740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1520"/>
            <a:ext cx="5074920" cy="658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>
                <a:solidFill>
                  <a:srgbClr val="C9C5BD"/>
                </a:solidFill>
              </a:defRPr>
            </a:pPr>
            <a:r>
              <a:rPr sz="4300" b="1">
                <a:ln w="10478">
                  <a:solidFill>
                    <a:srgbClr val="303437"/>
                  </a:solidFill>
                  <a:prstDash val="solid"/>
                </a:ln>
                <a:solidFill>
                  <a:srgbClr val="C9C5BD"/>
                </a:solidFill>
                <a:latin typeface="Noto Sans Display Condensed"/>
                <a:ea typeface="Noto Sans Display Condensed"/>
                <a:cs typeface="Noto Sans Display Condensed"/>
              </a:rPr>
              <a:t>ABOVE</a:t>
            </a:r>
          </a:p>
        </p:txBody>
      </p:sp>
      <p:sp>
        <p:nvSpPr>
          <p:cNvPr id="5" name="Target title right">
            <a:extLst xmlns:a="http://schemas.openxmlformats.org/drawingml/2006/main">
              <a:ext uri="{FF2B5EF4-FFF2-40B4-BE49-F238E27FC236}">
                <a16:creationId xmlns:a16="http://schemas.microsoft.com/office/drawing/2014/main" id="{8D8A56FD-6665-42AA-9721-9693C37AA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731520"/>
            <a:ext cx="5074920" cy="658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>
                <a:solidFill>
                  <a:srgbClr val="C9C5BD"/>
                </a:solidFill>
              </a:defRPr>
            </a:pPr>
            <a:r>
              <a:rPr sz="4300" b="1">
                <a:ln w="10478">
                  <a:solidFill>
                    <a:srgbClr val="303437"/>
                  </a:solidFill>
                  <a:prstDash val="solid"/>
                </a:ln>
                <a:solidFill>
                  <a:srgbClr val="C9C5BD"/>
                </a:solidFill>
                <a:latin typeface="Noto Sans Display Condensed"/>
                <a:ea typeface="Noto Sans Display Condensed"/>
                <a:cs typeface="Noto Sans Display Condensed"/>
              </a:rPr>
              <a:t>OVER</a:t>
            </a:r>
          </a:p>
        </p:txBody>
      </p:sp>
      <p:sp>
        <p:nvSpPr>
          <p:cNvPr id="6" name="Sentence mask left">
            <a:extLst xmlns:a="http://schemas.openxmlformats.org/drawingml/2006/main">
              <a:ext uri="{FF2B5EF4-FFF2-40B4-BE49-F238E27FC236}">
                <a16:creationId xmlns:a16="http://schemas.microsoft.com/office/drawing/2014/main" id="{5E1B3A9E-DFDD-4308-918E-967305F4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95875"/>
            <a:ext cx="528637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entence mask right">
            <a:extLst xmlns:a="http://schemas.openxmlformats.org/drawingml/2006/main">
              <a:ext uri="{FF2B5EF4-FFF2-40B4-BE49-F238E27FC236}">
                <a16:creationId xmlns:a16="http://schemas.microsoft.com/office/drawing/2014/main" id="{F32D8DF0-418B-44B9-A43D-7F9F1CEE0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095875"/>
            <a:ext cx="528637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entence left">
            <a:extLst xmlns:a="http://schemas.openxmlformats.org/drawingml/2006/main">
              <a:ext uri="{FF2B5EF4-FFF2-40B4-BE49-F238E27FC236}">
                <a16:creationId xmlns:a16="http://schemas.microsoft.com/office/drawing/2014/main" id="{13789269-0BDC-4E1F-8BAF-04E9DB6D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5212080"/>
            <a:ext cx="5102352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>
                <a:solidFill>
                  <a:srgbClr val="101918"/>
                </a:solidFill>
                <a:latin typeface="Aptos"/>
                <a:ea typeface="Aptos"/>
                <a:cs typeface="Aptos"/>
              </a:rPr>
              <a:t>An owl is flying </a:t>
            </a:r>
            <a:r>
              <a:rPr sz="1700" b="1" i="1">
                <a:solidFill>
                  <a:srgbClr val="8A1A1E"/>
                </a:solidFill>
                <a:latin typeface="Georgia"/>
                <a:ea typeface="Georgia"/>
                <a:cs typeface="Georgia"/>
              </a:rPr>
              <a:t>above</a:t>
            </a:r>
            <a:r>
              <a:rPr sz="1700">
                <a:solidFill>
                  <a:srgbClr val="101918"/>
                </a:solidFill>
                <a:latin typeface="Aptos"/>
                <a:ea typeface="Aptos"/>
                <a:cs typeface="Aptos"/>
              </a:rPr>
              <a:t> the Log Lady.</a:t>
            </a:r>
          </a:p>
        </p:txBody>
      </p:sp>
      <p:sp>
        <p:nvSpPr>
          <p:cNvPr id="9" name="Sentence right">
            <a:extLst xmlns:a="http://schemas.openxmlformats.org/drawingml/2006/main">
              <a:ext uri="{FF2B5EF4-FFF2-40B4-BE49-F238E27FC236}">
                <a16:creationId xmlns:a16="http://schemas.microsoft.com/office/drawing/2014/main" id="{06582467-4F05-49DC-BCED-05627E7C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384" y="5212080"/>
            <a:ext cx="5102352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>
                <a:solidFill>
                  <a:srgbClr val="101918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11" name="Slide 4 system background">
            <a:extLst xmlns:a="http://schemas.openxmlformats.org/drawingml/2006/main">
              <a:ext uri="{FF2B5EF4-FFF2-40B4-BE49-F238E27FC236}">
                <a16:creationId xmlns:a16="http://schemas.microsoft.com/office/drawing/2014/main" id="{5A723485-DDAA-49DE-B5C1-EC1BC1A7D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8DBC84F-44B9-409C-AA99-44DBBB661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219456"/>
            <a:ext cx="210312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777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90111C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90111C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3" name="Header separator">
            <a:extLst xmlns:a="http://schemas.openxmlformats.org/drawingml/2006/main">
              <a:ext uri="{FF2B5EF4-FFF2-40B4-BE49-F238E27FC236}">
                <a16:creationId xmlns:a16="http://schemas.microsoft.com/office/drawing/2014/main" id="{1E3C623F-7B4F-400D-A077-2568E973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1168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01918"/>
            </a:solidFill>
            <a:prstDash val="solid"/>
          </a:ln>
        </p:spPr>
      </p:sp>
      <p:sp>
        <p:nvSpPr>
          <p:cNvPr id="14" name="Running header">
            <a:extLst xmlns:a="http://schemas.openxmlformats.org/drawingml/2006/main">
              <a:ext uri="{FF2B5EF4-FFF2-40B4-BE49-F238E27FC236}">
                <a16:creationId xmlns:a16="http://schemas.microsoft.com/office/drawing/2014/main" id="{57B89370-31FC-4BEF-B762-81225FA1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10312"/>
            <a:ext cx="2971800" cy="210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82E43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82E43"/>
                </a:solidFill>
                <a:latin typeface="Aptos"/>
                <a:ea typeface="Aptos"/>
                <a:cs typeface="Aptos"/>
              </a:rPr>
              <a:t>FORBES ENGLISH • PREPOSITIONS</a:t>
            </a:r>
          </a:p>
        </p:txBody>
      </p:sp>
      <p:sp>
        <p:nvSpPr>
          <p:cNvPr id="15" name="Centre divider">
            <a:extLst xmlns:a="http://schemas.openxmlformats.org/drawingml/2006/main">
              <a:ext uri="{FF2B5EF4-FFF2-40B4-BE49-F238E27FC236}">
                <a16:creationId xmlns:a16="http://schemas.microsoft.com/office/drawing/2014/main" id="{417EE46D-D122-4A5F-AFB2-8EAF77470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429" y="502920"/>
            <a:ext cx="0" cy="52760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7390"/>
            </a:solidFill>
            <a:prstDash val="solid"/>
          </a:ln>
        </p:spPr>
      </p:sp>
      <p:sp>
        <p:nvSpPr>
          <p:cNvPr id="16" name="Centre diamond">
            <a:extLst xmlns:a="http://schemas.openxmlformats.org/drawingml/2006/main">
              <a:ext uri="{FF2B5EF4-FFF2-40B4-BE49-F238E27FC236}">
                <a16:creationId xmlns:a16="http://schemas.microsoft.com/office/drawing/2014/main" id="{5BEA996F-975E-47AF-8554-3104C0798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7705" y="3136392"/>
            <a:ext cx="155448" cy="155448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1073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arget title left">
            <a:extLst xmlns:a="http://schemas.openxmlformats.org/drawingml/2006/main">
              <a:ext uri="{FF2B5EF4-FFF2-40B4-BE49-F238E27FC236}">
                <a16:creationId xmlns:a16="http://schemas.microsoft.com/office/drawing/2014/main" id="{414D05B3-8D8E-4F7E-AC9D-78CE5F52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1520"/>
            <a:ext cx="5074920" cy="658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300" b="1">
                <a:solidFill>
                  <a:srgbClr val="C9C5BD"/>
                </a:solidFill>
                <a:latin typeface="Noto Sans Display Condensed"/>
                <a:ea typeface="Noto Sans Display Condensed"/>
                <a:cs typeface="Noto Sans Display Condensed"/>
              </a:defRPr>
            </a:pPr>
            <a:r>
              <a:rPr sz="4300" b="1" i="0">
                <a:ln w="10478">
                  <a:solidFill>
                    <a:srgbClr val="303437"/>
                  </a:solidFill>
                  <a:prstDash val="solid"/>
                </a:ln>
                <a:solidFill>
                  <a:srgbClr val="C9C5BD"/>
                </a:solidFill>
                <a:latin typeface="Noto Sans Display Condensed"/>
                <a:ea typeface="Noto Sans Display Condensed"/>
                <a:cs typeface="Noto Sans Display Condensed"/>
              </a:rPr>
              <a:t>ABOVE</a:t>
            </a:r>
          </a:p>
        </p:txBody>
      </p:sp>
      <p:sp>
        <p:nvSpPr>
          <p:cNvPr id="18" name="Target title right">
            <a:extLst xmlns:a="http://schemas.openxmlformats.org/drawingml/2006/main">
              <a:ext uri="{FF2B5EF4-FFF2-40B4-BE49-F238E27FC236}">
                <a16:creationId xmlns:a16="http://schemas.microsoft.com/office/drawing/2014/main" id="{7BD1C71F-F957-4689-85BC-E7D9B1F52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731520"/>
            <a:ext cx="5074920" cy="658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300" b="1">
                <a:solidFill>
                  <a:srgbClr val="C9C5BD"/>
                </a:solidFill>
                <a:latin typeface="Noto Sans Display Condensed"/>
                <a:ea typeface="Noto Sans Display Condensed"/>
                <a:cs typeface="Noto Sans Display Condensed"/>
              </a:defRPr>
            </a:pPr>
            <a:r>
              <a:rPr sz="4300" b="1" i="0">
                <a:ln w="10478">
                  <a:solidFill>
                    <a:srgbClr val="303437"/>
                  </a:solidFill>
                  <a:prstDash val="solid"/>
                </a:ln>
                <a:solidFill>
                  <a:srgbClr val="C9C5BD"/>
                </a:solidFill>
                <a:latin typeface="Noto Sans Display Condensed"/>
                <a:ea typeface="Noto Sans Display Condensed"/>
                <a:cs typeface="Noto Sans Display Condensed"/>
              </a:rPr>
              <a:t>OVER</a:t>
            </a:r>
          </a:p>
        </p:txBody>
      </p:sp>
      <p:sp>
        <p:nvSpPr>
          <p:cNvPr id="19" name="Footer line left">
            <a:extLst xmlns:a="http://schemas.openxmlformats.org/drawingml/2006/main">
              <a:ext uri="{FF2B5EF4-FFF2-40B4-BE49-F238E27FC236}">
                <a16:creationId xmlns:a16="http://schemas.microsoft.com/office/drawing/2014/main" id="{FEE6DCB1-F322-428E-82E1-3404B1D3A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238875"/>
            <a:ext cx="538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7390"/>
            </a:solidFill>
            <a:prstDash val="solid"/>
          </a:ln>
        </p:spPr>
      </p:sp>
      <p:sp>
        <p:nvSpPr>
          <p:cNvPr id="20" name="Footer line right">
            <a:extLst xmlns:a="http://schemas.openxmlformats.org/drawingml/2006/main">
              <a:ext uri="{FF2B5EF4-FFF2-40B4-BE49-F238E27FC236}">
                <a16:creationId xmlns:a16="http://schemas.microsoft.com/office/drawing/2014/main" id="{61DDC923-7369-4F5B-835E-8698B5314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6238875"/>
            <a:ext cx="538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7390"/>
            </a:solidFill>
            <a:prstDash val="solid"/>
          </a:ln>
        </p:spPr>
      </p:sp>
      <p:pic>
        <p:nvPicPr>
          <p:cNvPr id="1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cf3473cf054aef"/>
          <a:stretch xmlns:a="http://schemas.openxmlformats.org/drawingml/2006/main"/>
        </p:blipFill>
        <p:spPr>
          <a:xfrm xmlns:a="http://schemas.openxmlformats.org/drawingml/2006/main">
            <a:off x="5829300" y="6048375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22" name="Footer left">
            <a:extLst xmlns:a="http://schemas.openxmlformats.org/drawingml/2006/main">
              <a:ext uri="{FF2B5EF4-FFF2-40B4-BE49-F238E27FC236}">
                <a16:creationId xmlns:a16="http://schemas.microsoft.com/office/drawing/2014/main" id="{4CEAC5E3-6901-41A5-BEA4-8E549856D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3817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11111"/>
                </a:solidFill>
                <a:latin typeface="Aptos"/>
                <a:ea typeface="Aptos"/>
                <a:cs typeface="Aptos"/>
              </a:rPr>
              <a:t>HAWKINS FIELD GUIDE</a:t>
            </a:r>
          </a:p>
        </p:txBody>
      </p:sp>
      <p:sp>
        <p:nvSpPr>
          <p:cNvPr id="23" name="Footer course">
            <a:extLst xmlns:a="http://schemas.openxmlformats.org/drawingml/2006/main">
              <a:ext uri="{FF2B5EF4-FFF2-40B4-BE49-F238E27FC236}">
                <a16:creationId xmlns:a16="http://schemas.microsoft.com/office/drawing/2014/main" id="{DDFF7423-7C53-4289-8AEF-945D418CE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38175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 b="1" i="0">
                <a:solidFill>
                  <a:srgbClr val="101918"/>
                </a:solidFill>
                <a:latin typeface="Roboto Condensed"/>
                <a:ea typeface="Roboto Condensed"/>
                <a:cs typeface="Roboto Condensed"/>
              </a:rPr>
              <a:t/>
            </a:r>
          </a:p>
        </p:txBody>
      </p:sp>
      <p:pic>
        <p:nvPicPr>
          <p:cNvPr id="1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25fe5a92dc45a7">
            <a:extLst>
              <a:ext uri="{96DAC541-7B7A-43D3-8B79-37D633B846F1}">
                <asvg:svgBlip xmlns:asvg="http://schemas.microsoft.com/office/drawing/2016/SVG/main" r:embed="Rcd8e1c5ae430413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144250" y="6267450"/>
            <a:ext cx="781050" cy="361950"/>
          </a:xfrm>
          <a:prstGeom xmlns:a="http://schemas.openxmlformats.org/drawingml/2006/main" prst="rect">
            <a:avLst/>
          </a:prstGeom>
        </p:spPr>
      </p:pic>
      <p:sp>
        <p:nvSpPr>
          <p:cNvPr id="28" name="Sentence field left">
            <a:extLst xmlns:a="http://schemas.openxmlformats.org/drawingml/2006/main">
              <a:ext uri="{FF2B5EF4-FFF2-40B4-BE49-F238E27FC236}">
                <a16:creationId xmlns:a16="http://schemas.microsoft.com/office/drawing/2014/main" id="{12CA69D6-D1DE-4839-ABCF-6775E286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05400"/>
            <a:ext cx="5314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Sentence field right">
            <a:extLst xmlns:a="http://schemas.openxmlformats.org/drawingml/2006/main">
              <a:ext uri="{FF2B5EF4-FFF2-40B4-BE49-F238E27FC236}">
                <a16:creationId xmlns:a16="http://schemas.microsoft.com/office/drawing/2014/main" id="{936B948E-D2CE-4403-BB42-5753FAEE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05400"/>
            <a:ext cx="5314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Sentence left">
            <a:extLst xmlns:a="http://schemas.openxmlformats.org/drawingml/2006/main">
              <a:ext uri="{FF2B5EF4-FFF2-40B4-BE49-F238E27FC236}">
                <a16:creationId xmlns:a16="http://schemas.microsoft.com/office/drawing/2014/main" id="{3125A4DD-2E1A-45DF-AC3F-D78152D83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62550"/>
            <a:ext cx="5219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>
                <a:solidFill>
                  <a:srgbClr val="182E43"/>
                </a:solidFill>
                <a:latin typeface="Aptos"/>
                <a:ea typeface="Aptos"/>
                <a:cs typeface="Aptos"/>
              </a:defRPr>
            </a:pPr>
            <a:r>
              <a:rPr sz="1700">
                <a:solidFill>
                  <a:srgbClr val="182E43"/>
                </a:solidFill>
                <a:latin typeface="Aptos"/>
                <a:ea typeface="Aptos"/>
                <a:cs typeface="Aptos"/>
              </a:rPr>
              <a:t>The Christmas lights are </a:t>
            </a:r>
            <a:r>
              <a:rPr sz="1700" b="1" i="1">
                <a:solidFill>
                  <a:srgbClr val="182E43"/>
                </a:solidFill>
                <a:latin typeface="Aptos"/>
                <a:ea typeface="Aptos"/>
                <a:cs typeface="Aptos"/>
              </a:rPr>
              <a:t>above</a:t>
            </a:r>
            <a:r>
              <a:rPr sz="1700">
                <a:solidFill>
                  <a:srgbClr val="182E43"/>
                </a:solidFill>
                <a:latin typeface="Aptos"/>
                <a:ea typeface="Aptos"/>
                <a:cs typeface="Aptos"/>
              </a:rPr>
              <a:t> Joyce.</a:t>
            </a:r>
          </a:p>
        </p:txBody>
      </p:sp>
      <p:sp>
        <p:nvSpPr>
          <p:cNvPr id="31" name="Sentence right">
            <a:extLst xmlns:a="http://schemas.openxmlformats.org/drawingml/2006/main">
              <a:ext uri="{FF2B5EF4-FFF2-40B4-BE49-F238E27FC236}">
                <a16:creationId xmlns:a16="http://schemas.microsoft.com/office/drawing/2014/main" id="{30931866-D7B9-430E-A992-DF04EC5C0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5162550"/>
            <a:ext cx="5219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>
                <a:solidFill>
                  <a:srgbClr val="182E43"/>
                </a:solidFill>
                <a:latin typeface="Aptos"/>
                <a:ea typeface="Aptos"/>
                <a:cs typeface="Aptos"/>
              </a:defRPr>
            </a:pPr>
            <a:r>
              <a:rPr sz="1700">
                <a:solidFill>
                  <a:srgbClr val="182E43"/>
                </a:solidFill>
                <a:latin typeface="Aptos"/>
                <a:ea typeface="Aptos"/>
                <a:cs typeface="Aptos"/>
              </a:rPr>
              <a:t>The van is flying </a:t>
            </a:r>
            <a:r>
              <a:rPr sz="1700" b="1" i="1">
                <a:solidFill>
                  <a:srgbClr val="182E43"/>
                </a:solidFill>
                <a:latin typeface="Aptos"/>
                <a:ea typeface="Aptos"/>
                <a:cs typeface="Aptos"/>
              </a:rPr>
              <a:t>over</a:t>
            </a:r>
            <a:r>
              <a:rPr sz="1700">
                <a:solidFill>
                  <a:srgbClr val="182E43"/>
                </a:solidFill>
                <a:latin typeface="Aptos"/>
                <a:ea typeface="Aptos"/>
                <a:cs typeface="Aptos"/>
              </a:rPr>
              <a:t> the boys.</a:t>
            </a:r>
          </a:p>
        </p:txBody>
      </p:sp>
      <p:sp>
        <p:nvSpPr>
          <p:cNvPr id="37" name="Clean emblem background">
            <a:extLst xmlns:a="http://schemas.openxmlformats.org/drawingml/2006/main">
              <a:ext uri="{FF2B5EF4-FFF2-40B4-BE49-F238E27FC236}">
                <a16:creationId xmlns:a16="http://schemas.microsoft.com/office/drawing/2014/main" id="{A8C3F7DC-39E9-42F3-B605-206CB2FE8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6010275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08a72334df45c3">
            <a:extLst>
              <a:ext uri="{96DAC541-7B7A-43D3-8B79-37D633B846F1}">
                <asvg:svgBlip xmlns:asvg="http://schemas.microsoft.com/office/drawing/2016/SVG/main" r:embed="R2e547ec994f149c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829300" y="6048375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44" name="Cover emblem clean background">
            <a:extLst xmlns:a="http://schemas.openxmlformats.org/drawingml/2006/main">
              <a:ext uri="{FF2B5EF4-FFF2-40B4-BE49-F238E27FC236}">
                <a16:creationId xmlns:a16="http://schemas.microsoft.com/office/drawing/2014/main" id="{1AC31DDE-65E1-4E21-96D7-E1C4EA9FC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6010275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82172bf0ed481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29300" y="6048375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52" name="ABOVE Log Lady color refinement cream backing">
            <a:extLst xmlns:a="http://schemas.openxmlformats.org/drawingml/2006/main">
              <a:ext uri="{FF2B5EF4-FFF2-40B4-BE49-F238E27FC236}">
                <a16:creationId xmlns:a16="http://schemas.microsoft.com/office/drawing/2014/main" id="{DBE42F48-DB22-4F5E-9568-FF43C26D7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52197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dce959b0f14109"/>
          <a:srcRect xmlns:a="http://schemas.openxmlformats.org/drawingml/2006/main" l="0" t="762" r="0" b="7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476250" y="1676400"/>
            <a:ext cx="5219700" cy="3429000"/>
          </a:xfrm>
          <a:prstGeom xmlns:a="http://schemas.openxmlformats.org/drawingml/2006/main" prst="rect">
            <a:avLst/>
          </a:prstGeom>
        </p:spPr>
      </p:pic>
      <p:sp>
        <p:nvSpPr>
          <p:cNvPr id="54" name="OVER coherent horizon and corrected patrol car cream backing">
            <a:extLst xmlns:a="http://schemas.openxmlformats.org/drawingml/2006/main">
              <a:ext uri="{FF2B5EF4-FFF2-40B4-BE49-F238E27FC236}">
                <a16:creationId xmlns:a16="http://schemas.microsoft.com/office/drawing/2014/main" id="{39C0155B-4A32-49B8-B666-C0BD2B355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76400"/>
            <a:ext cx="52197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b6649c7c844747"/>
          <a:srcRect xmlns:a="http://schemas.openxmlformats.org/drawingml/2006/main" l="0" t="762" r="0" b="7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496050" y="1676400"/>
            <a:ext cx="5219700" cy="3429000"/>
          </a:xfrm>
          <a:prstGeom xmlns:a="http://schemas.openxmlformats.org/drawingml/2006/main" prst="rect">
            <a:avLst/>
          </a:prstGeom>
        </p:spPr>
      </p:pic>
      <p:sp>
        <p:nvSpPr>
          <p:cNvPr id="64" name="Basic course header clean backing">
            <a:extLst xmlns:a="http://schemas.openxmlformats.org/drawingml/2006/main">
              <a:ext uri="{FF2B5EF4-FFF2-40B4-BE49-F238E27FC236}">
                <a16:creationId xmlns:a16="http://schemas.microsoft.com/office/drawing/2014/main" id="{16498ACB-C8F4-4E90-A426-35A41D56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"/>
            <a:ext cx="32861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Basic course running header">
            <a:extLst xmlns:a="http://schemas.openxmlformats.org/drawingml/2006/main">
              <a:ext uri="{FF2B5EF4-FFF2-40B4-BE49-F238E27FC236}">
                <a16:creationId xmlns:a16="http://schemas.microsoft.com/office/drawing/2014/main" id="{CAC360EE-42C0-4E7E-A78C-B86E00ED4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82E43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82E43"/>
                </a:solidFill>
                <a:latin typeface="Aptos"/>
                <a:ea typeface="Aptos"/>
                <a:cs typeface="Aptos"/>
              </a:rPr>
              <a:t>FORBES ENGLISH • PREPOSITIONS</a:t>
            </a:r>
          </a:p>
        </p:txBody>
      </p:sp>
      <p:sp>
        <p:nvSpPr>
          <p:cNvPr id="66" name="Usage note left backing">
            <a:extLst xmlns:a="http://schemas.openxmlformats.org/drawingml/2006/main">
              <a:ext uri="{FF2B5EF4-FFF2-40B4-BE49-F238E27FC236}">
                <a16:creationId xmlns:a16="http://schemas.microsoft.com/office/drawing/2014/main" id="{01962011-5905-4615-88DF-3A4766FBD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76900"/>
            <a:ext cx="53149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Usage note left">
            <a:extLst xmlns:a="http://schemas.openxmlformats.org/drawingml/2006/main">
              <a:ext uri="{FF2B5EF4-FFF2-40B4-BE49-F238E27FC236}">
                <a16:creationId xmlns:a16="http://schemas.microsoft.com/office/drawing/2014/main" id="{A337A3EE-C02B-40E8-BF74-91085B9E2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516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 i="0">
                <a:solidFill>
                  <a:srgbClr val="505653"/>
                </a:solidFill>
                <a:latin typeface="Aptos"/>
                <a:ea typeface="Aptos"/>
                <a:cs typeface="Aptos"/>
              </a:rPr>
              <a:t>Use above when something is higher, without implying movement or contact.</a:t>
            </a:r>
          </a:p>
        </p:txBody>
      </p:sp>
      <p:sp>
        <p:nvSpPr>
          <p:cNvPr id="68" name="Usage note right backing">
            <a:extLst xmlns:a="http://schemas.openxmlformats.org/drawingml/2006/main">
              <a:ext uri="{FF2B5EF4-FFF2-40B4-BE49-F238E27FC236}">
                <a16:creationId xmlns:a16="http://schemas.microsoft.com/office/drawing/2014/main" id="{ACEB42EC-7BC8-4898-B213-C83E58543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676900"/>
            <a:ext cx="53149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Usage note right">
            <a:extLst xmlns:a="http://schemas.openxmlformats.org/drawingml/2006/main">
              <a:ext uri="{FF2B5EF4-FFF2-40B4-BE49-F238E27FC236}">
                <a16:creationId xmlns:a16="http://schemas.microsoft.com/office/drawing/2014/main" id="{2890925C-45F6-46B8-B29E-AB7433A7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715000"/>
            <a:ext cx="516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 i="0">
                <a:solidFill>
                  <a:srgbClr val="505653"/>
                </a:solidFill>
                <a:latin typeface="Aptos"/>
                <a:ea typeface="Aptos"/>
                <a:cs typeface="Aptos"/>
              </a:rPr>
              <a:t>Use over for movement across or a position directly higher than something.</a:t>
            </a:r>
          </a:p>
        </p:txBody>
      </p:sp>
      <p:sp>
        <p:nvSpPr>
          <p:cNvPr id="79" name="Italic usage note left backing">
            <a:extLst xmlns:a="http://schemas.openxmlformats.org/drawingml/2006/main">
              <a:ext uri="{FF2B5EF4-FFF2-40B4-BE49-F238E27FC236}">
                <a16:creationId xmlns:a16="http://schemas.microsoft.com/office/drawing/2014/main" id="{4A268BEF-3D9A-4F0F-A419-A9D371EF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76900"/>
            <a:ext cx="53149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Italic usage note left">
            <a:extLst xmlns:a="http://schemas.openxmlformats.org/drawingml/2006/main">
              <a:ext uri="{FF2B5EF4-FFF2-40B4-BE49-F238E27FC236}">
                <a16:creationId xmlns:a16="http://schemas.microsoft.com/office/drawing/2014/main" id="{C33C21AA-9AE5-4927-A0A1-C1E536EB3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516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9030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>
                <a:solidFill>
                  <a:srgbClr val="182E43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182E43"/>
                </a:solidFill>
                <a:latin typeface="Aptos"/>
                <a:ea typeface="Aptos"/>
                <a:cs typeface="Aptos"/>
              </a:rPr>
              <a:t>Use </a:t>
            </a:r>
            <a:r>
              <a:rPr sz="1600" b="1" i="1">
                <a:solidFill>
                  <a:srgbClr val="182E43"/>
                </a:solidFill>
                <a:latin typeface="Aptos"/>
                <a:ea typeface="Aptos"/>
                <a:cs typeface="Aptos"/>
              </a:rPr>
              <a:t>above</a:t>
            </a:r>
            <a:r>
              <a:rPr sz="1600">
                <a:solidFill>
                  <a:srgbClr val="182E43"/>
                </a:solidFill>
                <a:latin typeface="Aptos"/>
                <a:ea typeface="Aptos"/>
                <a:cs typeface="Aptos"/>
              </a:rPr>
              <a:t> when something is higher, without movement or contact.</a:t>
            </a:r>
          </a:p>
        </p:txBody>
      </p:sp>
      <p:sp>
        <p:nvSpPr>
          <p:cNvPr id="81" name="Italic usage note right backing">
            <a:extLst xmlns:a="http://schemas.openxmlformats.org/drawingml/2006/main">
              <a:ext uri="{FF2B5EF4-FFF2-40B4-BE49-F238E27FC236}">
                <a16:creationId xmlns:a16="http://schemas.microsoft.com/office/drawing/2014/main" id="{81BD681A-89C1-4A46-B4C0-B86FF59C5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676900"/>
            <a:ext cx="53149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Italic usage note right">
            <a:extLst xmlns:a="http://schemas.openxmlformats.org/drawingml/2006/main">
              <a:ext uri="{FF2B5EF4-FFF2-40B4-BE49-F238E27FC236}">
                <a16:creationId xmlns:a16="http://schemas.microsoft.com/office/drawing/2014/main" id="{7A449ADA-762E-4087-AC5D-699E5FAC4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715000"/>
            <a:ext cx="516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8216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>
                <a:solidFill>
                  <a:srgbClr val="182E43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182E43"/>
                </a:solidFill>
                <a:latin typeface="Aptos"/>
                <a:ea typeface="Aptos"/>
                <a:cs typeface="Aptos"/>
              </a:rPr>
              <a:t>Use </a:t>
            </a:r>
            <a:r>
              <a:rPr sz="1600" b="1" i="1">
                <a:solidFill>
                  <a:srgbClr val="182E43"/>
                </a:solidFill>
                <a:latin typeface="Aptos"/>
                <a:ea typeface="Aptos"/>
                <a:cs typeface="Aptos"/>
              </a:rPr>
              <a:t>over</a:t>
            </a:r>
            <a:r>
              <a:rPr sz="1600">
                <a:solidFill>
                  <a:srgbClr val="182E43"/>
                </a:solidFill>
                <a:latin typeface="Aptos"/>
                <a:ea typeface="Aptos"/>
                <a:cs typeface="Aptos"/>
              </a:rPr>
              <a:t> for movement across or a position directly higher than something.</a:t>
            </a:r>
          </a:p>
        </p:txBody>
      </p:sp>
      <p:sp>
        <p:nvSpPr>
          <p:cNvPr id="83" name="Forbes English footer clean backing">
            <a:extLst xmlns:a="http://schemas.openxmlformats.org/drawingml/2006/main">
              <a:ext uri="{FF2B5EF4-FFF2-40B4-BE49-F238E27FC236}">
                <a16:creationId xmlns:a16="http://schemas.microsoft.com/office/drawing/2014/main" id="{E438206C-1B66-4C68-A814-D06EFEAFB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76975"/>
            <a:ext cx="9144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Forbes English footer wordmark">
            <a:extLst xmlns:a="http://schemas.openxmlformats.org/drawingml/2006/main">
              <a:ext uri="{FF2B5EF4-FFF2-40B4-BE49-F238E27FC236}">
                <a16:creationId xmlns:a16="http://schemas.microsoft.com/office/drawing/2014/main" id="{EA85254E-11DB-4C6B-9AEA-6D622720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15075"/>
            <a:ext cx="733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i="0">
                <a:solidFill>
                  <a:srgbClr val="101918"/>
                </a:solidFill>
                <a:latin typeface="Georgia"/>
                <a:ea typeface="Georgia"/>
                <a:cs typeface="Georgia"/>
              </a:rPr>
              <a:t>Forbes</a:t>
            </a:r>
          </a:p>
        </p:txBody>
      </p:sp>
      <p:sp>
        <p:nvSpPr>
          <p:cNvPr id="85" name="Forbes English footer second line">
            <a:extLst xmlns:a="http://schemas.openxmlformats.org/drawingml/2006/main">
              <a:ext uri="{FF2B5EF4-FFF2-40B4-BE49-F238E27FC236}">
                <a16:creationId xmlns:a16="http://schemas.microsoft.com/office/drawing/2014/main" id="{66904B28-858E-45FE-8D3D-5ABB247A3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477000"/>
            <a:ext cx="7334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50" b="1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ENGLISH</a:t>
            </a:r>
          </a:p>
        </p:txBody>
      </p:sp>
    </p:spTree>
    <p:extLst>
      <p:ext uri="{BB962C8B-B14F-4D97-AF65-F5344CB8AC3E}">
        <p14:creationId xmlns:p14="http://schemas.microsoft.com/office/powerpoint/2010/main" val="21312836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D9E1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mask left">
            <a:extLst xmlns:a="http://schemas.openxmlformats.org/drawingml/2006/main">
              <a:ext uri="{FF2B5EF4-FFF2-40B4-BE49-F238E27FC236}">
                <a16:creationId xmlns:a16="http://schemas.microsoft.com/office/drawing/2014/main" id="{BBFA8856-3C6D-4691-B00D-D6632FE4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"/>
            <a:ext cx="53054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 mask right">
            <a:extLst xmlns:a="http://schemas.openxmlformats.org/drawingml/2006/main">
              <a:ext uri="{FF2B5EF4-FFF2-40B4-BE49-F238E27FC236}">
                <a16:creationId xmlns:a16="http://schemas.microsoft.com/office/drawing/2014/main" id="{4767F1FD-0C54-4ED5-B203-16844838C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71500"/>
            <a:ext cx="53054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arget title left">
            <a:extLst xmlns:a="http://schemas.openxmlformats.org/drawingml/2006/main">
              <a:ext uri="{FF2B5EF4-FFF2-40B4-BE49-F238E27FC236}">
                <a16:creationId xmlns:a16="http://schemas.microsoft.com/office/drawing/2014/main" id="{0A8C36BA-DE24-4BBB-BADC-2B7EA3797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1520"/>
            <a:ext cx="5074920" cy="658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>
                <a:solidFill>
                  <a:srgbClr val="C9C5BD"/>
                </a:solidFill>
              </a:defRPr>
            </a:pPr>
            <a:r>
              <a:rPr sz="4300" b="1">
                <a:ln w="10478">
                  <a:solidFill>
                    <a:srgbClr val="303437"/>
                  </a:solidFill>
                  <a:prstDash val="solid"/>
                </a:ln>
                <a:solidFill>
                  <a:srgbClr val="C9C5BD"/>
                </a:solidFill>
                <a:latin typeface="Noto Sans Display Condensed"/>
                <a:ea typeface="Noto Sans Display Condensed"/>
                <a:cs typeface="Noto Sans Display Condensed"/>
              </a:rPr>
              <a:t>INTO</a:t>
            </a:r>
          </a:p>
        </p:txBody>
      </p:sp>
      <p:sp>
        <p:nvSpPr>
          <p:cNvPr id="5" name="Target title right">
            <a:extLst xmlns:a="http://schemas.openxmlformats.org/drawingml/2006/main">
              <a:ext uri="{FF2B5EF4-FFF2-40B4-BE49-F238E27FC236}">
                <a16:creationId xmlns:a16="http://schemas.microsoft.com/office/drawing/2014/main" id="{BDAA87EA-9A55-4C8E-A126-0084C1E8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731520"/>
            <a:ext cx="5074920" cy="658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>
                <a:solidFill>
                  <a:srgbClr val="C9C5BD"/>
                </a:solidFill>
              </a:defRPr>
            </a:pPr>
            <a:r>
              <a:rPr sz="4300" b="1">
                <a:ln w="10478">
                  <a:solidFill>
                    <a:srgbClr val="303437"/>
                  </a:solidFill>
                  <a:prstDash val="solid"/>
                </a:ln>
                <a:solidFill>
                  <a:srgbClr val="C9C5BD"/>
                </a:solidFill>
                <a:latin typeface="Noto Sans Display Condensed"/>
                <a:ea typeface="Noto Sans Display Condensed"/>
                <a:cs typeface="Noto Sans Display Condensed"/>
              </a:rPr>
              <a:t>OUT OF</a:t>
            </a:r>
          </a:p>
        </p:txBody>
      </p:sp>
      <p:sp>
        <p:nvSpPr>
          <p:cNvPr id="6" name="Sentence mask left">
            <a:extLst xmlns:a="http://schemas.openxmlformats.org/drawingml/2006/main">
              <a:ext uri="{FF2B5EF4-FFF2-40B4-BE49-F238E27FC236}">
                <a16:creationId xmlns:a16="http://schemas.microsoft.com/office/drawing/2014/main" id="{AA124D26-5BCC-407B-926B-3B7E7B642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95875"/>
            <a:ext cx="528637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entence mask right">
            <a:extLst xmlns:a="http://schemas.openxmlformats.org/drawingml/2006/main">
              <a:ext uri="{FF2B5EF4-FFF2-40B4-BE49-F238E27FC236}">
                <a16:creationId xmlns:a16="http://schemas.microsoft.com/office/drawing/2014/main" id="{D77C2D6F-09B8-48CB-96E0-F3CB6E6D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095875"/>
            <a:ext cx="528637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entence left">
            <a:extLst xmlns:a="http://schemas.openxmlformats.org/drawingml/2006/main">
              <a:ext uri="{FF2B5EF4-FFF2-40B4-BE49-F238E27FC236}">
                <a16:creationId xmlns:a16="http://schemas.microsoft.com/office/drawing/2014/main" id="{24323F03-48B8-4C83-AEE6-F8039DEE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5212080"/>
            <a:ext cx="5102352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>
                <a:solidFill>
                  <a:srgbClr val="101918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9" name="Sentence right">
            <a:extLst xmlns:a="http://schemas.openxmlformats.org/drawingml/2006/main">
              <a:ext uri="{FF2B5EF4-FFF2-40B4-BE49-F238E27FC236}">
                <a16:creationId xmlns:a16="http://schemas.microsoft.com/office/drawing/2014/main" id="{14BA90B4-30F0-4048-8ACC-761630CB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384" y="5212080"/>
            <a:ext cx="5102352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>
                <a:solidFill>
                  <a:srgbClr val="101918"/>
                </a:solidFill>
                <a:latin typeface="Aptos"/>
                <a:ea typeface="Aptos"/>
                <a:cs typeface="Aptos"/>
              </a:rPr>
              <a:t>James Hurley is riding </a:t>
            </a:r>
            <a:r>
              <a:rPr sz="1700" b="1" i="1">
                <a:solidFill>
                  <a:srgbClr val="8A1A1E"/>
                </a:solidFill>
                <a:latin typeface="Georgia"/>
                <a:ea typeface="Georgia"/>
                <a:cs typeface="Georgia"/>
              </a:rPr>
              <a:t>out of</a:t>
            </a:r>
            <a:r>
              <a:rPr sz="1700">
                <a:solidFill>
                  <a:srgbClr val="101918"/>
                </a:solidFill>
                <a:latin typeface="Aptos"/>
                <a:ea typeface="Aptos"/>
                <a:cs typeface="Aptos"/>
              </a:rPr>
              <a:t> the woods.</a:t>
            </a:r>
          </a:p>
        </p:txBody>
      </p:sp>
      <p:sp>
        <p:nvSpPr>
          <p:cNvPr id="11" name="Slide 4 system background">
            <a:extLst xmlns:a="http://schemas.openxmlformats.org/drawingml/2006/main">
              <a:ext uri="{FF2B5EF4-FFF2-40B4-BE49-F238E27FC236}">
                <a16:creationId xmlns:a16="http://schemas.microsoft.com/office/drawing/2014/main" id="{227703AE-E2F2-476D-98D7-88C45815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3AD30E2-E127-48D8-86E6-8BE0EB6D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219456"/>
            <a:ext cx="210312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777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90111C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90111C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3" name="Header separator">
            <a:extLst xmlns:a="http://schemas.openxmlformats.org/drawingml/2006/main">
              <a:ext uri="{FF2B5EF4-FFF2-40B4-BE49-F238E27FC236}">
                <a16:creationId xmlns:a16="http://schemas.microsoft.com/office/drawing/2014/main" id="{F45EC1F8-68EF-4996-B1AC-FEE8AF95F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1168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01918"/>
            </a:solidFill>
            <a:prstDash val="solid"/>
          </a:ln>
        </p:spPr>
      </p:sp>
      <p:sp>
        <p:nvSpPr>
          <p:cNvPr id="14" name="Running header">
            <a:extLst xmlns:a="http://schemas.openxmlformats.org/drawingml/2006/main">
              <a:ext uri="{FF2B5EF4-FFF2-40B4-BE49-F238E27FC236}">
                <a16:creationId xmlns:a16="http://schemas.microsoft.com/office/drawing/2014/main" id="{EF823CA0-09D4-4AB3-AD34-CD3B8888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10312"/>
            <a:ext cx="2971800" cy="210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82E43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82E43"/>
                </a:solidFill>
                <a:latin typeface="Aptos"/>
                <a:ea typeface="Aptos"/>
                <a:cs typeface="Aptos"/>
              </a:rPr>
              <a:t>FORBES ENGLISH • PREPOSITIONS</a:t>
            </a:r>
          </a:p>
        </p:txBody>
      </p:sp>
      <p:sp>
        <p:nvSpPr>
          <p:cNvPr id="15" name="Centre divider">
            <a:extLst xmlns:a="http://schemas.openxmlformats.org/drawingml/2006/main">
              <a:ext uri="{FF2B5EF4-FFF2-40B4-BE49-F238E27FC236}">
                <a16:creationId xmlns:a16="http://schemas.microsoft.com/office/drawing/2014/main" id="{5F8F0063-07AD-4D22-994E-DD551E564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429" y="502920"/>
            <a:ext cx="0" cy="52760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7390"/>
            </a:solidFill>
            <a:prstDash val="solid"/>
          </a:ln>
        </p:spPr>
      </p:sp>
      <p:sp>
        <p:nvSpPr>
          <p:cNvPr id="16" name="Centre diamond">
            <a:extLst xmlns:a="http://schemas.openxmlformats.org/drawingml/2006/main">
              <a:ext uri="{FF2B5EF4-FFF2-40B4-BE49-F238E27FC236}">
                <a16:creationId xmlns:a16="http://schemas.microsoft.com/office/drawing/2014/main" id="{B6CA05D6-4861-445F-A2F6-6D766E12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7705" y="3136392"/>
            <a:ext cx="155448" cy="155448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1073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arget title left">
            <a:extLst xmlns:a="http://schemas.openxmlformats.org/drawingml/2006/main">
              <a:ext uri="{FF2B5EF4-FFF2-40B4-BE49-F238E27FC236}">
                <a16:creationId xmlns:a16="http://schemas.microsoft.com/office/drawing/2014/main" id="{D6EBCDED-0F82-4C33-B7D8-F6DD5A7DB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1520"/>
            <a:ext cx="5074920" cy="658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300" b="1">
                <a:solidFill>
                  <a:srgbClr val="C9C5BD"/>
                </a:solidFill>
                <a:latin typeface="Noto Sans Display Condensed"/>
                <a:ea typeface="Noto Sans Display Condensed"/>
                <a:cs typeface="Noto Sans Display Condensed"/>
              </a:defRPr>
            </a:pPr>
            <a:r>
              <a:rPr sz="4300" b="1" i="0">
                <a:ln w="10478">
                  <a:solidFill>
                    <a:srgbClr val="303437"/>
                  </a:solidFill>
                  <a:prstDash val="solid"/>
                </a:ln>
                <a:solidFill>
                  <a:srgbClr val="C9C5BD"/>
                </a:solidFill>
                <a:latin typeface="Noto Sans Display Condensed"/>
                <a:ea typeface="Noto Sans Display Condensed"/>
                <a:cs typeface="Noto Sans Display Condensed"/>
              </a:rPr>
              <a:t>INTO</a:t>
            </a:r>
          </a:p>
        </p:txBody>
      </p:sp>
      <p:sp>
        <p:nvSpPr>
          <p:cNvPr id="18" name="Target title right">
            <a:extLst xmlns:a="http://schemas.openxmlformats.org/drawingml/2006/main">
              <a:ext uri="{FF2B5EF4-FFF2-40B4-BE49-F238E27FC236}">
                <a16:creationId xmlns:a16="http://schemas.microsoft.com/office/drawing/2014/main" id="{F8B2513E-6CA8-4B76-81BB-3FF5F4825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731520"/>
            <a:ext cx="5074920" cy="658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300" b="1">
                <a:solidFill>
                  <a:srgbClr val="C9C5BD"/>
                </a:solidFill>
                <a:latin typeface="Noto Sans Display Condensed"/>
                <a:ea typeface="Noto Sans Display Condensed"/>
                <a:cs typeface="Noto Sans Display Condensed"/>
              </a:defRPr>
            </a:pPr>
            <a:r>
              <a:rPr sz="4300" b="1" i="0">
                <a:ln w="10478">
                  <a:solidFill>
                    <a:srgbClr val="303437"/>
                  </a:solidFill>
                  <a:prstDash val="solid"/>
                </a:ln>
                <a:solidFill>
                  <a:srgbClr val="C9C5BD"/>
                </a:solidFill>
                <a:latin typeface="Noto Sans Display Condensed"/>
                <a:ea typeface="Noto Sans Display Condensed"/>
                <a:cs typeface="Noto Sans Display Condensed"/>
              </a:rPr>
              <a:t>OUT OF</a:t>
            </a:r>
          </a:p>
        </p:txBody>
      </p:sp>
      <p:sp>
        <p:nvSpPr>
          <p:cNvPr id="19" name="Footer line left">
            <a:extLst xmlns:a="http://schemas.openxmlformats.org/drawingml/2006/main">
              <a:ext uri="{FF2B5EF4-FFF2-40B4-BE49-F238E27FC236}">
                <a16:creationId xmlns:a16="http://schemas.microsoft.com/office/drawing/2014/main" id="{8547EB6E-9445-4365-82B3-1872BC59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238875"/>
            <a:ext cx="538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7390"/>
            </a:solidFill>
            <a:prstDash val="solid"/>
          </a:ln>
        </p:spPr>
      </p:sp>
      <p:sp>
        <p:nvSpPr>
          <p:cNvPr id="20" name="Footer line right">
            <a:extLst xmlns:a="http://schemas.openxmlformats.org/drawingml/2006/main">
              <a:ext uri="{FF2B5EF4-FFF2-40B4-BE49-F238E27FC236}">
                <a16:creationId xmlns:a16="http://schemas.microsoft.com/office/drawing/2014/main" id="{67310DAA-546F-407A-BE45-94E5E0CB5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6238875"/>
            <a:ext cx="538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7390"/>
            </a:solidFill>
            <a:prstDash val="solid"/>
          </a:ln>
        </p:spPr>
      </p:sp>
      <p:pic>
        <p:nvPicPr>
          <p:cNvPr id="1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cba7f8666f4111"/>
          <a:stretch xmlns:a="http://schemas.openxmlformats.org/drawingml/2006/main"/>
        </p:blipFill>
        <p:spPr>
          <a:xfrm xmlns:a="http://schemas.openxmlformats.org/drawingml/2006/main">
            <a:off x="5829300" y="6048375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22" name="Footer left">
            <a:extLst xmlns:a="http://schemas.openxmlformats.org/drawingml/2006/main">
              <a:ext uri="{FF2B5EF4-FFF2-40B4-BE49-F238E27FC236}">
                <a16:creationId xmlns:a16="http://schemas.microsoft.com/office/drawing/2014/main" id="{2E05372D-3BCB-448B-97A6-2394A28DB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3817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11111"/>
                </a:solidFill>
                <a:latin typeface="Aptos"/>
                <a:ea typeface="Aptos"/>
                <a:cs typeface="Aptos"/>
              </a:rPr>
              <a:t>HAWKINS FIELD GUIDE</a:t>
            </a:r>
          </a:p>
        </p:txBody>
      </p:sp>
      <p:sp>
        <p:nvSpPr>
          <p:cNvPr id="23" name="Footer course">
            <a:extLst xmlns:a="http://schemas.openxmlformats.org/drawingml/2006/main">
              <a:ext uri="{FF2B5EF4-FFF2-40B4-BE49-F238E27FC236}">
                <a16:creationId xmlns:a16="http://schemas.microsoft.com/office/drawing/2014/main" id="{57FE72F6-BE79-4BE9-B718-4659692DF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38175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 b="1" i="0">
                <a:solidFill>
                  <a:srgbClr val="101918"/>
                </a:solidFill>
                <a:latin typeface="Roboto Condensed"/>
                <a:ea typeface="Roboto Condensed"/>
                <a:cs typeface="Roboto Condensed"/>
              </a:rPr>
              <a:t/>
            </a:r>
          </a:p>
        </p:txBody>
      </p:sp>
      <p:pic>
        <p:nvPicPr>
          <p:cNvPr id="1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992b2977794605">
            <a:extLst>
              <a:ext uri="{96DAC541-7B7A-43D3-8B79-37D633B846F1}">
                <asvg:svgBlip xmlns:asvg="http://schemas.microsoft.com/office/drawing/2016/SVG/main" r:embed="Rb7c2804367114a0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144250" y="6267450"/>
            <a:ext cx="781050" cy="361950"/>
          </a:xfrm>
          <a:prstGeom xmlns:a="http://schemas.openxmlformats.org/drawingml/2006/main" prst="rect">
            <a:avLst/>
          </a:prstGeom>
        </p:spPr>
      </p:pic>
      <p:sp>
        <p:nvSpPr>
          <p:cNvPr id="28" name="Sentence field left">
            <a:extLst xmlns:a="http://schemas.openxmlformats.org/drawingml/2006/main">
              <a:ext uri="{FF2B5EF4-FFF2-40B4-BE49-F238E27FC236}">
                <a16:creationId xmlns:a16="http://schemas.microsoft.com/office/drawing/2014/main" id="{7FC75501-276F-43A2-A465-9FF34C50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05400"/>
            <a:ext cx="5314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Sentence field right">
            <a:extLst xmlns:a="http://schemas.openxmlformats.org/drawingml/2006/main">
              <a:ext uri="{FF2B5EF4-FFF2-40B4-BE49-F238E27FC236}">
                <a16:creationId xmlns:a16="http://schemas.microsoft.com/office/drawing/2014/main" id="{9FF7B920-4F3C-48E2-88E2-17D1C7529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05400"/>
            <a:ext cx="5314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0" name="Sentence left">
            <a:extLst xmlns:a="http://schemas.openxmlformats.org/drawingml/2006/main">
              <a:ext uri="{FF2B5EF4-FFF2-40B4-BE49-F238E27FC236}">
                <a16:creationId xmlns:a16="http://schemas.microsoft.com/office/drawing/2014/main" id="{5E943B7A-E1F2-4086-89F3-A5624274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62550"/>
            <a:ext cx="5219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>
                <a:solidFill>
                  <a:srgbClr val="182E43"/>
                </a:solidFill>
                <a:latin typeface="Aptos"/>
                <a:ea typeface="Aptos"/>
                <a:cs typeface="Aptos"/>
              </a:defRPr>
            </a:pPr>
            <a:r>
              <a:rPr sz="1700">
                <a:solidFill>
                  <a:srgbClr val="182E43"/>
                </a:solidFill>
                <a:latin typeface="Aptos"/>
                <a:ea typeface="Aptos"/>
                <a:cs typeface="Aptos"/>
              </a:rPr>
              <a:t>Nancy is climbing </a:t>
            </a:r>
            <a:r>
              <a:rPr sz="1700" b="1" i="1">
                <a:solidFill>
                  <a:srgbClr val="182E43"/>
                </a:solidFill>
                <a:latin typeface="Aptos"/>
                <a:ea typeface="Aptos"/>
                <a:cs typeface="Aptos"/>
              </a:rPr>
              <a:t>into</a:t>
            </a:r>
            <a:r>
              <a:rPr sz="1700">
                <a:solidFill>
                  <a:srgbClr val="182E43"/>
                </a:solidFill>
                <a:latin typeface="Aptos"/>
                <a:ea typeface="Aptos"/>
                <a:cs typeface="Aptos"/>
              </a:rPr>
              <a:t> the tree portal.</a:t>
            </a:r>
          </a:p>
        </p:txBody>
      </p:sp>
      <p:sp>
        <p:nvSpPr>
          <p:cNvPr id="31" name="Sentence right">
            <a:extLst xmlns:a="http://schemas.openxmlformats.org/drawingml/2006/main">
              <a:ext uri="{FF2B5EF4-FFF2-40B4-BE49-F238E27FC236}">
                <a16:creationId xmlns:a16="http://schemas.microsoft.com/office/drawing/2014/main" id="{D76F7032-1BA0-4910-9E63-C76B888C3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5162550"/>
            <a:ext cx="5219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>
                <a:solidFill>
                  <a:srgbClr val="182E43"/>
                </a:solidFill>
                <a:latin typeface="Aptos"/>
                <a:ea typeface="Aptos"/>
                <a:cs typeface="Aptos"/>
              </a:defRPr>
            </a:pPr>
            <a:r>
              <a:rPr sz="1700">
                <a:solidFill>
                  <a:srgbClr val="182E43"/>
                </a:solidFill>
                <a:latin typeface="Aptos"/>
                <a:ea typeface="Aptos"/>
                <a:cs typeface="Aptos"/>
              </a:rPr>
              <a:t>Eleven is getting </a:t>
            </a:r>
            <a:r>
              <a:rPr sz="1700" b="1" i="1">
                <a:solidFill>
                  <a:srgbClr val="182E43"/>
                </a:solidFill>
                <a:latin typeface="Aptos"/>
                <a:ea typeface="Aptos"/>
                <a:cs typeface="Aptos"/>
              </a:rPr>
              <a:t>out of</a:t>
            </a:r>
            <a:r>
              <a:rPr sz="1700">
                <a:solidFill>
                  <a:srgbClr val="182E43"/>
                </a:solidFill>
                <a:latin typeface="Aptos"/>
                <a:ea typeface="Aptos"/>
                <a:cs typeface="Aptos"/>
              </a:rPr>
              <a:t> the isolation bath.</a:t>
            </a:r>
          </a:p>
        </p:txBody>
      </p:sp>
      <p:sp>
        <p:nvSpPr>
          <p:cNvPr id="37" name="Corrected Laura INTO backing">
            <a:extLst xmlns:a="http://schemas.openxmlformats.org/drawingml/2006/main">
              <a:ext uri="{FF2B5EF4-FFF2-40B4-BE49-F238E27FC236}">
                <a16:creationId xmlns:a16="http://schemas.microsoft.com/office/drawing/2014/main" id="{354558C1-7A70-4F09-9C9C-37BB1E0C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52197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38df0b6a71421b"/>
          <a:srcRect xmlns:a="http://schemas.openxmlformats.org/drawingml/2006/main" l="0" t="730" r="0" b="7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476250" y="1676400"/>
            <a:ext cx="5219700" cy="3429000"/>
          </a:xfrm>
          <a:prstGeom xmlns:a="http://schemas.openxmlformats.org/drawingml/2006/main" prst="rect">
            <a:avLst/>
          </a:prstGeom>
        </p:spPr>
      </p:pic>
      <p:sp>
        <p:nvSpPr>
          <p:cNvPr id="39" name="Corrected Laura INTO border">
            <a:extLst xmlns:a="http://schemas.openxmlformats.org/drawingml/2006/main">
              <a:ext uri="{FF2B5EF4-FFF2-40B4-BE49-F238E27FC236}">
                <a16:creationId xmlns:a16="http://schemas.microsoft.com/office/drawing/2014/main" id="{779F727D-80A6-45BB-86E8-2606CD61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52197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6" name="Clean emblem background">
            <a:extLst xmlns:a="http://schemas.openxmlformats.org/drawingml/2006/main">
              <a:ext uri="{FF2B5EF4-FFF2-40B4-BE49-F238E27FC236}">
                <a16:creationId xmlns:a16="http://schemas.microsoft.com/office/drawing/2014/main" id="{32148853-4ACD-4BF4-ABCE-859212038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6010275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fbcfefa8624869">
            <a:extLst>
              <a:ext uri="{96DAC541-7B7A-43D3-8B79-37D633B846F1}">
                <asvg:svgBlip xmlns:asvg="http://schemas.microsoft.com/office/drawing/2016/SVG/main" r:embed="Rcff8f3f4360e402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829300" y="6048375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54" name="Corrected James OUT OF backing">
            <a:extLst xmlns:a="http://schemas.openxmlformats.org/drawingml/2006/main">
              <a:ext uri="{FF2B5EF4-FFF2-40B4-BE49-F238E27FC236}">
                <a16:creationId xmlns:a16="http://schemas.microsoft.com/office/drawing/2014/main" id="{509103FF-9203-436A-82CE-D79E6ED1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76400"/>
            <a:ext cx="52197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Corrected James OUT OF border">
            <a:extLst xmlns:a="http://schemas.openxmlformats.org/drawingml/2006/main">
              <a:ext uri="{FF2B5EF4-FFF2-40B4-BE49-F238E27FC236}">
                <a16:creationId xmlns:a16="http://schemas.microsoft.com/office/drawing/2014/main" id="{F4C09CD3-CBCF-439E-BC66-4186C11C2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76400"/>
            <a:ext cx="52197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5" name="Detailed James OUT OF backing">
            <a:extLst xmlns:a="http://schemas.openxmlformats.org/drawingml/2006/main">
              <a:ext uri="{FF2B5EF4-FFF2-40B4-BE49-F238E27FC236}">
                <a16:creationId xmlns:a16="http://schemas.microsoft.com/office/drawing/2014/main" id="{89E8C25B-B92B-487C-8C24-AD7E8E50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76400"/>
            <a:ext cx="52197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Detailed James OUT OF border">
            <a:extLst xmlns:a="http://schemas.openxmlformats.org/drawingml/2006/main">
              <a:ext uri="{FF2B5EF4-FFF2-40B4-BE49-F238E27FC236}">
                <a16:creationId xmlns:a16="http://schemas.microsoft.com/office/drawing/2014/main" id="{5CF706E1-7912-4487-9A22-571AC606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76400"/>
            <a:ext cx="52197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7" name="Palette James OUT OF backing">
            <a:extLst xmlns:a="http://schemas.openxmlformats.org/drawingml/2006/main">
              <a:ext uri="{FF2B5EF4-FFF2-40B4-BE49-F238E27FC236}">
                <a16:creationId xmlns:a16="http://schemas.microsoft.com/office/drawing/2014/main" id="{0A3CD2DB-101F-48DC-A950-7FD2B53F6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76400"/>
            <a:ext cx="52197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04577e4bc14c34"/>
          <a:srcRect xmlns:a="http://schemas.openxmlformats.org/drawingml/2006/main" l="0" t="730" r="0" b="7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496050" y="1676400"/>
            <a:ext cx="5219700" cy="3429000"/>
          </a:xfrm>
          <a:prstGeom xmlns:a="http://schemas.openxmlformats.org/drawingml/2006/main" prst="rect">
            <a:avLst/>
          </a:prstGeom>
        </p:spPr>
      </p:pic>
      <p:sp>
        <p:nvSpPr>
          <p:cNvPr id="79" name="Palette James OUT OF border">
            <a:extLst xmlns:a="http://schemas.openxmlformats.org/drawingml/2006/main">
              <a:ext uri="{FF2B5EF4-FFF2-40B4-BE49-F238E27FC236}">
                <a16:creationId xmlns:a16="http://schemas.microsoft.com/office/drawing/2014/main" id="{BAF1B7C0-2546-4826-A2FA-D0B468A3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76400"/>
            <a:ext cx="52197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90" name="Cover emblem clean background">
            <a:extLst xmlns:a="http://schemas.openxmlformats.org/drawingml/2006/main">
              <a:ext uri="{FF2B5EF4-FFF2-40B4-BE49-F238E27FC236}">
                <a16:creationId xmlns:a16="http://schemas.microsoft.com/office/drawing/2014/main" id="{B9F55D56-9247-4F7F-8F6E-F0AC1F7B2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6010275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8607ba0ab1472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29300" y="6048375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102" name="Basic course header clean backing">
            <a:extLst xmlns:a="http://schemas.openxmlformats.org/drawingml/2006/main">
              <a:ext uri="{FF2B5EF4-FFF2-40B4-BE49-F238E27FC236}">
                <a16:creationId xmlns:a16="http://schemas.microsoft.com/office/drawing/2014/main" id="{FFF76B64-5AC6-48C4-8590-1E6A32F1E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"/>
            <a:ext cx="32861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Basic course running header">
            <a:extLst xmlns:a="http://schemas.openxmlformats.org/drawingml/2006/main">
              <a:ext uri="{FF2B5EF4-FFF2-40B4-BE49-F238E27FC236}">
                <a16:creationId xmlns:a16="http://schemas.microsoft.com/office/drawing/2014/main" id="{6E15DEE8-74D9-4D23-8B5F-BB719DED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82E43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82E43"/>
                </a:solidFill>
                <a:latin typeface="Aptos"/>
                <a:ea typeface="Aptos"/>
                <a:cs typeface="Aptos"/>
              </a:rPr>
              <a:t>FORBES ENGLISH • PREPOSITIONS</a:t>
            </a:r>
          </a:p>
        </p:txBody>
      </p:sp>
      <p:sp>
        <p:nvSpPr>
          <p:cNvPr id="104" name="Usage note left backing">
            <a:extLst xmlns:a="http://schemas.openxmlformats.org/drawingml/2006/main">
              <a:ext uri="{FF2B5EF4-FFF2-40B4-BE49-F238E27FC236}">
                <a16:creationId xmlns:a16="http://schemas.microsoft.com/office/drawing/2014/main" id="{68EEE2B4-D22A-4D28-AFA4-130DE4471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76900"/>
            <a:ext cx="53149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Usage note left">
            <a:extLst xmlns:a="http://schemas.openxmlformats.org/drawingml/2006/main">
              <a:ext uri="{FF2B5EF4-FFF2-40B4-BE49-F238E27FC236}">
                <a16:creationId xmlns:a16="http://schemas.microsoft.com/office/drawing/2014/main" id="{86588F45-BA20-424E-B3BE-A6E8DCCF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516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 i="0">
                <a:solidFill>
                  <a:srgbClr val="505653"/>
                </a:solidFill>
                <a:latin typeface="Aptos"/>
                <a:ea typeface="Aptos"/>
                <a:cs typeface="Aptos"/>
              </a:rPr>
              <a:t>Use into for movement from outside to inside.</a:t>
            </a:r>
          </a:p>
        </p:txBody>
      </p:sp>
      <p:sp>
        <p:nvSpPr>
          <p:cNvPr id="106" name="Usage note right backing">
            <a:extLst xmlns:a="http://schemas.openxmlformats.org/drawingml/2006/main">
              <a:ext uri="{FF2B5EF4-FFF2-40B4-BE49-F238E27FC236}">
                <a16:creationId xmlns:a16="http://schemas.microsoft.com/office/drawing/2014/main" id="{E98AD8E8-D318-4277-A79B-0B8BE6EC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676900"/>
            <a:ext cx="53149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Usage note right">
            <a:extLst xmlns:a="http://schemas.openxmlformats.org/drawingml/2006/main">
              <a:ext uri="{FF2B5EF4-FFF2-40B4-BE49-F238E27FC236}">
                <a16:creationId xmlns:a16="http://schemas.microsoft.com/office/drawing/2014/main" id="{6108B124-BF0B-4CCB-A650-C928EA46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715000"/>
            <a:ext cx="516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 i="0">
                <a:solidFill>
                  <a:srgbClr val="505653"/>
                </a:solidFill>
                <a:latin typeface="Aptos"/>
                <a:ea typeface="Aptos"/>
                <a:cs typeface="Aptos"/>
              </a:rPr>
              <a:t>Use out of for movement from inside to outside.</a:t>
            </a:r>
          </a:p>
        </p:txBody>
      </p:sp>
      <p:sp>
        <p:nvSpPr>
          <p:cNvPr id="119" name="Italic usage note left backing">
            <a:extLst xmlns:a="http://schemas.openxmlformats.org/drawingml/2006/main">
              <a:ext uri="{FF2B5EF4-FFF2-40B4-BE49-F238E27FC236}">
                <a16:creationId xmlns:a16="http://schemas.microsoft.com/office/drawing/2014/main" id="{2BACD086-175A-4666-8516-DEDF1702D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76900"/>
            <a:ext cx="53149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Italic usage note left">
            <a:extLst xmlns:a="http://schemas.openxmlformats.org/drawingml/2006/main">
              <a:ext uri="{FF2B5EF4-FFF2-40B4-BE49-F238E27FC236}">
                <a16:creationId xmlns:a16="http://schemas.microsoft.com/office/drawing/2014/main" id="{07AB87D2-674E-4A5F-9D28-EC4CAB5A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516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>
                <a:solidFill>
                  <a:srgbClr val="182E43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182E43"/>
                </a:solidFill>
                <a:latin typeface="Aptos"/>
                <a:ea typeface="Aptos"/>
                <a:cs typeface="Aptos"/>
              </a:rPr>
              <a:t>Use </a:t>
            </a:r>
            <a:r>
              <a:rPr sz="1600" b="1" i="1">
                <a:solidFill>
                  <a:srgbClr val="182E43"/>
                </a:solidFill>
                <a:latin typeface="Aptos"/>
                <a:ea typeface="Aptos"/>
                <a:cs typeface="Aptos"/>
              </a:rPr>
              <a:t>into</a:t>
            </a:r>
            <a:r>
              <a:rPr sz="1600">
                <a:solidFill>
                  <a:srgbClr val="182E43"/>
                </a:solidFill>
                <a:latin typeface="Aptos"/>
                <a:ea typeface="Aptos"/>
                <a:cs typeface="Aptos"/>
              </a:rPr>
              <a:t> for movement from outside to inside.</a:t>
            </a:r>
          </a:p>
        </p:txBody>
      </p:sp>
      <p:sp>
        <p:nvSpPr>
          <p:cNvPr id="121" name="Italic usage note right backing">
            <a:extLst xmlns:a="http://schemas.openxmlformats.org/drawingml/2006/main">
              <a:ext uri="{FF2B5EF4-FFF2-40B4-BE49-F238E27FC236}">
                <a16:creationId xmlns:a16="http://schemas.microsoft.com/office/drawing/2014/main" id="{52499657-3CC2-40E1-8444-4527F8B8E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676900"/>
            <a:ext cx="53149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Italic usage note right">
            <a:extLst xmlns:a="http://schemas.openxmlformats.org/drawingml/2006/main">
              <a:ext uri="{FF2B5EF4-FFF2-40B4-BE49-F238E27FC236}">
                <a16:creationId xmlns:a16="http://schemas.microsoft.com/office/drawing/2014/main" id="{2C9A2772-A8AF-4495-BB9E-2C6C35EC6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715000"/>
            <a:ext cx="516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>
                <a:solidFill>
                  <a:srgbClr val="182E43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182E43"/>
                </a:solidFill>
                <a:latin typeface="Aptos"/>
                <a:ea typeface="Aptos"/>
                <a:cs typeface="Aptos"/>
              </a:rPr>
              <a:t>Use </a:t>
            </a:r>
            <a:r>
              <a:rPr sz="1600" b="1" i="1">
                <a:solidFill>
                  <a:srgbClr val="182E43"/>
                </a:solidFill>
                <a:latin typeface="Aptos"/>
                <a:ea typeface="Aptos"/>
                <a:cs typeface="Aptos"/>
              </a:rPr>
              <a:t>out of</a:t>
            </a:r>
            <a:r>
              <a:rPr sz="1600">
                <a:solidFill>
                  <a:srgbClr val="182E43"/>
                </a:solidFill>
                <a:latin typeface="Aptos"/>
                <a:ea typeface="Aptos"/>
                <a:cs typeface="Aptos"/>
              </a:rPr>
              <a:t> for movement from inside to outside.</a:t>
            </a:r>
          </a:p>
        </p:txBody>
      </p:sp>
      <p:sp>
        <p:nvSpPr>
          <p:cNvPr id="123" name="Forbes English footer clean backing">
            <a:extLst xmlns:a="http://schemas.openxmlformats.org/drawingml/2006/main">
              <a:ext uri="{FF2B5EF4-FFF2-40B4-BE49-F238E27FC236}">
                <a16:creationId xmlns:a16="http://schemas.microsoft.com/office/drawing/2014/main" id="{C8C9B606-1031-49AB-8B2C-B5168016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76975"/>
            <a:ext cx="9144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Forbes English footer wordmark">
            <a:extLst xmlns:a="http://schemas.openxmlformats.org/drawingml/2006/main">
              <a:ext uri="{FF2B5EF4-FFF2-40B4-BE49-F238E27FC236}">
                <a16:creationId xmlns:a16="http://schemas.microsoft.com/office/drawing/2014/main" id="{1DA2A750-7D70-4695-8B3B-BEE33D870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15075"/>
            <a:ext cx="733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i="0">
                <a:solidFill>
                  <a:srgbClr val="101918"/>
                </a:solidFill>
                <a:latin typeface="Georgia"/>
                <a:ea typeface="Georgia"/>
                <a:cs typeface="Georgia"/>
              </a:rPr>
              <a:t>Forbes</a:t>
            </a:r>
          </a:p>
        </p:txBody>
      </p:sp>
      <p:sp>
        <p:nvSpPr>
          <p:cNvPr id="125" name="Forbes English footer second line">
            <a:extLst xmlns:a="http://schemas.openxmlformats.org/drawingml/2006/main">
              <a:ext uri="{FF2B5EF4-FFF2-40B4-BE49-F238E27FC236}">
                <a16:creationId xmlns:a16="http://schemas.microsoft.com/office/drawing/2014/main" id="{F1C29C1D-80F5-45F1-8F0A-D12B28860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477000"/>
            <a:ext cx="7334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50" b="1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ENGLISH</a:t>
            </a:r>
          </a:p>
        </p:txBody>
      </p:sp>
    </p:spTree>
    <p:extLst>
      <p:ext uri="{BB962C8B-B14F-4D97-AF65-F5344CB8AC3E}">
        <p14:creationId xmlns:p14="http://schemas.microsoft.com/office/powerpoint/2010/main" val="9557291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D9E1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F367FEF-D9A8-4E27-8608-9C8099DB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219456"/>
            <a:ext cx="21031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1350" b="1">
                <a:solidFill>
                  <a:srgbClr val="90111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0111C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DE2A079-F14E-42F4-BDC0-183F1044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1168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01918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E08F986-CBF0-4CFA-B30C-F9F5AEAF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10312"/>
            <a:ext cx="297180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00" b="1">
                <a:solidFill>
                  <a:srgbClr val="182E4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E43"/>
                </a:solidFill>
                <a:latin typeface="Aptos"/>
                <a:ea typeface="Aptos"/>
                <a:cs typeface="Aptos"/>
              </a:rPr>
              <a:t>FORBES ENGLISH • PREPOSITIONS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D649FEC-A41A-40E9-903A-1B3CEDB65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390" y="502920"/>
            <a:ext cx="0" cy="52760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7390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8B0A30B2-3B14-4DAF-B490-3AC635048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7666" y="3136392"/>
            <a:ext cx="155448" cy="155448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6571D"/>
          </a:solidFill>
          <a:ln xmlns:a="http://schemas.openxmlformats.org/drawingml/2006/main" w="12700">
            <a:solidFill>
              <a:srgbClr val="8A1A1E">
                <a:alpha val="0"/>
              </a:srgbClr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869C018-9C52-4F1D-80FF-6B0B7336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1520"/>
            <a:ext cx="507492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300" b="1">
                <a:ln w="10478">
                  <a:solidFill>
                    <a:srgbClr val="303437"/>
                  </a:solidFill>
                  <a:prstDash val="solid"/>
                </a:ln>
                <a:pattFill prst="narHorz">
                  <a:fgClr>
                    <a:srgbClr val="2F3336"/>
                  </a:fgClr>
                  <a:bgClr>
                    <a:srgbClr val="B7B2AA"/>
                  </a:bgClr>
                </a:pattFill>
                <a:latin typeface="Noto Sans Display Condensed"/>
                <a:ea typeface="Noto Sans Display Condensed"/>
                <a:cs typeface="Noto Sans Display Condensed"/>
              </a:rPr>
              <a:t>AROUND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F55ADA8-24AB-4906-8186-FF9E29A73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731520"/>
            <a:ext cx="507492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300" b="1">
                <a:ln w="10478">
                  <a:solidFill>
                    <a:srgbClr val="303437"/>
                  </a:solidFill>
                  <a:prstDash val="solid"/>
                </a:ln>
                <a:pattFill prst="narHorz">
                  <a:fgClr>
                    <a:srgbClr val="2F3336"/>
                  </a:fgClr>
                  <a:bgClr>
                    <a:srgbClr val="B7B2AA"/>
                  </a:bgClr>
                </a:pattFill>
                <a:latin typeface="Noto Sans Display Condensed"/>
                <a:ea typeface="Noto Sans Display Condensed"/>
                <a:cs typeface="Noto Sans Display Condensed"/>
              </a:rPr>
              <a:t>THROUGH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F8EE178D-0601-400D-8DA3-510B37D7F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1444752"/>
            <a:ext cx="5321808" cy="3547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0DF">
              <a:alpha val="96000"/>
            </a:srgbClr>
          </a:solidFill>
          <a:ln xmlns:a="http://schemas.openxmlformats.org/drawingml/2006/main" w="13335">
            <a:solidFill>
              <a:srgbClr val="8A1A1E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817F340-2B17-4070-9ADC-1F67038F7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1645920"/>
            <a:ext cx="4882896" cy="3145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20">
                <a:solidFill>
                  <a:srgbClr val="101918"/>
                </a:solidFill>
                <a:latin typeface="Aptos"/>
                <a:ea typeface="Aptos"/>
                <a:cs typeface="Aptos"/>
              </a:rPr>
              <a:t>IMAGE SLOT</a:t>
            </a:r>
          </a:p>
          <a:p xmlns:a="http://schemas.openxmlformats.org/drawingml/2006/main">
            <a:pPr marL="0" indent="0" algn="ctr">
              <a:buNone/>
            </a:pPr>
          </a:p>
          <a:p xmlns:a="http://schemas.openxmlformats.org/drawingml/2006/main">
            <a:pPr marL="0" indent="0" algn="ctr">
              <a:buNone/>
            </a:pPr>
            <a:r>
              <a:rPr sz="1320">
                <a:solidFill>
                  <a:srgbClr val="101918"/>
                </a:solidFill>
                <a:latin typeface="Aptos"/>
                <a:ea typeface="Aptos"/>
                <a:cs typeface="Aptos"/>
              </a:rPr>
              <a:t>Leo Johnson driving around town. The road should loop around town blocks or the Welcome sign, so the circular movement is unmistakable. Keep car small and palette restrained.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ACF35378-0EE2-45D8-A4BE-BF584AD47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1444752"/>
            <a:ext cx="5321808" cy="3547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0DF">
              <a:alpha val="96000"/>
            </a:srgbClr>
          </a:solidFill>
          <a:ln xmlns:a="http://schemas.openxmlformats.org/drawingml/2006/main" w="13335">
            <a:solidFill>
              <a:srgbClr val="8A1A1E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A8EFD97-3332-43E6-A4E2-579E1935D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1645920"/>
            <a:ext cx="4882896" cy="3145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20">
                <a:solidFill>
                  <a:srgbClr val="101918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814BEEF-7C48-4340-AE52-9CB924C1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5212080"/>
            <a:ext cx="510235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>
                <a:solidFill>
                  <a:srgbClr val="101918"/>
                </a:solidFill>
                <a:latin typeface="Aptos"/>
                <a:ea typeface="Aptos"/>
                <a:cs typeface="Aptos"/>
              </a:rPr>
              <a:t>Leo is driving </a:t>
            </a:r>
            <a:r>
              <a:rPr sz="1700" b="1" i="1">
                <a:solidFill>
                  <a:srgbClr val="8A1A1E"/>
                </a:solidFill>
                <a:latin typeface="Georgia"/>
                <a:ea typeface="Georgia"/>
                <a:cs typeface="Georgia"/>
              </a:rPr>
              <a:t>around</a:t>
            </a:r>
            <a:r>
              <a:rPr sz="1700">
                <a:solidFill>
                  <a:srgbClr val="101918"/>
                </a:solidFill>
                <a:latin typeface="Aptos"/>
                <a:ea typeface="Aptos"/>
                <a:cs typeface="Aptos"/>
              </a:rPr>
              <a:t> town.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F6F9E38-63AE-43F9-8EE9-2E7002A6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384" y="5212080"/>
            <a:ext cx="510235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>
                <a:solidFill>
                  <a:srgbClr val="101918"/>
                </a:solidFill>
                <a:latin typeface="Aptos"/>
                <a:ea typeface="Aptos"/>
                <a:cs typeface="Aptos"/>
              </a:rPr>
              <a:t>BOB is moving </a:t>
            </a:r>
            <a:r>
              <a:rPr sz="1700" b="1" i="1">
                <a:solidFill>
                  <a:srgbClr val="8A1A1E"/>
                </a:solidFill>
                <a:latin typeface="Georgia"/>
                <a:ea typeface="Georgia"/>
                <a:cs typeface="Georgia"/>
              </a:rPr>
              <a:t>through</a:t>
            </a:r>
            <a:r>
              <a:rPr sz="1700">
                <a:solidFill>
                  <a:srgbClr val="101918"/>
                </a:solidFill>
                <a:latin typeface="Aptos"/>
                <a:ea typeface="Aptos"/>
                <a:cs typeface="Aptos"/>
              </a:rPr>
              <a:t> the curtains.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70013F8-A9F3-477C-9B30-C15BBECD7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632704"/>
            <a:ext cx="4754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20" b="1">
                <a:solidFill>
                  <a:srgbClr val="8A1A1E"/>
                </a:solidFill>
                <a:latin typeface="Roboto Condensed"/>
                <a:ea typeface="Roboto Condensed"/>
                <a:cs typeface="Roboto Condensed"/>
              </a:rPr>
              <a:t>AROUND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4329EF8-6FE9-44AB-A404-7C3E09F8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879592"/>
            <a:ext cx="4754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80" i="1">
                <a:solidFill>
                  <a:srgbClr val="69675E"/>
                </a:solidFill>
                <a:latin typeface="Georgia"/>
                <a:ea typeface="Georgia"/>
                <a:cs typeface="Georgia"/>
              </a:rPr>
              <a:t>movement in a circle or along different parts of a place.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4B977B7-A934-4824-B8AD-22A8026CE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5632704"/>
            <a:ext cx="4754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20" b="1">
                <a:solidFill>
                  <a:srgbClr val="8A1A1E"/>
                </a:solidFill>
                <a:latin typeface="Roboto Condensed"/>
                <a:ea typeface="Roboto Condensed"/>
                <a:cs typeface="Roboto Condensed"/>
              </a:rPr>
              <a:t>THROUGH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2C498799-BFBF-43CC-8131-7F04330F0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5879592"/>
            <a:ext cx="4754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80" i="1">
                <a:solidFill>
                  <a:srgbClr val="69675E"/>
                </a:solidFill>
                <a:latin typeface="Georgia"/>
                <a:ea typeface="Georgia"/>
                <a:cs typeface="Georgia"/>
              </a:rPr>
              <a:t>movement from one side of an enclosed space to the other.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205A4B29-A1E1-40B9-A45F-0BC9246F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238875"/>
            <a:ext cx="538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7390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D92AEC42-D638-45F2-B95A-E5D04E793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6238875"/>
            <a:ext cx="538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7390"/>
            </a:solidFill>
            <a:prstDash val="solid"/>
          </a:ln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A66336B8-C757-4E8A-82D5-97D4EC1C3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6382512"/>
            <a:ext cx="228600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HAWKINS FIELD GUIDE</a:t>
            </a:r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A1BC0A29-C6E5-495B-816F-102D0A4B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6382512"/>
            <a:ext cx="2852928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50" b="1">
                <a:solidFill>
                  <a:srgbClr val="101918"/>
                </a:solidFill>
                <a:latin typeface="Roboto Condensed"/>
                <a:ea typeface="Roboto Condensed"/>
                <a:cs typeface="Roboto Condensed"/>
              </a:rPr>
              <a:t/>
            </a:r>
          </a:p>
        </p:txBody>
      </p:sp>
      <p:sp>
        <p:nvSpPr>
          <p:cNvPr id="25" name="Slide 4 system background">
            <a:extLst xmlns:a="http://schemas.openxmlformats.org/drawingml/2006/main">
              <a:ext uri="{FF2B5EF4-FFF2-40B4-BE49-F238E27FC236}">
                <a16:creationId xmlns:a16="http://schemas.microsoft.com/office/drawing/2014/main" id="{E88C3E90-12A4-4241-A52E-C801541DF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BC94E15-E11D-446F-A525-96D92357B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219456"/>
            <a:ext cx="210312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777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90111C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90111C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7" name="Header separator">
            <a:extLst xmlns:a="http://schemas.openxmlformats.org/drawingml/2006/main">
              <a:ext uri="{FF2B5EF4-FFF2-40B4-BE49-F238E27FC236}">
                <a16:creationId xmlns:a16="http://schemas.microsoft.com/office/drawing/2014/main" id="{EEC40D08-F508-43BB-A8F5-F10F80D0C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1168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01918"/>
            </a:solidFill>
            <a:prstDash val="solid"/>
          </a:ln>
        </p:spPr>
      </p:sp>
      <p:sp>
        <p:nvSpPr>
          <p:cNvPr id="28" name="Running header">
            <a:extLst xmlns:a="http://schemas.openxmlformats.org/drawingml/2006/main">
              <a:ext uri="{FF2B5EF4-FFF2-40B4-BE49-F238E27FC236}">
                <a16:creationId xmlns:a16="http://schemas.microsoft.com/office/drawing/2014/main" id="{F945FF89-624F-4E2F-9439-9C219C83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10312"/>
            <a:ext cx="2971800" cy="210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82E43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82E43"/>
                </a:solidFill>
                <a:latin typeface="Aptos"/>
                <a:ea typeface="Aptos"/>
                <a:cs typeface="Aptos"/>
              </a:rPr>
              <a:t>FORBES ENGLISH • PREPOSITIONS</a:t>
            </a:r>
          </a:p>
        </p:txBody>
      </p:sp>
      <p:sp>
        <p:nvSpPr>
          <p:cNvPr id="29" name="Centre divider">
            <a:extLst xmlns:a="http://schemas.openxmlformats.org/drawingml/2006/main">
              <a:ext uri="{FF2B5EF4-FFF2-40B4-BE49-F238E27FC236}">
                <a16:creationId xmlns:a16="http://schemas.microsoft.com/office/drawing/2014/main" id="{852BF06B-A316-4B29-8C44-B05F73A1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429" y="502920"/>
            <a:ext cx="0" cy="52760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7390"/>
            </a:solidFill>
            <a:prstDash val="solid"/>
          </a:ln>
        </p:spPr>
      </p:sp>
      <p:sp>
        <p:nvSpPr>
          <p:cNvPr id="30" name="Centre diamond">
            <a:extLst xmlns:a="http://schemas.openxmlformats.org/drawingml/2006/main">
              <a:ext uri="{FF2B5EF4-FFF2-40B4-BE49-F238E27FC236}">
                <a16:creationId xmlns:a16="http://schemas.microsoft.com/office/drawing/2014/main" id="{E10D06B8-BAE8-4D26-B7F5-4A925A2A6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7705" y="3136392"/>
            <a:ext cx="155448" cy="155448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1073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arget title left">
            <a:extLst xmlns:a="http://schemas.openxmlformats.org/drawingml/2006/main">
              <a:ext uri="{FF2B5EF4-FFF2-40B4-BE49-F238E27FC236}">
                <a16:creationId xmlns:a16="http://schemas.microsoft.com/office/drawing/2014/main" id="{4D5F4FD3-A472-4372-91D7-8200D3EDA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1520"/>
            <a:ext cx="5074920" cy="658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300" b="1">
                <a:solidFill>
                  <a:srgbClr val="C9C5BD"/>
                </a:solidFill>
                <a:latin typeface="Noto Sans Display Condensed"/>
                <a:ea typeface="Noto Sans Display Condensed"/>
                <a:cs typeface="Noto Sans Display Condensed"/>
              </a:defRPr>
            </a:pPr>
            <a:r>
              <a:rPr sz="4300" b="1" i="0">
                <a:ln w="10478">
                  <a:solidFill>
                    <a:srgbClr val="303437"/>
                  </a:solidFill>
                  <a:prstDash val="solid"/>
                </a:ln>
                <a:solidFill>
                  <a:srgbClr val="C9C5BD"/>
                </a:solidFill>
                <a:latin typeface="Noto Sans Display Condensed"/>
                <a:ea typeface="Noto Sans Display Condensed"/>
                <a:cs typeface="Noto Sans Display Condensed"/>
              </a:rPr>
              <a:t>AROUND</a:t>
            </a:r>
          </a:p>
        </p:txBody>
      </p:sp>
      <p:sp>
        <p:nvSpPr>
          <p:cNvPr id="32" name="Target title right">
            <a:extLst xmlns:a="http://schemas.openxmlformats.org/drawingml/2006/main">
              <a:ext uri="{FF2B5EF4-FFF2-40B4-BE49-F238E27FC236}">
                <a16:creationId xmlns:a16="http://schemas.microsoft.com/office/drawing/2014/main" id="{D4CBCBE0-4556-4D2A-8E03-4DB231A4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731520"/>
            <a:ext cx="5074920" cy="658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300" b="1">
                <a:solidFill>
                  <a:srgbClr val="C9C5BD"/>
                </a:solidFill>
                <a:latin typeface="Noto Sans Display Condensed"/>
                <a:ea typeface="Noto Sans Display Condensed"/>
                <a:cs typeface="Noto Sans Display Condensed"/>
              </a:defRPr>
            </a:pPr>
            <a:r>
              <a:rPr sz="4300" b="1" i="0">
                <a:ln w="10478">
                  <a:solidFill>
                    <a:srgbClr val="303437"/>
                  </a:solidFill>
                  <a:prstDash val="solid"/>
                </a:ln>
                <a:solidFill>
                  <a:srgbClr val="C9C5BD"/>
                </a:solidFill>
                <a:latin typeface="Noto Sans Display Condensed"/>
                <a:ea typeface="Noto Sans Display Condensed"/>
                <a:cs typeface="Noto Sans Display Condensed"/>
              </a:rPr>
              <a:t>THROUGH</a:t>
            </a:r>
          </a:p>
        </p:txBody>
      </p:sp>
      <p:sp>
        <p:nvSpPr>
          <p:cNvPr id="33" name="Footer line left">
            <a:extLst xmlns:a="http://schemas.openxmlformats.org/drawingml/2006/main">
              <a:ext uri="{FF2B5EF4-FFF2-40B4-BE49-F238E27FC236}">
                <a16:creationId xmlns:a16="http://schemas.microsoft.com/office/drawing/2014/main" id="{DB63BBB0-957D-4AA9-982D-5CECF7CCB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238875"/>
            <a:ext cx="538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7390"/>
            </a:solidFill>
            <a:prstDash val="solid"/>
          </a:ln>
        </p:spPr>
      </p:sp>
      <p:sp>
        <p:nvSpPr>
          <p:cNvPr id="34" name="Footer line right">
            <a:extLst xmlns:a="http://schemas.openxmlformats.org/drawingml/2006/main">
              <a:ext uri="{FF2B5EF4-FFF2-40B4-BE49-F238E27FC236}">
                <a16:creationId xmlns:a16="http://schemas.microsoft.com/office/drawing/2014/main" id="{010CA06B-D019-4351-9F1D-A5790CD9D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6238875"/>
            <a:ext cx="538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7390"/>
            </a:solidFill>
            <a:prstDash val="solid"/>
          </a:ln>
        </p:spPr>
      </p:sp>
      <p:pic>
        <p:nvPicPr>
          <p:cNvPr id="1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800fd5207b4020"/>
          <a:stretch xmlns:a="http://schemas.openxmlformats.org/drawingml/2006/main"/>
        </p:blipFill>
        <p:spPr>
          <a:xfrm xmlns:a="http://schemas.openxmlformats.org/drawingml/2006/main">
            <a:off x="5829300" y="6048375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36" name="Footer left">
            <a:extLst xmlns:a="http://schemas.openxmlformats.org/drawingml/2006/main">
              <a:ext uri="{FF2B5EF4-FFF2-40B4-BE49-F238E27FC236}">
                <a16:creationId xmlns:a16="http://schemas.microsoft.com/office/drawing/2014/main" id="{ADA1EFC2-7408-42B9-97A9-97529CA1B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3817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11111"/>
                </a:solidFill>
                <a:latin typeface="Aptos"/>
                <a:ea typeface="Aptos"/>
                <a:cs typeface="Aptos"/>
              </a:rPr>
              <a:t>HAWKINS FIELD GUIDE</a:t>
            </a:r>
          </a:p>
        </p:txBody>
      </p:sp>
      <p:sp>
        <p:nvSpPr>
          <p:cNvPr id="37" name="Footer course">
            <a:extLst xmlns:a="http://schemas.openxmlformats.org/drawingml/2006/main">
              <a:ext uri="{FF2B5EF4-FFF2-40B4-BE49-F238E27FC236}">
                <a16:creationId xmlns:a16="http://schemas.microsoft.com/office/drawing/2014/main" id="{55EEF520-4E00-4F70-93DF-3B8100868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38175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 b="1" i="0">
                <a:solidFill>
                  <a:srgbClr val="101918"/>
                </a:solidFill>
                <a:latin typeface="Roboto Condensed"/>
                <a:ea typeface="Roboto Condensed"/>
                <a:cs typeface="Roboto Condensed"/>
              </a:rPr>
              <a:t/>
            </a:r>
          </a:p>
        </p:txBody>
      </p:sp>
      <p:pic>
        <p:nvPicPr>
          <p:cNvPr id="1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f34f1238af4b90">
            <a:extLst>
              <a:ext uri="{96DAC541-7B7A-43D3-8B79-37D633B846F1}">
                <asvg:svgBlip xmlns:asvg="http://schemas.microsoft.com/office/drawing/2016/SVG/main" r:embed="R4cff412501604bd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144250" y="6267450"/>
            <a:ext cx="781050" cy="361950"/>
          </a:xfrm>
          <a:prstGeom xmlns:a="http://schemas.openxmlformats.org/drawingml/2006/main" prst="rect">
            <a:avLst/>
          </a:prstGeom>
        </p:spPr>
      </p:pic>
      <p:sp>
        <p:nvSpPr>
          <p:cNvPr id="40" name="Left image slot">
            <a:extLst xmlns:a="http://schemas.openxmlformats.org/drawingml/2006/main">
              <a:ext uri="{FF2B5EF4-FFF2-40B4-BE49-F238E27FC236}">
                <a16:creationId xmlns:a16="http://schemas.microsoft.com/office/drawing/2014/main" id="{16766A3D-5F3D-4611-9878-2F440ABE9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52197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1" name="Right image slot">
            <a:extLst xmlns:a="http://schemas.openxmlformats.org/drawingml/2006/main">
              <a:ext uri="{FF2B5EF4-FFF2-40B4-BE49-F238E27FC236}">
                <a16:creationId xmlns:a16="http://schemas.microsoft.com/office/drawing/2014/main" id="{F427EC5E-94CE-46A9-9025-8270E747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76400"/>
            <a:ext cx="52197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2" name="Left image brief">
            <a:extLst xmlns:a="http://schemas.openxmlformats.org/drawingml/2006/main">
              <a:ext uri="{FF2B5EF4-FFF2-40B4-BE49-F238E27FC236}">
                <a16:creationId xmlns:a16="http://schemas.microsoft.com/office/drawing/2014/main" id="{D09F4866-B56A-42D0-879F-8721FAE8C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71750"/>
            <a:ext cx="4552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 i="0">
                <a:solidFill>
                  <a:srgbClr val="101918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43" name="Right image brief">
            <a:extLst xmlns:a="http://schemas.openxmlformats.org/drawingml/2006/main">
              <a:ext uri="{FF2B5EF4-FFF2-40B4-BE49-F238E27FC236}">
                <a16:creationId xmlns:a16="http://schemas.microsoft.com/office/drawing/2014/main" id="{A1DD5609-97FF-4CFD-8D67-0272E5F1A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571750"/>
            <a:ext cx="4552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 i="0">
                <a:solidFill>
                  <a:srgbClr val="101918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44" name="Sentence field left">
            <a:extLst xmlns:a="http://schemas.openxmlformats.org/drawingml/2006/main">
              <a:ext uri="{FF2B5EF4-FFF2-40B4-BE49-F238E27FC236}">
                <a16:creationId xmlns:a16="http://schemas.microsoft.com/office/drawing/2014/main" id="{717577BD-EFAA-4838-8B9D-83659FF4E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05400"/>
            <a:ext cx="5314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5" name="Sentence field right">
            <a:extLst xmlns:a="http://schemas.openxmlformats.org/drawingml/2006/main">
              <a:ext uri="{FF2B5EF4-FFF2-40B4-BE49-F238E27FC236}">
                <a16:creationId xmlns:a16="http://schemas.microsoft.com/office/drawing/2014/main" id="{D20422CF-0D70-40F2-9033-99EBD6EB2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05400"/>
            <a:ext cx="5314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6" name="Sentence left">
            <a:extLst xmlns:a="http://schemas.openxmlformats.org/drawingml/2006/main">
              <a:ext uri="{FF2B5EF4-FFF2-40B4-BE49-F238E27FC236}">
                <a16:creationId xmlns:a16="http://schemas.microsoft.com/office/drawing/2014/main" id="{206458C0-EFD8-4EF9-B0BE-8FE94F22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62550"/>
            <a:ext cx="5219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>
                <a:solidFill>
                  <a:srgbClr val="182E43"/>
                </a:solidFill>
                <a:latin typeface="Aptos"/>
                <a:ea typeface="Aptos"/>
                <a:cs typeface="Aptos"/>
              </a:defRPr>
            </a:pPr>
            <a:r>
              <a:rPr sz="1700">
                <a:solidFill>
                  <a:srgbClr val="182E43"/>
                </a:solidFill>
                <a:latin typeface="Aptos"/>
                <a:ea typeface="Aptos"/>
                <a:cs typeface="Aptos"/>
              </a:rPr>
              <a:t>Hopper is driving </a:t>
            </a:r>
            <a:r>
              <a:rPr sz="1700" b="1" i="1">
                <a:solidFill>
                  <a:srgbClr val="182E43"/>
                </a:solidFill>
                <a:latin typeface="Aptos"/>
                <a:ea typeface="Aptos"/>
                <a:cs typeface="Aptos"/>
              </a:rPr>
              <a:t>around</a:t>
            </a:r>
            <a:r>
              <a:rPr sz="1700">
                <a:solidFill>
                  <a:srgbClr val="182E43"/>
                </a:solidFill>
                <a:latin typeface="Aptos"/>
                <a:ea typeface="Aptos"/>
                <a:cs typeface="Aptos"/>
              </a:rPr>
              <a:t> Hawkins.</a:t>
            </a:r>
          </a:p>
        </p:txBody>
      </p:sp>
      <p:sp>
        <p:nvSpPr>
          <p:cNvPr id="47" name="Sentence right">
            <a:extLst xmlns:a="http://schemas.openxmlformats.org/drawingml/2006/main">
              <a:ext uri="{FF2B5EF4-FFF2-40B4-BE49-F238E27FC236}">
                <a16:creationId xmlns:a16="http://schemas.microsoft.com/office/drawing/2014/main" id="{A186A317-FE84-4146-A2DC-4453C0444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5162550"/>
            <a:ext cx="5219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>
                <a:solidFill>
                  <a:srgbClr val="182E43"/>
                </a:solidFill>
                <a:latin typeface="Aptos"/>
                <a:ea typeface="Aptos"/>
                <a:cs typeface="Aptos"/>
              </a:defRPr>
            </a:pPr>
            <a:r>
              <a:rPr sz="1700">
                <a:solidFill>
                  <a:srgbClr val="182E43"/>
                </a:solidFill>
                <a:latin typeface="Aptos"/>
                <a:ea typeface="Aptos"/>
                <a:cs typeface="Aptos"/>
              </a:rPr>
              <a:t>The creature is breaking </a:t>
            </a:r>
            <a:r>
              <a:rPr sz="1700" b="1" i="1">
                <a:solidFill>
                  <a:srgbClr val="182E43"/>
                </a:solidFill>
                <a:latin typeface="Aptos"/>
                <a:ea typeface="Aptos"/>
                <a:cs typeface="Aptos"/>
              </a:rPr>
              <a:t>through</a:t>
            </a:r>
            <a:r>
              <a:rPr sz="1700">
                <a:solidFill>
                  <a:srgbClr val="182E43"/>
                </a:solidFill>
                <a:latin typeface="Aptos"/>
                <a:ea typeface="Aptos"/>
                <a:cs typeface="Aptos"/>
              </a:rPr>
              <a:t> the wall.</a:t>
            </a:r>
          </a:p>
        </p:txBody>
      </p:sp>
      <p:sp>
        <p:nvSpPr>
          <p:cNvPr id="51" name="Exact Leo AROUND artwork backing">
            <a:extLst xmlns:a="http://schemas.openxmlformats.org/drawingml/2006/main">
              <a:ext uri="{FF2B5EF4-FFF2-40B4-BE49-F238E27FC236}">
                <a16:creationId xmlns:a16="http://schemas.microsoft.com/office/drawing/2014/main" id="{2ADFA3C7-9DC8-44D1-ADAF-CE2EC8F38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52197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Exact Leo AROUND artwork border">
            <a:extLst xmlns:a="http://schemas.openxmlformats.org/drawingml/2006/main">
              <a:ext uri="{FF2B5EF4-FFF2-40B4-BE49-F238E27FC236}">
                <a16:creationId xmlns:a16="http://schemas.microsoft.com/office/drawing/2014/main" id="{AA6D3166-60BD-46B0-B850-A9B633574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52197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4" name="Exact BOB THROUGH artwork backing">
            <a:extLst xmlns:a="http://schemas.openxmlformats.org/drawingml/2006/main">
              <a:ext uri="{FF2B5EF4-FFF2-40B4-BE49-F238E27FC236}">
                <a16:creationId xmlns:a16="http://schemas.microsoft.com/office/drawing/2014/main" id="{98ED03F1-A8CA-4B85-A1A0-775BE8A3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76400"/>
            <a:ext cx="52197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Exact BOB THROUGH artwork border">
            <a:extLst xmlns:a="http://schemas.openxmlformats.org/drawingml/2006/main">
              <a:ext uri="{FF2B5EF4-FFF2-40B4-BE49-F238E27FC236}">
                <a16:creationId xmlns:a16="http://schemas.microsoft.com/office/drawing/2014/main" id="{02884AF9-B7EF-4AD0-A2EB-31F20173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76400"/>
            <a:ext cx="52197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2" name="Clean emblem background">
            <a:extLst xmlns:a="http://schemas.openxmlformats.org/drawingml/2006/main">
              <a:ext uri="{FF2B5EF4-FFF2-40B4-BE49-F238E27FC236}">
                <a16:creationId xmlns:a16="http://schemas.microsoft.com/office/drawing/2014/main" id="{6F1ECF23-F924-415F-81D4-39F55BAC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6010275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cd3a6712c94037">
            <a:extLst>
              <a:ext uri="{96DAC541-7B7A-43D3-8B79-37D633B846F1}">
                <asvg:svgBlip xmlns:asvg="http://schemas.microsoft.com/office/drawing/2016/SVG/main" r:embed="R3e4e2f4798c14e8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829300" y="6048375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69" name="Cover emblem clean background">
            <a:extLst xmlns:a="http://schemas.openxmlformats.org/drawingml/2006/main">
              <a:ext uri="{FF2B5EF4-FFF2-40B4-BE49-F238E27FC236}">
                <a16:creationId xmlns:a16="http://schemas.microsoft.com/office/drawing/2014/main" id="{581202BF-B8A2-40CF-A0E3-A45B54B1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6010275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f2de9e9bf94f0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29300" y="6048375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77" name="Leo exact artwork extended to full frame backing">
            <a:extLst xmlns:a="http://schemas.openxmlformats.org/drawingml/2006/main">
              <a:ext uri="{FF2B5EF4-FFF2-40B4-BE49-F238E27FC236}">
                <a16:creationId xmlns:a16="http://schemas.microsoft.com/office/drawing/2014/main" id="{F1F8FF05-E83B-4550-AF0D-6F940F08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52197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BOB exact artwork extended to full frame backing">
            <a:extLst xmlns:a="http://schemas.openxmlformats.org/drawingml/2006/main">
              <a:ext uri="{FF2B5EF4-FFF2-40B4-BE49-F238E27FC236}">
                <a16:creationId xmlns:a16="http://schemas.microsoft.com/office/drawing/2014/main" id="{2E1C5E9E-A7B6-4102-A1C7-2F47C0EC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76400"/>
            <a:ext cx="52197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b16f1f3797442d"/>
          <a:srcRect xmlns:a="http://schemas.openxmlformats.org/drawingml/2006/main" l="0" t="21135" r="0" b="211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496050" y="1676669"/>
            <a:ext cx="5219700" cy="3428462"/>
          </a:xfrm>
          <a:prstGeom xmlns:a="http://schemas.openxmlformats.org/drawingml/2006/main" prst="rect">
            <a:avLst/>
          </a:prstGeom>
        </p:spPr>
      </p:pic>
      <p:sp>
        <p:nvSpPr>
          <p:cNvPr id="91" name="Basic course header clean backing">
            <a:extLst xmlns:a="http://schemas.openxmlformats.org/drawingml/2006/main">
              <a:ext uri="{FF2B5EF4-FFF2-40B4-BE49-F238E27FC236}">
                <a16:creationId xmlns:a16="http://schemas.microsoft.com/office/drawing/2014/main" id="{044B034E-F84A-46F9-B59A-29EAA947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"/>
            <a:ext cx="32861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Basic course running header">
            <a:extLst xmlns:a="http://schemas.openxmlformats.org/drawingml/2006/main">
              <a:ext uri="{FF2B5EF4-FFF2-40B4-BE49-F238E27FC236}">
                <a16:creationId xmlns:a16="http://schemas.microsoft.com/office/drawing/2014/main" id="{4DC73715-6BCF-4F7E-8421-1A0D630E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82E43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82E43"/>
                </a:solidFill>
                <a:latin typeface="Aptos"/>
                <a:ea typeface="Aptos"/>
                <a:cs typeface="Aptos"/>
              </a:rPr>
              <a:t>FORBES ENGLISH • PREPOSITIONS</a:t>
            </a:r>
          </a:p>
        </p:txBody>
      </p:sp>
      <p:pic>
        <p:nvPicPr>
          <p:cNvPr id="1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e9a76e7ec04aef"/>
          <a:srcRect xmlns:a="http://schemas.openxmlformats.org/drawingml/2006/main" l="0" t="21155" r="0" b="211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476250" y="1676400"/>
            <a:ext cx="5219700" cy="3429000"/>
          </a:xfrm>
          <a:prstGeom xmlns:a="http://schemas.openxmlformats.org/drawingml/2006/main" prst="rect">
            <a:avLst/>
          </a:prstGeom>
        </p:spPr>
      </p:pic>
      <p:sp>
        <p:nvSpPr>
          <p:cNvPr id="94" name="Usage note left backing">
            <a:extLst xmlns:a="http://schemas.openxmlformats.org/drawingml/2006/main">
              <a:ext uri="{FF2B5EF4-FFF2-40B4-BE49-F238E27FC236}">
                <a16:creationId xmlns:a16="http://schemas.microsoft.com/office/drawing/2014/main" id="{96E8FF08-C467-422A-B947-FF761349D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76900"/>
            <a:ext cx="53149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Usage note left">
            <a:extLst xmlns:a="http://schemas.openxmlformats.org/drawingml/2006/main">
              <a:ext uri="{FF2B5EF4-FFF2-40B4-BE49-F238E27FC236}">
                <a16:creationId xmlns:a16="http://schemas.microsoft.com/office/drawing/2014/main" id="{EEA23BA9-32F0-4D54-AAD5-30D4568F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516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 i="0">
                <a:solidFill>
                  <a:srgbClr val="505653"/>
                </a:solidFill>
                <a:latin typeface="Aptos"/>
                <a:ea typeface="Aptos"/>
                <a:cs typeface="Aptos"/>
              </a:rPr>
              <a:t>Use around for circular movement or movement within different parts of a place.</a:t>
            </a:r>
          </a:p>
        </p:txBody>
      </p:sp>
      <p:sp>
        <p:nvSpPr>
          <p:cNvPr id="96" name="Usage note right backing">
            <a:extLst xmlns:a="http://schemas.openxmlformats.org/drawingml/2006/main">
              <a:ext uri="{FF2B5EF4-FFF2-40B4-BE49-F238E27FC236}">
                <a16:creationId xmlns:a16="http://schemas.microsoft.com/office/drawing/2014/main" id="{472B9A87-247D-40E0-BA41-B9229CB65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676900"/>
            <a:ext cx="53149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Usage note right">
            <a:extLst xmlns:a="http://schemas.openxmlformats.org/drawingml/2006/main">
              <a:ext uri="{FF2B5EF4-FFF2-40B4-BE49-F238E27FC236}">
                <a16:creationId xmlns:a16="http://schemas.microsoft.com/office/drawing/2014/main" id="{758A5E64-325A-4E3F-8FF2-08C79420C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715000"/>
            <a:ext cx="516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 i="0">
                <a:solidFill>
                  <a:srgbClr val="505653"/>
                </a:solidFill>
                <a:latin typeface="Aptos"/>
                <a:ea typeface="Aptos"/>
                <a:cs typeface="Aptos"/>
              </a:rPr>
              <a:t>Use through for movement from one side of an enclosed space to the other.</a:t>
            </a:r>
          </a:p>
        </p:txBody>
      </p:sp>
      <p:sp>
        <p:nvSpPr>
          <p:cNvPr id="110" name="Italic usage note left backing">
            <a:extLst xmlns:a="http://schemas.openxmlformats.org/drawingml/2006/main">
              <a:ext uri="{FF2B5EF4-FFF2-40B4-BE49-F238E27FC236}">
                <a16:creationId xmlns:a16="http://schemas.microsoft.com/office/drawing/2014/main" id="{DB50080F-956A-4EF9-976E-BD7A7F9EB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76900"/>
            <a:ext cx="53149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Italic usage note left">
            <a:extLst xmlns:a="http://schemas.openxmlformats.org/drawingml/2006/main">
              <a:ext uri="{FF2B5EF4-FFF2-40B4-BE49-F238E27FC236}">
                <a16:creationId xmlns:a16="http://schemas.microsoft.com/office/drawing/2014/main" id="{6A683F8F-F9A2-4A1F-B574-A294E8480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516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8203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>
                <a:solidFill>
                  <a:srgbClr val="182E43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182E43"/>
                </a:solidFill>
                <a:latin typeface="Aptos"/>
                <a:ea typeface="Aptos"/>
                <a:cs typeface="Aptos"/>
              </a:rPr>
              <a:t>Use </a:t>
            </a:r>
            <a:r>
              <a:rPr sz="1600" b="1" i="1">
                <a:solidFill>
                  <a:srgbClr val="182E43"/>
                </a:solidFill>
                <a:latin typeface="Aptos"/>
                <a:ea typeface="Aptos"/>
                <a:cs typeface="Aptos"/>
              </a:rPr>
              <a:t>around</a:t>
            </a:r>
            <a:r>
              <a:rPr sz="1600">
                <a:solidFill>
                  <a:srgbClr val="182E43"/>
                </a:solidFill>
                <a:latin typeface="Aptos"/>
                <a:ea typeface="Aptos"/>
                <a:cs typeface="Aptos"/>
              </a:rPr>
              <a:t> for circular movement or movement within different parts of a place.</a:t>
            </a:r>
          </a:p>
        </p:txBody>
      </p:sp>
      <p:sp>
        <p:nvSpPr>
          <p:cNvPr id="112" name="Italic usage note right backing">
            <a:extLst xmlns:a="http://schemas.openxmlformats.org/drawingml/2006/main">
              <a:ext uri="{FF2B5EF4-FFF2-40B4-BE49-F238E27FC236}">
                <a16:creationId xmlns:a16="http://schemas.microsoft.com/office/drawing/2014/main" id="{818B9A9D-5CB3-47CA-A36F-C8DDF2C92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676900"/>
            <a:ext cx="53149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Italic usage note right">
            <a:extLst xmlns:a="http://schemas.openxmlformats.org/drawingml/2006/main">
              <a:ext uri="{FF2B5EF4-FFF2-40B4-BE49-F238E27FC236}">
                <a16:creationId xmlns:a16="http://schemas.microsoft.com/office/drawing/2014/main" id="{4E9E57EA-2504-4A94-AE91-C85667965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715000"/>
            <a:ext cx="516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8203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>
                <a:solidFill>
                  <a:srgbClr val="182E43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182E43"/>
                </a:solidFill>
                <a:latin typeface="Aptos"/>
                <a:ea typeface="Aptos"/>
                <a:cs typeface="Aptos"/>
              </a:rPr>
              <a:t>Use </a:t>
            </a:r>
            <a:r>
              <a:rPr sz="1600" b="1" i="1">
                <a:solidFill>
                  <a:srgbClr val="182E43"/>
                </a:solidFill>
                <a:latin typeface="Aptos"/>
                <a:ea typeface="Aptos"/>
                <a:cs typeface="Aptos"/>
              </a:rPr>
              <a:t>through</a:t>
            </a:r>
            <a:r>
              <a:rPr sz="1600">
                <a:solidFill>
                  <a:srgbClr val="182E43"/>
                </a:solidFill>
                <a:latin typeface="Aptos"/>
                <a:ea typeface="Aptos"/>
                <a:cs typeface="Aptos"/>
              </a:rPr>
              <a:t> for movement from one side of an enclosed space to the other.</a:t>
            </a:r>
          </a:p>
        </p:txBody>
      </p:sp>
      <p:sp>
        <p:nvSpPr>
          <p:cNvPr id="114" name="Forbes English footer clean backing">
            <a:extLst xmlns:a="http://schemas.openxmlformats.org/drawingml/2006/main">
              <a:ext uri="{FF2B5EF4-FFF2-40B4-BE49-F238E27FC236}">
                <a16:creationId xmlns:a16="http://schemas.microsoft.com/office/drawing/2014/main" id="{BF02E818-389D-4B6F-A9B4-3A8633FA1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76975"/>
            <a:ext cx="9144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Forbes English footer wordmark">
            <a:extLst xmlns:a="http://schemas.openxmlformats.org/drawingml/2006/main">
              <a:ext uri="{FF2B5EF4-FFF2-40B4-BE49-F238E27FC236}">
                <a16:creationId xmlns:a16="http://schemas.microsoft.com/office/drawing/2014/main" id="{F1D88FC9-1FD5-488F-A2DC-6EE5A408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15075"/>
            <a:ext cx="733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i="0">
                <a:solidFill>
                  <a:srgbClr val="101918"/>
                </a:solidFill>
                <a:latin typeface="Georgia"/>
                <a:ea typeface="Georgia"/>
                <a:cs typeface="Georgia"/>
              </a:rPr>
              <a:t>Forbes</a:t>
            </a:r>
          </a:p>
        </p:txBody>
      </p:sp>
      <p:sp>
        <p:nvSpPr>
          <p:cNvPr id="116" name="Forbes English footer second line">
            <a:extLst xmlns:a="http://schemas.openxmlformats.org/drawingml/2006/main">
              <a:ext uri="{FF2B5EF4-FFF2-40B4-BE49-F238E27FC236}">
                <a16:creationId xmlns:a16="http://schemas.microsoft.com/office/drawing/2014/main" id="{A1D75451-EF3E-4BCA-9DD9-57637E2AB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477000"/>
            <a:ext cx="7334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50" b="1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ENGLISH</a:t>
            </a:r>
          </a:p>
        </p:txBody>
      </p:sp>
    </p:spTree>
    <p:extLst>
      <p:ext uri="{BB962C8B-B14F-4D97-AF65-F5344CB8AC3E}">
        <p14:creationId xmlns:p14="http://schemas.microsoft.com/office/powerpoint/2010/main" val="13927783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D9E1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B438293-E100-471D-8C1A-0096A221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219456"/>
            <a:ext cx="21031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1350" b="1">
                <a:solidFill>
                  <a:srgbClr val="90111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0111C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9895E81-463E-4027-B06D-188FC39F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1168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01918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E35302C-713A-43D1-BDFB-2AC13753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10312"/>
            <a:ext cx="297180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00" b="1">
                <a:solidFill>
                  <a:srgbClr val="182E4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E43"/>
                </a:solidFill>
                <a:latin typeface="Aptos"/>
                <a:ea typeface="Aptos"/>
                <a:cs typeface="Aptos"/>
              </a:rPr>
              <a:t>FORBES ENGLISH • PREPOSITIONS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0A7C7DF-FB0C-4D5A-9063-621685AA9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390" y="502920"/>
            <a:ext cx="0" cy="52760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7390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AC6167FE-B6FD-497D-BF65-B3267A221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7666" y="3136392"/>
            <a:ext cx="155448" cy="155448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6571D"/>
          </a:solidFill>
          <a:ln xmlns:a="http://schemas.openxmlformats.org/drawingml/2006/main" w="12700">
            <a:solidFill>
              <a:srgbClr val="8A1A1E">
                <a:alpha val="0"/>
              </a:srgbClr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EC83194-4111-411E-9275-B5FB95CE8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1520"/>
            <a:ext cx="507492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300" b="1">
                <a:ln w="10478">
                  <a:solidFill>
                    <a:srgbClr val="303437"/>
                  </a:solidFill>
                  <a:prstDash val="solid"/>
                </a:ln>
                <a:pattFill prst="narHorz">
                  <a:fgClr>
                    <a:srgbClr val="2F3336"/>
                  </a:fgClr>
                  <a:bgClr>
                    <a:srgbClr val="B7B2AA"/>
                  </a:bgClr>
                </a:pattFill>
                <a:latin typeface="Noto Sans Display Condensed"/>
                <a:ea typeface="Noto Sans Display Condensed"/>
                <a:cs typeface="Noto Sans Display Condensed"/>
              </a:rPr>
              <a:t>ON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9010341-801E-4FBC-9701-06C0811BD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731520"/>
            <a:ext cx="507492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300" b="1">
                <a:ln w="10478">
                  <a:solidFill>
                    <a:srgbClr val="303437"/>
                  </a:solidFill>
                  <a:prstDash val="solid"/>
                </a:ln>
                <a:pattFill prst="narHorz">
                  <a:fgClr>
                    <a:srgbClr val="2F3336"/>
                  </a:fgClr>
                  <a:bgClr>
                    <a:srgbClr val="B7B2AA"/>
                  </a:bgClr>
                </a:pattFill>
                <a:latin typeface="Noto Sans Display Condensed"/>
                <a:ea typeface="Noto Sans Display Condensed"/>
                <a:cs typeface="Noto Sans Display Condensed"/>
              </a:rPr>
              <a:t>UNDER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27EEAFCB-DBD9-4D65-8FE6-4F2E5C2E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1444752"/>
            <a:ext cx="5321808" cy="3547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0DF">
              <a:alpha val="96000"/>
            </a:srgbClr>
          </a:solidFill>
          <a:ln xmlns:a="http://schemas.openxmlformats.org/drawingml/2006/main" w="13335">
            <a:solidFill>
              <a:srgbClr val="8A1A1E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77D3435-2EA1-4839-A334-FB04B669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1645920"/>
            <a:ext cx="4882896" cy="3145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20">
                <a:solidFill>
                  <a:srgbClr val="101918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7E3A23D8-2780-4AFF-AA52-4949E51E8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1444752"/>
            <a:ext cx="5321808" cy="3547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0DF">
              <a:alpha val="96000"/>
            </a:srgbClr>
          </a:solidFill>
          <a:ln xmlns:a="http://schemas.openxmlformats.org/drawingml/2006/main" w="13335">
            <a:solidFill>
              <a:srgbClr val="263C32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82197A0-720B-459C-82C3-DF6340ED9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1645920"/>
            <a:ext cx="4882896" cy="3145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20">
                <a:solidFill>
                  <a:srgbClr val="101918"/>
                </a:solidFill>
                <a:latin typeface="Aptos"/>
                <a:ea typeface="Aptos"/>
                <a:cs typeface="Aptos"/>
              </a:rPr>
              <a:t>IMAGE SLOT</a:t>
            </a:r>
          </a:p>
          <a:p xmlns:a="http://schemas.openxmlformats.org/drawingml/2006/main">
            <a:pPr marL="0" indent="0" algn="ctr">
              <a:buNone/>
            </a:pPr>
          </a:p>
          <a:p xmlns:a="http://schemas.openxmlformats.org/drawingml/2006/main">
            <a:pPr marL="0" indent="0" algn="ctr">
              <a:buNone/>
            </a:pPr>
            <a:r>
              <a:rPr sz="1320">
                <a:solidFill>
                  <a:srgbClr val="101918"/>
                </a:solidFill>
                <a:latin typeface="Aptos"/>
                <a:ea typeface="Aptos"/>
                <a:cs typeface="Aptos"/>
              </a:rPr>
              <a:t>Norma reaches under the RR counter for an order pad or coffee filters. Counter creates a clear upper/lower relationship.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BFB21DF-B013-43D1-BB21-486064931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5212080"/>
            <a:ext cx="510235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>
                <a:solidFill>
                  <a:srgbClr val="101918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7325587-9486-434F-BCEF-B6F551EED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384" y="5212080"/>
            <a:ext cx="510235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>
                <a:solidFill>
                  <a:srgbClr val="101918"/>
                </a:solidFill>
                <a:latin typeface="Aptos"/>
                <a:ea typeface="Aptos"/>
                <a:cs typeface="Aptos"/>
              </a:rPr>
              <a:t>The order pad is </a:t>
            </a:r>
            <a:r>
              <a:rPr sz="1700" b="1" i="1">
                <a:solidFill>
                  <a:srgbClr val="263C32"/>
                </a:solidFill>
                <a:latin typeface="Georgia"/>
                <a:ea typeface="Georgia"/>
                <a:cs typeface="Georgia"/>
              </a:rPr>
              <a:t>under</a:t>
            </a:r>
            <a:r>
              <a:rPr sz="1700">
                <a:solidFill>
                  <a:srgbClr val="101918"/>
                </a:solidFill>
                <a:latin typeface="Aptos"/>
                <a:ea typeface="Aptos"/>
                <a:cs typeface="Aptos"/>
              </a:rPr>
              <a:t> the counter.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980EE81C-2320-4384-AE3D-959054602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632704"/>
            <a:ext cx="4754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20" b="1">
                <a:solidFill>
                  <a:srgbClr val="8A1A1E"/>
                </a:solidFill>
                <a:latin typeface="Roboto Condensed"/>
                <a:ea typeface="Roboto Condensed"/>
                <a:cs typeface="Roboto Condensed"/>
              </a:rPr>
              <a:t>ON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6B64C68-191A-4DE1-ABB9-350B3E7B2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879592"/>
            <a:ext cx="4754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80" i="1">
                <a:solidFill>
                  <a:srgbClr val="69675E"/>
                </a:solidFill>
                <a:latin typeface="Georgia"/>
                <a:ea typeface="Georgia"/>
                <a:cs typeface="Georgia"/>
              </a:rPr>
              <a:t>touching and supported by a surface.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677ACD2-406D-42C1-8371-D2B843A3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5632704"/>
            <a:ext cx="4754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20" b="1">
                <a:solidFill>
                  <a:srgbClr val="263C32"/>
                </a:solidFill>
                <a:latin typeface="Roboto Condensed"/>
                <a:ea typeface="Roboto Condensed"/>
                <a:cs typeface="Roboto Condensed"/>
              </a:rPr>
              <a:t>UNDER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CC6B6577-67E8-4CB2-A2FC-98BF955AA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5879592"/>
            <a:ext cx="4754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80" i="1">
                <a:solidFill>
                  <a:srgbClr val="69675E"/>
                </a:solidFill>
                <a:latin typeface="Georgia"/>
                <a:ea typeface="Georgia"/>
                <a:cs typeface="Georgia"/>
              </a:rPr>
              <a:t>lower than something, often covered by it.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70B6EDE2-3B7D-4E3F-BB1F-F8324C6E9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238875"/>
            <a:ext cx="538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7390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A8F61F7F-C514-4710-9CCE-C2A6534BE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6238875"/>
            <a:ext cx="538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7390"/>
            </a:solidFill>
            <a:prstDash val="solid"/>
          </a:ln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E9E2766D-0D96-4F00-AF4C-E29306CD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6382512"/>
            <a:ext cx="228600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HAWKINS FIELD GUIDE</a:t>
            </a:r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FDDE6887-555F-48BF-A936-CE3686464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6382512"/>
            <a:ext cx="2852928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50" b="1">
                <a:solidFill>
                  <a:srgbClr val="101918"/>
                </a:solidFill>
                <a:latin typeface="Roboto Condensed"/>
                <a:ea typeface="Roboto Condensed"/>
                <a:cs typeface="Roboto Condensed"/>
              </a:rPr>
              <a:t/>
            </a:r>
          </a:p>
        </p:txBody>
      </p:sp>
      <p:sp>
        <p:nvSpPr>
          <p:cNvPr id="25" name="Slide 4 system background">
            <a:extLst xmlns:a="http://schemas.openxmlformats.org/drawingml/2006/main">
              <a:ext uri="{FF2B5EF4-FFF2-40B4-BE49-F238E27FC236}">
                <a16:creationId xmlns:a16="http://schemas.microsoft.com/office/drawing/2014/main" id="{F5963E8F-20E4-4761-9D08-7A04D83A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51D3306B-23F1-4D51-A85C-C143A849A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219456"/>
            <a:ext cx="210312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777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90111C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90111C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7" name="Header separator">
            <a:extLst xmlns:a="http://schemas.openxmlformats.org/drawingml/2006/main">
              <a:ext uri="{FF2B5EF4-FFF2-40B4-BE49-F238E27FC236}">
                <a16:creationId xmlns:a16="http://schemas.microsoft.com/office/drawing/2014/main" id="{B61FB1CA-22F2-4897-B82E-3D43566D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1168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01918"/>
            </a:solidFill>
            <a:prstDash val="solid"/>
          </a:ln>
        </p:spPr>
      </p:sp>
      <p:sp>
        <p:nvSpPr>
          <p:cNvPr id="28" name="Running header">
            <a:extLst xmlns:a="http://schemas.openxmlformats.org/drawingml/2006/main">
              <a:ext uri="{FF2B5EF4-FFF2-40B4-BE49-F238E27FC236}">
                <a16:creationId xmlns:a16="http://schemas.microsoft.com/office/drawing/2014/main" id="{F3F71073-E115-4CAF-A9B4-D1B0A4BF4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10312"/>
            <a:ext cx="2971800" cy="210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82E43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82E43"/>
                </a:solidFill>
                <a:latin typeface="Aptos"/>
                <a:ea typeface="Aptos"/>
                <a:cs typeface="Aptos"/>
              </a:rPr>
              <a:t>FORBES ENGLISH • PREPOSITIONS</a:t>
            </a:r>
          </a:p>
        </p:txBody>
      </p:sp>
      <p:sp>
        <p:nvSpPr>
          <p:cNvPr id="29" name="Centre divider">
            <a:extLst xmlns:a="http://schemas.openxmlformats.org/drawingml/2006/main">
              <a:ext uri="{FF2B5EF4-FFF2-40B4-BE49-F238E27FC236}">
                <a16:creationId xmlns:a16="http://schemas.microsoft.com/office/drawing/2014/main" id="{E02DAC79-FCA9-4DFD-ABA6-52694A6E0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429" y="502920"/>
            <a:ext cx="0" cy="52760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7390"/>
            </a:solidFill>
            <a:prstDash val="solid"/>
          </a:ln>
        </p:spPr>
      </p:sp>
      <p:sp>
        <p:nvSpPr>
          <p:cNvPr id="30" name="Centre diamond">
            <a:extLst xmlns:a="http://schemas.openxmlformats.org/drawingml/2006/main">
              <a:ext uri="{FF2B5EF4-FFF2-40B4-BE49-F238E27FC236}">
                <a16:creationId xmlns:a16="http://schemas.microsoft.com/office/drawing/2014/main" id="{C78731C1-C022-4FD3-9927-CE1AD4BDD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7705" y="3136392"/>
            <a:ext cx="155448" cy="155448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1073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arget title left">
            <a:extLst xmlns:a="http://schemas.openxmlformats.org/drawingml/2006/main">
              <a:ext uri="{FF2B5EF4-FFF2-40B4-BE49-F238E27FC236}">
                <a16:creationId xmlns:a16="http://schemas.microsoft.com/office/drawing/2014/main" id="{D1A0C0F2-1E1E-4CC1-A28F-A31560610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1520"/>
            <a:ext cx="5074920" cy="658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300" b="1">
                <a:solidFill>
                  <a:srgbClr val="C9C5BD"/>
                </a:solidFill>
                <a:latin typeface="Noto Sans Display Condensed"/>
                <a:ea typeface="Noto Sans Display Condensed"/>
                <a:cs typeface="Noto Sans Display Condensed"/>
              </a:defRPr>
            </a:pPr>
            <a:r>
              <a:rPr sz="4300" b="1" i="0">
                <a:ln w="10478">
                  <a:solidFill>
                    <a:srgbClr val="303437"/>
                  </a:solidFill>
                  <a:prstDash val="solid"/>
                </a:ln>
                <a:solidFill>
                  <a:srgbClr val="C9C5BD"/>
                </a:solidFill>
                <a:latin typeface="Noto Sans Display Condensed"/>
                <a:ea typeface="Noto Sans Display Condensed"/>
                <a:cs typeface="Noto Sans Display Condensed"/>
              </a:rPr>
              <a:t>ON</a:t>
            </a:r>
          </a:p>
        </p:txBody>
      </p:sp>
      <p:sp>
        <p:nvSpPr>
          <p:cNvPr id="32" name="Target title right">
            <a:extLst xmlns:a="http://schemas.openxmlformats.org/drawingml/2006/main">
              <a:ext uri="{FF2B5EF4-FFF2-40B4-BE49-F238E27FC236}">
                <a16:creationId xmlns:a16="http://schemas.microsoft.com/office/drawing/2014/main" id="{A38D2E2C-66A2-46D2-912A-7394F84AA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731520"/>
            <a:ext cx="5074920" cy="658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300" b="1">
                <a:solidFill>
                  <a:srgbClr val="C9C5BD"/>
                </a:solidFill>
                <a:latin typeface="Noto Sans Display Condensed"/>
                <a:ea typeface="Noto Sans Display Condensed"/>
                <a:cs typeface="Noto Sans Display Condensed"/>
              </a:defRPr>
            </a:pPr>
            <a:r>
              <a:rPr sz="4300" b="1" i="0">
                <a:ln w="10478">
                  <a:solidFill>
                    <a:srgbClr val="303437"/>
                  </a:solidFill>
                  <a:prstDash val="solid"/>
                </a:ln>
                <a:solidFill>
                  <a:srgbClr val="C9C5BD"/>
                </a:solidFill>
                <a:latin typeface="Noto Sans Display Condensed"/>
                <a:ea typeface="Noto Sans Display Condensed"/>
                <a:cs typeface="Noto Sans Display Condensed"/>
              </a:rPr>
              <a:t>UNDER</a:t>
            </a:r>
          </a:p>
        </p:txBody>
      </p:sp>
      <p:sp>
        <p:nvSpPr>
          <p:cNvPr id="33" name="Footer line left">
            <a:extLst xmlns:a="http://schemas.openxmlformats.org/drawingml/2006/main">
              <a:ext uri="{FF2B5EF4-FFF2-40B4-BE49-F238E27FC236}">
                <a16:creationId xmlns:a16="http://schemas.microsoft.com/office/drawing/2014/main" id="{19557CBC-95ED-4FA6-9F23-8A509C166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238875"/>
            <a:ext cx="538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7390"/>
            </a:solidFill>
            <a:prstDash val="solid"/>
          </a:ln>
        </p:spPr>
      </p:sp>
      <p:sp>
        <p:nvSpPr>
          <p:cNvPr id="34" name="Footer line right">
            <a:extLst xmlns:a="http://schemas.openxmlformats.org/drawingml/2006/main">
              <a:ext uri="{FF2B5EF4-FFF2-40B4-BE49-F238E27FC236}">
                <a16:creationId xmlns:a16="http://schemas.microsoft.com/office/drawing/2014/main" id="{6F2A144A-0D29-4A2B-B706-42693D6E6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6238875"/>
            <a:ext cx="538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7390"/>
            </a:solidFill>
            <a:prstDash val="solid"/>
          </a:ln>
        </p:spPr>
      </p:sp>
      <p:pic>
        <p:nvPicPr>
          <p:cNvPr id="2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0a5197361d40e6"/>
          <a:stretch xmlns:a="http://schemas.openxmlformats.org/drawingml/2006/main"/>
        </p:blipFill>
        <p:spPr>
          <a:xfrm xmlns:a="http://schemas.openxmlformats.org/drawingml/2006/main">
            <a:off x="5829300" y="6048375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36" name="Footer left">
            <a:extLst xmlns:a="http://schemas.openxmlformats.org/drawingml/2006/main">
              <a:ext uri="{FF2B5EF4-FFF2-40B4-BE49-F238E27FC236}">
                <a16:creationId xmlns:a16="http://schemas.microsoft.com/office/drawing/2014/main" id="{26EAC718-F312-4CBB-8438-DBF297E1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3817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11111"/>
                </a:solidFill>
                <a:latin typeface="Aptos"/>
                <a:ea typeface="Aptos"/>
                <a:cs typeface="Aptos"/>
              </a:rPr>
              <a:t>HAWKINS FIELD GUIDE</a:t>
            </a:r>
          </a:p>
        </p:txBody>
      </p:sp>
      <p:sp>
        <p:nvSpPr>
          <p:cNvPr id="37" name="Footer course">
            <a:extLst xmlns:a="http://schemas.openxmlformats.org/drawingml/2006/main">
              <a:ext uri="{FF2B5EF4-FFF2-40B4-BE49-F238E27FC236}">
                <a16:creationId xmlns:a16="http://schemas.microsoft.com/office/drawing/2014/main" id="{B3F2FD1F-E688-4116-8A28-408FA63C2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38175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 b="1" i="0">
                <a:solidFill>
                  <a:srgbClr val="101918"/>
                </a:solidFill>
                <a:latin typeface="Roboto Condensed"/>
                <a:ea typeface="Roboto Condensed"/>
                <a:cs typeface="Roboto Condensed"/>
              </a:rPr>
              <a:t/>
            </a:r>
          </a:p>
        </p:txBody>
      </p:sp>
      <p:pic>
        <p:nvPicPr>
          <p:cNvPr id="2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7db5001bdc49f8">
            <a:extLst>
              <a:ext uri="{96DAC541-7B7A-43D3-8B79-37D633B846F1}">
                <asvg:svgBlip xmlns:asvg="http://schemas.microsoft.com/office/drawing/2016/SVG/main" r:embed="Ra02ce480300f45c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144250" y="6267450"/>
            <a:ext cx="781050" cy="361950"/>
          </a:xfrm>
          <a:prstGeom xmlns:a="http://schemas.openxmlformats.org/drawingml/2006/main" prst="rect">
            <a:avLst/>
          </a:prstGeom>
        </p:spPr>
      </p:pic>
      <p:sp>
        <p:nvSpPr>
          <p:cNvPr id="40" name="Left image slot">
            <a:extLst xmlns:a="http://schemas.openxmlformats.org/drawingml/2006/main">
              <a:ext uri="{FF2B5EF4-FFF2-40B4-BE49-F238E27FC236}">
                <a16:creationId xmlns:a16="http://schemas.microsoft.com/office/drawing/2014/main" id="{BCE87E6B-852D-4FAD-8E9F-01DC7551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52197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1" name="Right image slot">
            <a:extLst xmlns:a="http://schemas.openxmlformats.org/drawingml/2006/main">
              <a:ext uri="{FF2B5EF4-FFF2-40B4-BE49-F238E27FC236}">
                <a16:creationId xmlns:a16="http://schemas.microsoft.com/office/drawing/2014/main" id="{E82CC48D-7ACF-42A7-AF1D-93771A565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76400"/>
            <a:ext cx="52197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2" name="Left image brief">
            <a:extLst xmlns:a="http://schemas.openxmlformats.org/drawingml/2006/main">
              <a:ext uri="{FF2B5EF4-FFF2-40B4-BE49-F238E27FC236}">
                <a16:creationId xmlns:a16="http://schemas.microsoft.com/office/drawing/2014/main" id="{18D6E323-182D-4FF4-92A6-0E589466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71750"/>
            <a:ext cx="4552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 i="0">
                <a:solidFill>
                  <a:srgbClr val="101918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43" name="Right image brief">
            <a:extLst xmlns:a="http://schemas.openxmlformats.org/drawingml/2006/main">
              <a:ext uri="{FF2B5EF4-FFF2-40B4-BE49-F238E27FC236}">
                <a16:creationId xmlns:a16="http://schemas.microsoft.com/office/drawing/2014/main" id="{0F38984B-EEA8-48EE-8CDE-CC0D9F7EB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571750"/>
            <a:ext cx="4552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 i="0">
                <a:solidFill>
                  <a:srgbClr val="101918"/>
                </a:solidFill>
                <a:latin typeface="Aptos"/>
                <a:ea typeface="Aptos"/>
                <a:cs typeface="Aptos"/>
              </a:rPr>
              <a:t>Norma reaches under the RR counter for an order pad.</a:t>
            </a:r>
          </a:p>
        </p:txBody>
      </p:sp>
      <p:sp>
        <p:nvSpPr>
          <p:cNvPr id="44" name="Sentence field left">
            <a:extLst xmlns:a="http://schemas.openxmlformats.org/drawingml/2006/main">
              <a:ext uri="{FF2B5EF4-FFF2-40B4-BE49-F238E27FC236}">
                <a16:creationId xmlns:a16="http://schemas.microsoft.com/office/drawing/2014/main" id="{F54A41FD-F641-4AF7-9D8F-C6B48A08D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05400"/>
            <a:ext cx="5314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5" name="Sentence field right">
            <a:extLst xmlns:a="http://schemas.openxmlformats.org/drawingml/2006/main">
              <a:ext uri="{FF2B5EF4-FFF2-40B4-BE49-F238E27FC236}">
                <a16:creationId xmlns:a16="http://schemas.microsoft.com/office/drawing/2014/main" id="{CDE69E25-F2BE-45F4-94FA-CC47E7D1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05400"/>
            <a:ext cx="5314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6" name="Sentence left">
            <a:extLst xmlns:a="http://schemas.openxmlformats.org/drawingml/2006/main">
              <a:ext uri="{FF2B5EF4-FFF2-40B4-BE49-F238E27FC236}">
                <a16:creationId xmlns:a16="http://schemas.microsoft.com/office/drawing/2014/main" id="{12C0DFDA-D60A-4DC2-885C-B718D1FEF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62550"/>
            <a:ext cx="5219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>
                <a:solidFill>
                  <a:srgbClr val="101918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47" name="Sentence right">
            <a:extLst xmlns:a="http://schemas.openxmlformats.org/drawingml/2006/main">
              <a:ext uri="{FF2B5EF4-FFF2-40B4-BE49-F238E27FC236}">
                <a16:creationId xmlns:a16="http://schemas.microsoft.com/office/drawing/2014/main" id="{626B4731-50CF-4A94-B604-1266A26A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5162550"/>
            <a:ext cx="5219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>
                <a:solidFill>
                  <a:srgbClr val="101918"/>
                </a:solidFill>
                <a:latin typeface="Aptos"/>
                <a:ea typeface="Aptos"/>
                <a:cs typeface="Aptos"/>
              </a:rPr>
              <a:t>The order pad is </a:t>
            </a:r>
            <a:r>
              <a:rPr sz="1700" b="1" i="1">
                <a:solidFill>
                  <a:srgbClr val="8A1A1E"/>
                </a:solidFill>
                <a:latin typeface="Georgia"/>
                <a:ea typeface="Georgia"/>
                <a:cs typeface="Georgia"/>
              </a:rPr>
              <a:t>under</a:t>
            </a:r>
            <a:r>
              <a:rPr sz="1700">
                <a:solidFill>
                  <a:srgbClr val="101918"/>
                </a:solidFill>
                <a:latin typeface="Aptos"/>
                <a:ea typeface="Aptos"/>
                <a:cs typeface="Aptos"/>
              </a:rPr>
              <a:t> the counter.</a:t>
            </a:r>
          </a:p>
        </p:txBody>
      </p:sp>
      <p:sp>
        <p:nvSpPr>
          <p:cNvPr id="51" name="Slide 6 left artwork backing">
            <a:extLst xmlns:a="http://schemas.openxmlformats.org/drawingml/2006/main">
              <a:ext uri="{FF2B5EF4-FFF2-40B4-BE49-F238E27FC236}">
                <a16:creationId xmlns:a16="http://schemas.microsoft.com/office/drawing/2014/main" id="{35709F24-5605-4191-BDB8-547679E22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52197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Slide 6 right artwork backing">
            <a:extLst xmlns:a="http://schemas.openxmlformats.org/drawingml/2006/main">
              <a:ext uri="{FF2B5EF4-FFF2-40B4-BE49-F238E27FC236}">
                <a16:creationId xmlns:a16="http://schemas.microsoft.com/office/drawing/2014/main" id="{2DDB19C1-B7CD-4BAF-89E0-0E7A390F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76400"/>
            <a:ext cx="52197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Slide 6 left artwork border">
            <a:extLst xmlns:a="http://schemas.openxmlformats.org/drawingml/2006/main">
              <a:ext uri="{FF2B5EF4-FFF2-40B4-BE49-F238E27FC236}">
                <a16:creationId xmlns:a16="http://schemas.microsoft.com/office/drawing/2014/main" id="{F9E43740-C595-4019-86BE-8A6B7841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52197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6" name="Slide 6 right artwork border">
            <a:extLst xmlns:a="http://schemas.openxmlformats.org/drawingml/2006/main">
              <a:ext uri="{FF2B5EF4-FFF2-40B4-BE49-F238E27FC236}">
                <a16:creationId xmlns:a16="http://schemas.microsoft.com/office/drawing/2014/main" id="{E32EF7AB-5021-468D-A279-88945048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76400"/>
            <a:ext cx="52197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7" name="Slide 6 corrected sentence backing left">
            <a:extLst xmlns:a="http://schemas.openxmlformats.org/drawingml/2006/main">
              <a:ext uri="{FF2B5EF4-FFF2-40B4-BE49-F238E27FC236}">
                <a16:creationId xmlns:a16="http://schemas.microsoft.com/office/drawing/2014/main" id="{579C747F-F1FF-483C-9E08-C2C9E487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05400"/>
            <a:ext cx="5314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Slide 6 corrected sentence backing right">
            <a:extLst xmlns:a="http://schemas.openxmlformats.org/drawingml/2006/main">
              <a:ext uri="{FF2B5EF4-FFF2-40B4-BE49-F238E27FC236}">
                <a16:creationId xmlns:a16="http://schemas.microsoft.com/office/drawing/2014/main" id="{02385B1C-F5F9-4DCC-94E8-D4CF8727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05400"/>
            <a:ext cx="5314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Slide 6 corrected sentence left">
            <a:extLst xmlns:a="http://schemas.openxmlformats.org/drawingml/2006/main">
              <a:ext uri="{FF2B5EF4-FFF2-40B4-BE49-F238E27FC236}">
                <a16:creationId xmlns:a16="http://schemas.microsoft.com/office/drawing/2014/main" id="{8D1C50B0-2DA7-4420-A29A-36FA62D83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62550"/>
            <a:ext cx="5219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>
                <a:solidFill>
                  <a:srgbClr val="101918"/>
                </a:solidFill>
                <a:latin typeface="Aptos"/>
                <a:ea typeface="Aptos"/>
                <a:cs typeface="Aptos"/>
              </a:rPr>
              <a:t>The pie is </a:t>
            </a:r>
            <a:r>
              <a:rPr sz="1700" b="1" i="1">
                <a:solidFill>
                  <a:srgbClr val="8A1A1E"/>
                </a:solidFill>
                <a:latin typeface="Georgia"/>
                <a:ea typeface="Georgia"/>
                <a:cs typeface="Georgia"/>
              </a:rPr>
              <a:t>on</a:t>
            </a:r>
            <a:r>
              <a:rPr sz="1700">
                <a:solidFill>
                  <a:srgbClr val="101918"/>
                </a:solidFill>
                <a:latin typeface="Aptos"/>
                <a:ea typeface="Aptos"/>
                <a:cs typeface="Aptos"/>
              </a:rPr>
              <a:t> the counter.</a:t>
            </a:r>
          </a:p>
        </p:txBody>
      </p:sp>
      <p:sp>
        <p:nvSpPr>
          <p:cNvPr id="60" name="Slide 6 corrected sentence right">
            <a:extLst xmlns:a="http://schemas.openxmlformats.org/drawingml/2006/main">
              <a:ext uri="{FF2B5EF4-FFF2-40B4-BE49-F238E27FC236}">
                <a16:creationId xmlns:a16="http://schemas.microsoft.com/office/drawing/2014/main" id="{29532193-651A-4808-A6D9-15A04A571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5162550"/>
            <a:ext cx="5219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>
                <a:solidFill>
                  <a:srgbClr val="101918"/>
                </a:solidFill>
                <a:latin typeface="Aptos"/>
                <a:ea typeface="Aptos"/>
                <a:cs typeface="Aptos"/>
              </a:rPr>
              <a:t>The bag is </a:t>
            </a:r>
            <a:r>
              <a:rPr sz="1700" b="1" i="1">
                <a:solidFill>
                  <a:srgbClr val="8A1A1E"/>
                </a:solidFill>
                <a:latin typeface="Georgia"/>
                <a:ea typeface="Georgia"/>
                <a:cs typeface="Georgia"/>
              </a:rPr>
              <a:t>under</a:t>
            </a:r>
            <a:r>
              <a:rPr sz="1700">
                <a:solidFill>
                  <a:srgbClr val="101918"/>
                </a:solidFill>
                <a:latin typeface="Aptos"/>
                <a:ea typeface="Aptos"/>
                <a:cs typeface="Aptos"/>
              </a:rPr>
              <a:t> the table.</a:t>
            </a:r>
          </a:p>
        </p:txBody>
      </p:sp>
      <p:sp>
        <p:nvSpPr>
          <p:cNvPr id="66" name="UNDER blue bag backing">
            <a:extLst xmlns:a="http://schemas.openxmlformats.org/drawingml/2006/main">
              <a:ext uri="{FF2B5EF4-FFF2-40B4-BE49-F238E27FC236}">
                <a16:creationId xmlns:a16="http://schemas.microsoft.com/office/drawing/2014/main" id="{9ADFDE90-7E78-4CB2-9D49-05CED4AF2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76400"/>
            <a:ext cx="52197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UNDER blue bag border">
            <a:extLst xmlns:a="http://schemas.openxmlformats.org/drawingml/2006/main">
              <a:ext uri="{FF2B5EF4-FFF2-40B4-BE49-F238E27FC236}">
                <a16:creationId xmlns:a16="http://schemas.microsoft.com/office/drawing/2014/main" id="{B8308BD5-BA27-46EC-8513-241524EE6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76400"/>
            <a:ext cx="52197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5" name="UNDER soft pink bag backing">
            <a:extLst xmlns:a="http://schemas.openxmlformats.org/drawingml/2006/main">
              <a:ext uri="{FF2B5EF4-FFF2-40B4-BE49-F238E27FC236}">
                <a16:creationId xmlns:a16="http://schemas.microsoft.com/office/drawing/2014/main" id="{77F79658-A559-457C-AF53-36064B80E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76400"/>
            <a:ext cx="52197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UNDER soft pink bag border">
            <a:extLst xmlns:a="http://schemas.openxmlformats.org/drawingml/2006/main">
              <a:ext uri="{FF2B5EF4-FFF2-40B4-BE49-F238E27FC236}">
                <a16:creationId xmlns:a16="http://schemas.microsoft.com/office/drawing/2014/main" id="{92AC393E-AA13-4A9E-9993-244280B8C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76400"/>
            <a:ext cx="52197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5" name="Clean emblem background">
            <a:extLst xmlns:a="http://schemas.openxmlformats.org/drawingml/2006/main">
              <a:ext uri="{FF2B5EF4-FFF2-40B4-BE49-F238E27FC236}">
                <a16:creationId xmlns:a16="http://schemas.microsoft.com/office/drawing/2014/main" id="{11E0D6B9-230A-4265-976D-2FAC30475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6010275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14094236594a52">
            <a:extLst>
              <a:ext uri="{96DAC541-7B7A-43D3-8B79-37D633B846F1}">
                <asvg:svgBlip xmlns:asvg="http://schemas.microsoft.com/office/drawing/2016/SVG/main" r:embed="R005d2bb6b8fc484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829300" y="6048375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94" name="Cover emblem clean background">
            <a:extLst xmlns:a="http://schemas.openxmlformats.org/drawingml/2006/main">
              <a:ext uri="{FF2B5EF4-FFF2-40B4-BE49-F238E27FC236}">
                <a16:creationId xmlns:a16="http://schemas.microsoft.com/office/drawing/2014/main" id="{BBF76F0D-0F37-418D-9B24-CC025A3DB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6010275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63aaffe21c4a9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29300" y="6048375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104" name="UNDER forest green bag backing">
            <a:extLst xmlns:a="http://schemas.openxmlformats.org/drawingml/2006/main">
              <a:ext uri="{FF2B5EF4-FFF2-40B4-BE49-F238E27FC236}">
                <a16:creationId xmlns:a16="http://schemas.microsoft.com/office/drawing/2014/main" id="{168D710E-2F4A-4009-9770-DB5EEB90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76400"/>
            <a:ext cx="52197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ON Shelly refined detail cream backing">
            <a:extLst xmlns:a="http://schemas.openxmlformats.org/drawingml/2006/main">
              <a:ext uri="{FF2B5EF4-FFF2-40B4-BE49-F238E27FC236}">
                <a16:creationId xmlns:a16="http://schemas.microsoft.com/office/drawing/2014/main" id="{E193C1BE-F582-47B5-BF0C-B1436E30F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52197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UNDER Norma refined detail cream backing">
            <a:extLst xmlns:a="http://schemas.openxmlformats.org/drawingml/2006/main">
              <a:ext uri="{FF2B5EF4-FFF2-40B4-BE49-F238E27FC236}">
                <a16:creationId xmlns:a16="http://schemas.microsoft.com/office/drawing/2014/main" id="{7ABC0EC6-60DC-42D9-A306-A5BB15BA1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76400"/>
            <a:ext cx="52197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Shelly photo-based full-frame illustration backing">
            <a:extLst xmlns:a="http://schemas.openxmlformats.org/drawingml/2006/main">
              <a:ext uri="{FF2B5EF4-FFF2-40B4-BE49-F238E27FC236}">
                <a16:creationId xmlns:a16="http://schemas.microsoft.com/office/drawing/2014/main" id="{B5D73E93-EBB1-410F-8676-9733B5B2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52197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Norma photo-based full-frame illustration backing">
            <a:extLst xmlns:a="http://schemas.openxmlformats.org/drawingml/2006/main">
              <a:ext uri="{FF2B5EF4-FFF2-40B4-BE49-F238E27FC236}">
                <a16:creationId xmlns:a16="http://schemas.microsoft.com/office/drawing/2014/main" id="{875AEBE1-089E-4275-8E66-10696533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76400"/>
            <a:ext cx="52197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Slide 7 caption backing">
            <a:extLst xmlns:a="http://schemas.openxmlformats.org/drawingml/2006/main">
              <a:ext uri="{FF2B5EF4-FFF2-40B4-BE49-F238E27FC236}">
                <a16:creationId xmlns:a16="http://schemas.microsoft.com/office/drawing/2014/main" id="{F6BE537B-73DE-4E01-8C4A-896BD18D9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05400"/>
            <a:ext cx="5314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>
                <a:solidFill>
                  <a:srgbClr val="101918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135" name="Slide 6 green bag caption backing">
            <a:extLst xmlns:a="http://schemas.openxmlformats.org/drawingml/2006/main">
              <a:ext uri="{FF2B5EF4-FFF2-40B4-BE49-F238E27FC236}">
                <a16:creationId xmlns:a16="http://schemas.microsoft.com/office/drawing/2014/main" id="{BFF86E6D-BCD9-474E-BA95-AF0C27B7C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05400"/>
            <a:ext cx="5314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>
                <a:solidFill>
                  <a:srgbClr val="101918"/>
                </a:solidFill>
                <a:latin typeface="Aptos"/>
                <a:ea typeface="Aptos"/>
                <a:cs typeface="Aptos"/>
              </a:rPr>
              <a:t>The green bag is </a:t>
            </a:r>
            <a:r>
              <a:rPr sz="1700" b="1" i="1">
                <a:solidFill>
                  <a:srgbClr val="8A1A1E"/>
                </a:solidFill>
                <a:latin typeface="Georgia"/>
                <a:ea typeface="Georgia"/>
                <a:cs typeface="Georgia"/>
              </a:rPr>
              <a:t>under</a:t>
            </a:r>
            <a:r>
              <a:rPr sz="1700">
                <a:solidFill>
                  <a:srgbClr val="101918"/>
                </a:solidFill>
                <a:latin typeface="Aptos"/>
                <a:ea typeface="Aptos"/>
                <a:cs typeface="Aptos"/>
              </a:rPr>
              <a:t> the table.</a:t>
            </a:r>
          </a:p>
        </p:txBody>
      </p:sp>
      <p:pic>
        <p:nvPicPr>
          <p:cNvPr id="2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b429998638490f"/>
          <a:srcRect xmlns:a="http://schemas.openxmlformats.org/drawingml/2006/main" l="0" t="21181" r="0" b="211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476250" y="1677975"/>
            <a:ext cx="5219700" cy="3425850"/>
          </a:xfrm>
          <a:prstGeom xmlns:a="http://schemas.openxmlformats.org/drawingml/2006/main" prst="rect">
            <a:avLst/>
          </a:prstGeom>
        </p:spPr>
      </p:pic>
      <p:pic>
        <p:nvPicPr>
          <p:cNvPr id="2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e115b5f68d43e0"/>
          <a:srcRect xmlns:a="http://schemas.openxmlformats.org/drawingml/2006/main" l="0" t="21163" r="0" b="211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496050" y="1676868"/>
            <a:ext cx="5219700" cy="3428064"/>
          </a:xfrm>
          <a:prstGeom xmlns:a="http://schemas.openxmlformats.org/drawingml/2006/main" prst="rect">
            <a:avLst/>
          </a:prstGeom>
        </p:spPr>
      </p:pic>
      <p:sp>
        <p:nvSpPr>
          <p:cNvPr id="152" name="Basic course header clean backing">
            <a:extLst xmlns:a="http://schemas.openxmlformats.org/drawingml/2006/main">
              <a:ext uri="{FF2B5EF4-FFF2-40B4-BE49-F238E27FC236}">
                <a16:creationId xmlns:a16="http://schemas.microsoft.com/office/drawing/2014/main" id="{B6F95453-83ED-4BC3-A768-9D3FDBD3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"/>
            <a:ext cx="32861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Basic course running header">
            <a:extLst xmlns:a="http://schemas.openxmlformats.org/drawingml/2006/main">
              <a:ext uri="{FF2B5EF4-FFF2-40B4-BE49-F238E27FC236}">
                <a16:creationId xmlns:a16="http://schemas.microsoft.com/office/drawing/2014/main" id="{8FCA92AF-0AFC-4B7D-99F6-328DF6DB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82E43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82E43"/>
                </a:solidFill>
                <a:latin typeface="Aptos"/>
                <a:ea typeface="Aptos"/>
                <a:cs typeface="Aptos"/>
              </a:rPr>
              <a:t>FORBES ENGLISH • PREPOSITIONS</a:t>
            </a:r>
          </a:p>
        </p:txBody>
      </p:sp>
      <p:sp>
        <p:nvSpPr>
          <p:cNvPr id="154" name="Slide 7 caption final backing">
            <a:extLst xmlns:a="http://schemas.openxmlformats.org/drawingml/2006/main">
              <a:ext uri="{FF2B5EF4-FFF2-40B4-BE49-F238E27FC236}">
                <a16:creationId xmlns:a16="http://schemas.microsoft.com/office/drawing/2014/main" id="{BFE091CA-3780-4E80-B8A6-23FD1607B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05400"/>
            <a:ext cx="5314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Slide 7 caption final">
            <a:extLst xmlns:a="http://schemas.openxmlformats.org/drawingml/2006/main">
              <a:ext uri="{FF2B5EF4-FFF2-40B4-BE49-F238E27FC236}">
                <a16:creationId xmlns:a16="http://schemas.microsoft.com/office/drawing/2014/main" id="{C2AA4A95-DFB9-43F9-99F0-92A3F36F2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62550"/>
            <a:ext cx="5219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>
                <a:solidFill>
                  <a:srgbClr val="182E43"/>
                </a:solidFill>
                <a:latin typeface="Aptos"/>
                <a:ea typeface="Aptos"/>
                <a:cs typeface="Aptos"/>
              </a:defRPr>
            </a:pPr>
            <a:r>
              <a:rPr sz="1700">
                <a:solidFill>
                  <a:srgbClr val="182E43"/>
                </a:solidFill>
                <a:latin typeface="Aptos"/>
                <a:ea typeface="Aptos"/>
                <a:cs typeface="Aptos"/>
              </a:rPr>
              <a:t>The waffle is </a:t>
            </a:r>
            <a:r>
              <a:rPr sz="1700" b="1" i="1">
                <a:solidFill>
                  <a:srgbClr val="182E43"/>
                </a:solidFill>
                <a:latin typeface="Aptos"/>
                <a:ea typeface="Aptos"/>
                <a:cs typeface="Aptos"/>
              </a:rPr>
              <a:t>on</a:t>
            </a:r>
            <a:r>
              <a:rPr sz="1700">
                <a:solidFill>
                  <a:srgbClr val="182E43"/>
                </a:solidFill>
                <a:latin typeface="Aptos"/>
                <a:ea typeface="Aptos"/>
                <a:cs typeface="Aptos"/>
              </a:rPr>
              <a:t> the plate.</a:t>
            </a:r>
          </a:p>
        </p:txBody>
      </p:sp>
      <p:sp>
        <p:nvSpPr>
          <p:cNvPr id="156" name="Green bag caption final backing">
            <a:extLst xmlns:a="http://schemas.openxmlformats.org/drawingml/2006/main">
              <a:ext uri="{FF2B5EF4-FFF2-40B4-BE49-F238E27FC236}">
                <a16:creationId xmlns:a16="http://schemas.microsoft.com/office/drawing/2014/main" id="{0D83467B-CD30-438D-BBDA-114651C4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05400"/>
            <a:ext cx="5314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Green bag caption final">
            <a:extLst xmlns:a="http://schemas.openxmlformats.org/drawingml/2006/main">
              <a:ext uri="{FF2B5EF4-FFF2-40B4-BE49-F238E27FC236}">
                <a16:creationId xmlns:a16="http://schemas.microsoft.com/office/drawing/2014/main" id="{8DF73FCB-8E78-43F0-A7E9-84F69285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5162550"/>
            <a:ext cx="5219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>
                <a:solidFill>
                  <a:srgbClr val="182E43"/>
                </a:solidFill>
                <a:latin typeface="Aptos"/>
                <a:ea typeface="Aptos"/>
                <a:cs typeface="Aptos"/>
              </a:defRPr>
            </a:pPr>
            <a:r>
              <a:rPr sz="1700">
                <a:solidFill>
                  <a:srgbClr val="182E43"/>
                </a:solidFill>
                <a:latin typeface="Aptos"/>
                <a:ea typeface="Aptos"/>
                <a:cs typeface="Aptos"/>
              </a:rPr>
              <a:t>The walkie-talkie is </a:t>
            </a:r>
            <a:r>
              <a:rPr sz="1700" b="1" i="1">
                <a:solidFill>
                  <a:srgbClr val="182E43"/>
                </a:solidFill>
                <a:latin typeface="Aptos"/>
                <a:ea typeface="Aptos"/>
                <a:cs typeface="Aptos"/>
              </a:rPr>
              <a:t>under</a:t>
            </a:r>
            <a:r>
              <a:rPr sz="1700">
                <a:solidFill>
                  <a:srgbClr val="182E43"/>
                </a:solidFill>
                <a:latin typeface="Aptos"/>
                <a:ea typeface="Aptos"/>
                <a:cs typeface="Aptos"/>
              </a:rPr>
              <a:t> the table.</a:t>
            </a:r>
          </a:p>
        </p:txBody>
      </p:sp>
      <p:sp>
        <p:nvSpPr>
          <p:cNvPr id="158" name="Usage note left backing">
            <a:extLst xmlns:a="http://schemas.openxmlformats.org/drawingml/2006/main">
              <a:ext uri="{FF2B5EF4-FFF2-40B4-BE49-F238E27FC236}">
                <a16:creationId xmlns:a16="http://schemas.microsoft.com/office/drawing/2014/main" id="{CEF0FD0B-4228-47BE-88A7-1AFC2D64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76900"/>
            <a:ext cx="53149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Usage note left">
            <a:extLst xmlns:a="http://schemas.openxmlformats.org/drawingml/2006/main">
              <a:ext uri="{FF2B5EF4-FFF2-40B4-BE49-F238E27FC236}">
                <a16:creationId xmlns:a16="http://schemas.microsoft.com/office/drawing/2014/main" id="{C3D4BB96-C925-4F43-B9FA-CEEDC86F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516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 i="0">
                <a:solidFill>
                  <a:srgbClr val="505653"/>
                </a:solidFill>
                <a:latin typeface="Aptos"/>
                <a:ea typeface="Aptos"/>
                <a:cs typeface="Aptos"/>
              </a:rPr>
              <a:t>Use on when something touches and is supported by a surface.</a:t>
            </a:r>
          </a:p>
        </p:txBody>
      </p:sp>
      <p:sp>
        <p:nvSpPr>
          <p:cNvPr id="160" name="Usage note right backing">
            <a:extLst xmlns:a="http://schemas.openxmlformats.org/drawingml/2006/main">
              <a:ext uri="{FF2B5EF4-FFF2-40B4-BE49-F238E27FC236}">
                <a16:creationId xmlns:a16="http://schemas.microsoft.com/office/drawing/2014/main" id="{2E63DB0E-2CC1-46AA-A0AC-3EEB0477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676900"/>
            <a:ext cx="53149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Usage note right">
            <a:extLst xmlns:a="http://schemas.openxmlformats.org/drawingml/2006/main">
              <a:ext uri="{FF2B5EF4-FFF2-40B4-BE49-F238E27FC236}">
                <a16:creationId xmlns:a16="http://schemas.microsoft.com/office/drawing/2014/main" id="{EDF56925-AB52-4D3B-8A64-76F1D3597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715000"/>
            <a:ext cx="516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 i="0">
                <a:solidFill>
                  <a:srgbClr val="505653"/>
                </a:solidFill>
                <a:latin typeface="Aptos"/>
                <a:ea typeface="Aptos"/>
                <a:cs typeface="Aptos"/>
              </a:rPr>
              <a:t>Use under when something is lower than, and often covered by, another thing.</a:t>
            </a:r>
          </a:p>
        </p:txBody>
      </p:sp>
      <p:sp>
        <p:nvSpPr>
          <p:cNvPr id="178" name="Italic usage note left backing">
            <a:extLst xmlns:a="http://schemas.openxmlformats.org/drawingml/2006/main">
              <a:ext uri="{FF2B5EF4-FFF2-40B4-BE49-F238E27FC236}">
                <a16:creationId xmlns:a16="http://schemas.microsoft.com/office/drawing/2014/main" id="{7C83C52D-E14F-47A0-952B-93083038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76900"/>
            <a:ext cx="53149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" name="Italic usage note left">
            <a:extLst xmlns:a="http://schemas.openxmlformats.org/drawingml/2006/main">
              <a:ext uri="{FF2B5EF4-FFF2-40B4-BE49-F238E27FC236}">
                <a16:creationId xmlns:a16="http://schemas.microsoft.com/office/drawing/2014/main" id="{1FE50F80-7467-4820-8755-313ED82B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516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9826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>
                <a:solidFill>
                  <a:srgbClr val="182E43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182E43"/>
                </a:solidFill>
                <a:latin typeface="Aptos"/>
                <a:ea typeface="Aptos"/>
                <a:cs typeface="Aptos"/>
              </a:rPr>
              <a:t>Use </a:t>
            </a:r>
            <a:r>
              <a:rPr sz="1600" b="1" i="1">
                <a:solidFill>
                  <a:srgbClr val="182E43"/>
                </a:solidFill>
                <a:latin typeface="Aptos"/>
                <a:ea typeface="Aptos"/>
                <a:cs typeface="Aptos"/>
              </a:rPr>
              <a:t>on</a:t>
            </a:r>
            <a:r>
              <a:rPr sz="1600">
                <a:solidFill>
                  <a:srgbClr val="182E43"/>
                </a:solidFill>
                <a:latin typeface="Aptos"/>
                <a:ea typeface="Aptos"/>
                <a:cs typeface="Aptos"/>
              </a:rPr>
              <a:t> when something touches and is supported by a surface.</a:t>
            </a:r>
          </a:p>
        </p:txBody>
      </p:sp>
      <p:sp>
        <p:nvSpPr>
          <p:cNvPr id="180" name="Italic usage note right backing">
            <a:extLst xmlns:a="http://schemas.openxmlformats.org/drawingml/2006/main">
              <a:ext uri="{FF2B5EF4-FFF2-40B4-BE49-F238E27FC236}">
                <a16:creationId xmlns:a16="http://schemas.microsoft.com/office/drawing/2014/main" id="{DBEE897D-C81F-45B2-8774-ABADCC77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676900"/>
            <a:ext cx="53149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" name="Italic usage note right">
            <a:extLst xmlns:a="http://schemas.openxmlformats.org/drawingml/2006/main">
              <a:ext uri="{FF2B5EF4-FFF2-40B4-BE49-F238E27FC236}">
                <a16:creationId xmlns:a16="http://schemas.microsoft.com/office/drawing/2014/main" id="{07053C40-A396-494B-B375-8387D66E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715000"/>
            <a:ext cx="516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8203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>
                <a:solidFill>
                  <a:srgbClr val="182E43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182E43"/>
                </a:solidFill>
                <a:latin typeface="Aptos"/>
                <a:ea typeface="Aptos"/>
                <a:cs typeface="Aptos"/>
              </a:rPr>
              <a:t>Use </a:t>
            </a:r>
            <a:r>
              <a:rPr sz="1600" b="1" i="1">
                <a:solidFill>
                  <a:srgbClr val="182E43"/>
                </a:solidFill>
                <a:latin typeface="Aptos"/>
                <a:ea typeface="Aptos"/>
                <a:cs typeface="Aptos"/>
              </a:rPr>
              <a:t>under</a:t>
            </a:r>
            <a:r>
              <a:rPr sz="1600">
                <a:solidFill>
                  <a:srgbClr val="182E43"/>
                </a:solidFill>
                <a:latin typeface="Aptos"/>
                <a:ea typeface="Aptos"/>
                <a:cs typeface="Aptos"/>
              </a:rPr>
              <a:t> when something is lower than, and often covered by, another thing.</a:t>
            </a:r>
          </a:p>
        </p:txBody>
      </p:sp>
      <p:sp>
        <p:nvSpPr>
          <p:cNvPr id="182" name="Forbes English footer clean backing">
            <a:extLst xmlns:a="http://schemas.openxmlformats.org/drawingml/2006/main">
              <a:ext uri="{FF2B5EF4-FFF2-40B4-BE49-F238E27FC236}">
                <a16:creationId xmlns:a16="http://schemas.microsoft.com/office/drawing/2014/main" id="{AF54E65F-0081-456B-A33C-E74ED7E9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76975"/>
            <a:ext cx="9144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" name="Forbes English footer wordmark">
            <a:extLst xmlns:a="http://schemas.openxmlformats.org/drawingml/2006/main">
              <a:ext uri="{FF2B5EF4-FFF2-40B4-BE49-F238E27FC236}">
                <a16:creationId xmlns:a16="http://schemas.microsoft.com/office/drawing/2014/main" id="{95D8C504-A557-4384-9DAD-6CD1AC638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15075"/>
            <a:ext cx="733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i="0">
                <a:solidFill>
                  <a:srgbClr val="101918"/>
                </a:solidFill>
                <a:latin typeface="Georgia"/>
                <a:ea typeface="Georgia"/>
                <a:cs typeface="Georgia"/>
              </a:rPr>
              <a:t>Forbes</a:t>
            </a:r>
          </a:p>
        </p:txBody>
      </p:sp>
      <p:sp>
        <p:nvSpPr>
          <p:cNvPr id="184" name="Forbes English footer second line">
            <a:extLst xmlns:a="http://schemas.openxmlformats.org/drawingml/2006/main">
              <a:ext uri="{FF2B5EF4-FFF2-40B4-BE49-F238E27FC236}">
                <a16:creationId xmlns:a16="http://schemas.microsoft.com/office/drawing/2014/main" id="{BB0A0908-EC29-426A-903A-2E686C8E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477000"/>
            <a:ext cx="7334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50" b="1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ENGLISH</a:t>
            </a:r>
          </a:p>
        </p:txBody>
      </p:sp>
    </p:spTree>
    <p:extLst>
      <p:ext uri="{BB962C8B-B14F-4D97-AF65-F5344CB8AC3E}">
        <p14:creationId xmlns:p14="http://schemas.microsoft.com/office/powerpoint/2010/main" val="5892427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D9E1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C635E1D-C2AE-430E-9E65-89C11C35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219456"/>
            <a:ext cx="21031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1350" b="1">
                <a:solidFill>
                  <a:srgbClr val="90111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0111C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D1069F6-2422-478B-B317-5172FE0DF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1168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01918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4D201C5-103C-48AB-9585-2100DC17F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10312"/>
            <a:ext cx="297180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00" b="1">
                <a:solidFill>
                  <a:srgbClr val="182E4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E43"/>
                </a:solidFill>
                <a:latin typeface="Aptos"/>
                <a:ea typeface="Aptos"/>
                <a:cs typeface="Aptos"/>
              </a:rPr>
              <a:t>FORBES ENGLISH • PREPOSITIONS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8779501-8233-4AFA-86C8-4F23A1168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390" y="502920"/>
            <a:ext cx="0" cy="52760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7390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0ECCCFFD-2E47-4D1E-AB25-62E02F2EF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7666" y="3136392"/>
            <a:ext cx="155448" cy="155448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6571D"/>
          </a:solidFill>
          <a:ln xmlns:a="http://schemas.openxmlformats.org/drawingml/2006/main" w="12700">
            <a:solidFill>
              <a:srgbClr val="8A1A1E">
                <a:alpha val="0"/>
              </a:srgbClr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E0EAF17-93B7-4746-B64E-B87F0F93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1520"/>
            <a:ext cx="507492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300" b="1">
                <a:ln w="10478">
                  <a:solidFill>
                    <a:srgbClr val="303437"/>
                  </a:solidFill>
                  <a:prstDash val="solid"/>
                </a:ln>
                <a:pattFill prst="narHorz">
                  <a:fgClr>
                    <a:srgbClr val="2F3336"/>
                  </a:fgClr>
                  <a:bgClr>
                    <a:srgbClr val="B7B2AA"/>
                  </a:bgClr>
                </a:pattFill>
                <a:latin typeface="Noto Sans Display Condensed"/>
                <a:ea typeface="Noto Sans Display Condensed"/>
                <a:cs typeface="Noto Sans Display Condensed"/>
              </a:rPr>
              <a:t>ACROSS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152AE9A-D5CC-44BD-9155-55200A597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731520"/>
            <a:ext cx="507492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300" b="1">
                <a:ln w="10478">
                  <a:solidFill>
                    <a:srgbClr val="303437"/>
                  </a:solidFill>
                  <a:prstDash val="solid"/>
                </a:ln>
                <a:pattFill prst="narHorz">
                  <a:fgClr>
                    <a:srgbClr val="2F3336"/>
                  </a:fgClr>
                  <a:bgClr>
                    <a:srgbClr val="B7B2AA"/>
                  </a:bgClr>
                </a:pattFill>
                <a:latin typeface="Noto Sans Display Condensed"/>
                <a:ea typeface="Noto Sans Display Condensed"/>
                <a:cs typeface="Noto Sans Display Condensed"/>
              </a:rPr>
              <a:t>ALONG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A330A8A9-FCDA-4F40-8E54-00667C21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1444752"/>
            <a:ext cx="5321808" cy="3547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0DF">
              <a:alpha val="96000"/>
            </a:srgbClr>
          </a:solidFill>
          <a:ln xmlns:a="http://schemas.openxmlformats.org/drawingml/2006/main" w="13335">
            <a:solidFill>
              <a:srgbClr val="8A1A1E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DF23E20-C523-4587-ACB1-D8D2E4C1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1645920"/>
            <a:ext cx="4882896" cy="3145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20">
                <a:solidFill>
                  <a:srgbClr val="101918"/>
                </a:solidFill>
                <a:latin typeface="Aptos"/>
                <a:ea typeface="Aptos"/>
                <a:cs typeface="Aptos"/>
              </a:rPr>
              <a:t>IMAGE SLOT</a:t>
            </a:r>
          </a:p>
          <a:p xmlns:a="http://schemas.openxmlformats.org/drawingml/2006/main">
            <a:pPr marL="0" indent="0" algn="ctr">
              <a:buNone/>
            </a:pPr>
          </a:p>
          <a:p xmlns:a="http://schemas.openxmlformats.org/drawingml/2006/main">
            <a:pPr marL="0" indent="0" algn="ctr">
              <a:buNone/>
            </a:pPr>
            <a:r>
              <a:rPr sz="1320">
                <a:solidFill>
                  <a:srgbClr val="101918"/>
                </a:solidFill>
                <a:latin typeface="Aptos"/>
                <a:ea typeface="Aptos"/>
                <a:cs typeface="Aptos"/>
              </a:rPr>
              <a:t>Pete Martell walking across a river bridge or log crossing. The image must show movement from one side of the river to the other.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B6815487-CD62-40A9-929E-97D8EE72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1444752"/>
            <a:ext cx="5321808" cy="3547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0DF">
              <a:alpha val="96000"/>
            </a:srgbClr>
          </a:solidFill>
          <a:ln xmlns:a="http://schemas.openxmlformats.org/drawingml/2006/main" w="13335">
            <a:solidFill>
              <a:srgbClr val="263C32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FB67842-B3F6-4760-BBB5-C1F571F24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1645920"/>
            <a:ext cx="4882896" cy="3145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20">
                <a:solidFill>
                  <a:srgbClr val="101918"/>
                </a:solidFill>
                <a:latin typeface="Aptos"/>
                <a:ea typeface="Aptos"/>
                <a:cs typeface="Aptos"/>
              </a:rPr>
              <a:t>IMAGE SLOT</a:t>
            </a:r>
          </a:p>
          <a:p xmlns:a="http://schemas.openxmlformats.org/drawingml/2006/main">
            <a:pPr marL="0" indent="0" algn="ctr">
              <a:buNone/>
            </a:pPr>
          </a:p>
          <a:p xmlns:a="http://schemas.openxmlformats.org/drawingml/2006/main">
            <a:pPr marL="0" indent="0" algn="ctr">
              <a:buNone/>
            </a:pPr>
            <a:r>
              <a:rPr sz="1320">
                <a:solidFill>
                  <a:srgbClr val="101918"/>
                </a:solidFill>
                <a:latin typeface="Aptos"/>
                <a:ea typeface="Aptos"/>
                <a:cs typeface="Aptos"/>
              </a:rPr>
              <a:t>Deputy Hawk walking along a forest trail. Trail should stretch into the distance; Hawk follows its length, not crossing it.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D9AFC5C-5E6D-4F05-A8EB-D8A98E26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5212080"/>
            <a:ext cx="510235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>
                <a:solidFill>
                  <a:srgbClr val="101918"/>
                </a:solidFill>
                <a:latin typeface="Aptos"/>
                <a:ea typeface="Aptos"/>
                <a:cs typeface="Aptos"/>
              </a:rPr>
              <a:t>Pete is </a:t>
            </a:r>
            <a:r>
              <a:rPr sz="1700">
                <a:solidFill>
                  <a:srgbClr val="101918"/>
                </a:solidFill>
                <a:latin typeface="Aptos"/>
                <a:ea typeface="Aptos"/>
                <a:cs typeface="Aptos"/>
              </a:rPr>
              <a:t>rowing</a:t>
            </a:r>
            <a:r>
              <a:rPr sz="1700">
                <a:solidFill>
                  <a:srgbClr val="101918"/>
                </a:solidFill>
                <a:latin typeface="Aptos"/>
                <a:ea typeface="Aptos"/>
                <a:cs typeface="Aptos"/>
              </a:rPr>
              <a:t> </a:t>
            </a:r>
            <a:r>
              <a:rPr sz="1700" b="1" i="1">
                <a:solidFill>
                  <a:srgbClr val="8A1A1E"/>
                </a:solidFill>
                <a:latin typeface="Georgia"/>
                <a:ea typeface="Georgia"/>
                <a:cs typeface="Georgia"/>
              </a:rPr>
              <a:t>across</a:t>
            </a:r>
            <a:r>
              <a:rPr sz="1700">
                <a:solidFill>
                  <a:srgbClr val="101918"/>
                </a:solidFill>
                <a:latin typeface="Aptos"/>
                <a:ea typeface="Aptos"/>
                <a:cs typeface="Aptos"/>
              </a:rPr>
              <a:t> the river.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5430D85-8709-4105-9443-EE16C9AC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384" y="5212080"/>
            <a:ext cx="510235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>
                <a:solidFill>
                  <a:srgbClr val="101918"/>
                </a:solidFill>
                <a:latin typeface="Aptos"/>
                <a:ea typeface="Aptos"/>
                <a:cs typeface="Aptos"/>
              </a:rPr>
              <a:t>Hawk is walking </a:t>
            </a:r>
            <a:r>
              <a:rPr sz="1700" b="1" i="1">
                <a:solidFill>
                  <a:srgbClr val="263C32"/>
                </a:solidFill>
                <a:latin typeface="Georgia"/>
                <a:ea typeface="Georgia"/>
                <a:cs typeface="Georgia"/>
              </a:rPr>
              <a:t>along</a:t>
            </a:r>
            <a:r>
              <a:rPr sz="1700">
                <a:solidFill>
                  <a:srgbClr val="101918"/>
                </a:solidFill>
                <a:latin typeface="Aptos"/>
                <a:ea typeface="Aptos"/>
                <a:cs typeface="Aptos"/>
              </a:rPr>
              <a:t> the trail.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726A245-342A-4F1B-A75A-78447206A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632704"/>
            <a:ext cx="4754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20" b="1">
                <a:solidFill>
                  <a:srgbClr val="8A1A1E"/>
                </a:solidFill>
                <a:latin typeface="Roboto Condensed"/>
                <a:ea typeface="Roboto Condensed"/>
                <a:cs typeface="Roboto Condensed"/>
              </a:rPr>
              <a:t>ACROSS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274D7B5A-F6E1-424D-AC62-6B785E81A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879592"/>
            <a:ext cx="4754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80" i="1">
                <a:solidFill>
                  <a:srgbClr val="69675E"/>
                </a:solidFill>
                <a:latin typeface="Georgia"/>
                <a:ea typeface="Georgia"/>
                <a:cs typeface="Georgia"/>
              </a:rPr>
              <a:t>movement from one side to the other side.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FADD92C-56C1-48D6-906D-12C230885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5632704"/>
            <a:ext cx="4754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20" b="1">
                <a:solidFill>
                  <a:srgbClr val="263C32"/>
                </a:solidFill>
                <a:latin typeface="Roboto Condensed"/>
                <a:ea typeface="Roboto Condensed"/>
                <a:cs typeface="Roboto Condensed"/>
              </a:rPr>
              <a:t>ALONG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DC9A890-06D8-41A5-A8A3-7D3378F78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5879592"/>
            <a:ext cx="4754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80" i="1">
                <a:solidFill>
                  <a:srgbClr val="69675E"/>
                </a:solidFill>
                <a:latin typeface="Georgia"/>
                <a:ea typeface="Georgia"/>
                <a:cs typeface="Georgia"/>
              </a:rPr>
              <a:t>movement following the length or line of something.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FD01B589-2E08-4C58-8274-81810C06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238875"/>
            <a:ext cx="538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7390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F5E2CDD3-5951-4490-B688-4BAA6ED8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6238875"/>
            <a:ext cx="538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7390"/>
            </a:solidFill>
            <a:prstDash val="solid"/>
          </a:ln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438EC9A2-33AD-4623-A590-F47EE89B2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6382512"/>
            <a:ext cx="228600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HAWKINS FIELD GUIDE</a:t>
            </a:r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4738A2CD-896A-4AFF-B283-1BBC222C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6382512"/>
            <a:ext cx="2852928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50" b="1">
                <a:solidFill>
                  <a:srgbClr val="101918"/>
                </a:solidFill>
                <a:latin typeface="Roboto Condensed"/>
                <a:ea typeface="Roboto Condensed"/>
                <a:cs typeface="Roboto Condensed"/>
              </a:rPr>
              <a:t/>
            </a:r>
          </a:p>
        </p:txBody>
      </p:sp>
      <p:sp>
        <p:nvSpPr>
          <p:cNvPr id="25" name="Slide 4 system background">
            <a:extLst xmlns:a="http://schemas.openxmlformats.org/drawingml/2006/main">
              <a:ext uri="{FF2B5EF4-FFF2-40B4-BE49-F238E27FC236}">
                <a16:creationId xmlns:a16="http://schemas.microsoft.com/office/drawing/2014/main" id="{6AA92F6E-0FAE-47C4-95E2-EAEBC047F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4DEDEA96-7F3D-4F3B-B4CA-DFD8291A1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219456"/>
            <a:ext cx="210312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777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90111C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90111C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7" name="Header separator">
            <a:extLst xmlns:a="http://schemas.openxmlformats.org/drawingml/2006/main">
              <a:ext uri="{FF2B5EF4-FFF2-40B4-BE49-F238E27FC236}">
                <a16:creationId xmlns:a16="http://schemas.microsoft.com/office/drawing/2014/main" id="{947D9BD7-3384-4862-B354-D9F41046B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1168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01918"/>
            </a:solidFill>
            <a:prstDash val="solid"/>
          </a:ln>
        </p:spPr>
      </p:sp>
      <p:sp>
        <p:nvSpPr>
          <p:cNvPr id="28" name="Running header">
            <a:extLst xmlns:a="http://schemas.openxmlformats.org/drawingml/2006/main">
              <a:ext uri="{FF2B5EF4-FFF2-40B4-BE49-F238E27FC236}">
                <a16:creationId xmlns:a16="http://schemas.microsoft.com/office/drawing/2014/main" id="{D7F672A8-D58F-4E28-A282-6578529E0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10312"/>
            <a:ext cx="2971800" cy="210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82E43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82E43"/>
                </a:solidFill>
                <a:latin typeface="Aptos"/>
                <a:ea typeface="Aptos"/>
                <a:cs typeface="Aptos"/>
              </a:rPr>
              <a:t>FORBES ENGLISH • PREPOSITIONS</a:t>
            </a:r>
          </a:p>
        </p:txBody>
      </p:sp>
      <p:sp>
        <p:nvSpPr>
          <p:cNvPr id="29" name="Centre divider">
            <a:extLst xmlns:a="http://schemas.openxmlformats.org/drawingml/2006/main">
              <a:ext uri="{FF2B5EF4-FFF2-40B4-BE49-F238E27FC236}">
                <a16:creationId xmlns:a16="http://schemas.microsoft.com/office/drawing/2014/main" id="{DE2AEBB0-1407-40F8-B0FB-AB7E4C2D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429" y="502920"/>
            <a:ext cx="0" cy="52760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7390"/>
            </a:solidFill>
            <a:prstDash val="solid"/>
          </a:ln>
        </p:spPr>
      </p:sp>
      <p:sp>
        <p:nvSpPr>
          <p:cNvPr id="30" name="Centre diamond">
            <a:extLst xmlns:a="http://schemas.openxmlformats.org/drawingml/2006/main">
              <a:ext uri="{FF2B5EF4-FFF2-40B4-BE49-F238E27FC236}">
                <a16:creationId xmlns:a16="http://schemas.microsoft.com/office/drawing/2014/main" id="{113DF438-6480-4A7C-A61A-41B3145FB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7705" y="3136392"/>
            <a:ext cx="155448" cy="155448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1073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arget title left">
            <a:extLst xmlns:a="http://schemas.openxmlformats.org/drawingml/2006/main">
              <a:ext uri="{FF2B5EF4-FFF2-40B4-BE49-F238E27FC236}">
                <a16:creationId xmlns:a16="http://schemas.microsoft.com/office/drawing/2014/main" id="{BDA86936-84B4-4995-9223-FFBF4475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1520"/>
            <a:ext cx="5074920" cy="658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300" b="1">
                <a:solidFill>
                  <a:srgbClr val="C9C5BD"/>
                </a:solidFill>
                <a:latin typeface="Noto Sans Display Condensed"/>
                <a:ea typeface="Noto Sans Display Condensed"/>
                <a:cs typeface="Noto Sans Display Condensed"/>
              </a:defRPr>
            </a:pPr>
            <a:r>
              <a:rPr sz="4300" b="1" i="0">
                <a:ln w="10478">
                  <a:solidFill>
                    <a:srgbClr val="303437"/>
                  </a:solidFill>
                  <a:prstDash val="solid"/>
                </a:ln>
                <a:solidFill>
                  <a:srgbClr val="C9C5BD"/>
                </a:solidFill>
                <a:latin typeface="Noto Sans Display Condensed"/>
                <a:ea typeface="Noto Sans Display Condensed"/>
                <a:cs typeface="Noto Sans Display Condensed"/>
              </a:rPr>
              <a:t>ACROSS</a:t>
            </a:r>
          </a:p>
        </p:txBody>
      </p:sp>
      <p:sp>
        <p:nvSpPr>
          <p:cNvPr id="32" name="Target title right">
            <a:extLst xmlns:a="http://schemas.openxmlformats.org/drawingml/2006/main">
              <a:ext uri="{FF2B5EF4-FFF2-40B4-BE49-F238E27FC236}">
                <a16:creationId xmlns:a16="http://schemas.microsoft.com/office/drawing/2014/main" id="{3D437DB0-A3F4-4209-889A-BFD7E203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731520"/>
            <a:ext cx="5074920" cy="658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300" b="1">
                <a:solidFill>
                  <a:srgbClr val="C9C5BD"/>
                </a:solidFill>
                <a:latin typeface="Noto Sans Display Condensed"/>
                <a:ea typeface="Noto Sans Display Condensed"/>
                <a:cs typeface="Noto Sans Display Condensed"/>
              </a:defRPr>
            </a:pPr>
            <a:r>
              <a:rPr sz="4300" b="1" i="0">
                <a:ln w="10478">
                  <a:solidFill>
                    <a:srgbClr val="303437"/>
                  </a:solidFill>
                  <a:prstDash val="solid"/>
                </a:ln>
                <a:solidFill>
                  <a:srgbClr val="C9C5BD"/>
                </a:solidFill>
                <a:latin typeface="Noto Sans Display Condensed"/>
                <a:ea typeface="Noto Sans Display Condensed"/>
                <a:cs typeface="Noto Sans Display Condensed"/>
              </a:rPr>
              <a:t>ALONG</a:t>
            </a:r>
          </a:p>
        </p:txBody>
      </p:sp>
      <p:sp>
        <p:nvSpPr>
          <p:cNvPr id="33" name="Footer line left">
            <a:extLst xmlns:a="http://schemas.openxmlformats.org/drawingml/2006/main">
              <a:ext uri="{FF2B5EF4-FFF2-40B4-BE49-F238E27FC236}">
                <a16:creationId xmlns:a16="http://schemas.microsoft.com/office/drawing/2014/main" id="{6EC2C4B6-96D1-4089-9C44-46C96096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238875"/>
            <a:ext cx="538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7390"/>
            </a:solidFill>
            <a:prstDash val="solid"/>
          </a:ln>
        </p:spPr>
      </p:sp>
      <p:sp>
        <p:nvSpPr>
          <p:cNvPr id="34" name="Footer line right">
            <a:extLst xmlns:a="http://schemas.openxmlformats.org/drawingml/2006/main">
              <a:ext uri="{FF2B5EF4-FFF2-40B4-BE49-F238E27FC236}">
                <a16:creationId xmlns:a16="http://schemas.microsoft.com/office/drawing/2014/main" id="{2DCD04CE-57DE-4A1F-B222-5E13768B7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6238875"/>
            <a:ext cx="538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7390"/>
            </a:solidFill>
            <a:prstDash val="solid"/>
          </a:ln>
        </p:spPr>
      </p:sp>
      <p:pic>
        <p:nvPicPr>
          <p:cNvPr id="2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37d399c78c4867"/>
          <a:stretch xmlns:a="http://schemas.openxmlformats.org/drawingml/2006/main"/>
        </p:blipFill>
        <p:spPr>
          <a:xfrm xmlns:a="http://schemas.openxmlformats.org/drawingml/2006/main">
            <a:off x="5829300" y="6048375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36" name="Footer left">
            <a:extLst xmlns:a="http://schemas.openxmlformats.org/drawingml/2006/main">
              <a:ext uri="{FF2B5EF4-FFF2-40B4-BE49-F238E27FC236}">
                <a16:creationId xmlns:a16="http://schemas.microsoft.com/office/drawing/2014/main" id="{E9EAD805-75FD-46E7-AA4C-C16DEAA3F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3817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11111"/>
                </a:solidFill>
                <a:latin typeface="Aptos"/>
                <a:ea typeface="Aptos"/>
                <a:cs typeface="Aptos"/>
              </a:rPr>
              <a:t>HAWKINS FIELD GUIDE</a:t>
            </a:r>
          </a:p>
        </p:txBody>
      </p:sp>
      <p:sp>
        <p:nvSpPr>
          <p:cNvPr id="37" name="Footer course">
            <a:extLst xmlns:a="http://schemas.openxmlformats.org/drawingml/2006/main">
              <a:ext uri="{FF2B5EF4-FFF2-40B4-BE49-F238E27FC236}">
                <a16:creationId xmlns:a16="http://schemas.microsoft.com/office/drawing/2014/main" id="{0C52FF9C-8002-4B38-87C3-07F6F71A5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38175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 b="1" i="0">
                <a:solidFill>
                  <a:srgbClr val="101918"/>
                </a:solidFill>
                <a:latin typeface="Roboto Condensed"/>
                <a:ea typeface="Roboto Condensed"/>
                <a:cs typeface="Roboto Condensed"/>
              </a:rPr>
              <a:t/>
            </a:r>
          </a:p>
        </p:txBody>
      </p:sp>
      <p:pic>
        <p:nvPicPr>
          <p:cNvPr id="2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d1ff37ffb8438c">
            <a:extLst>
              <a:ext uri="{96DAC541-7B7A-43D3-8B79-37D633B846F1}">
                <asvg:svgBlip xmlns:asvg="http://schemas.microsoft.com/office/drawing/2016/SVG/main" r:embed="Rc0a3176452ce427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144250" y="6267450"/>
            <a:ext cx="781050" cy="361950"/>
          </a:xfrm>
          <a:prstGeom xmlns:a="http://schemas.openxmlformats.org/drawingml/2006/main" prst="rect">
            <a:avLst/>
          </a:prstGeom>
        </p:spPr>
      </p:pic>
      <p:sp>
        <p:nvSpPr>
          <p:cNvPr id="40" name="Left image slot">
            <a:extLst xmlns:a="http://schemas.openxmlformats.org/drawingml/2006/main">
              <a:ext uri="{FF2B5EF4-FFF2-40B4-BE49-F238E27FC236}">
                <a16:creationId xmlns:a16="http://schemas.microsoft.com/office/drawing/2014/main" id="{E4FCF518-61FF-4E52-BFE5-CD294D88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52197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1" name="Right image slot">
            <a:extLst xmlns:a="http://schemas.openxmlformats.org/drawingml/2006/main">
              <a:ext uri="{FF2B5EF4-FFF2-40B4-BE49-F238E27FC236}">
                <a16:creationId xmlns:a16="http://schemas.microsoft.com/office/drawing/2014/main" id="{C4DC6AF7-63A0-458E-9A82-164D5BA3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76400"/>
            <a:ext cx="52197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2" name="Left image brief">
            <a:extLst xmlns:a="http://schemas.openxmlformats.org/drawingml/2006/main">
              <a:ext uri="{FF2B5EF4-FFF2-40B4-BE49-F238E27FC236}">
                <a16:creationId xmlns:a16="http://schemas.microsoft.com/office/drawing/2014/main" id="{4C55647D-5BDE-479E-8FC9-1FB4E0C42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71750"/>
            <a:ext cx="4552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 i="0">
                <a:solidFill>
                  <a:srgbClr val="101918"/>
                </a:solidFill>
                <a:latin typeface="Aptos"/>
                <a:ea typeface="Aptos"/>
                <a:cs typeface="Aptos"/>
              </a:rPr>
              <a:t>Pete Martell crosses from one side of the river to the other.</a:t>
            </a:r>
          </a:p>
        </p:txBody>
      </p:sp>
      <p:sp>
        <p:nvSpPr>
          <p:cNvPr id="43" name="Right image brief">
            <a:extLst xmlns:a="http://schemas.openxmlformats.org/drawingml/2006/main">
              <a:ext uri="{FF2B5EF4-FFF2-40B4-BE49-F238E27FC236}">
                <a16:creationId xmlns:a16="http://schemas.microsoft.com/office/drawing/2014/main" id="{F2FE292B-1E28-4E67-A32E-60F490BAD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571750"/>
            <a:ext cx="4552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 i="0">
                <a:solidFill>
                  <a:srgbClr val="101918"/>
                </a:solidFill>
                <a:latin typeface="Aptos"/>
                <a:ea typeface="Aptos"/>
                <a:cs typeface="Aptos"/>
              </a:rPr>
              <a:t>Deputy Hawk follows the length of a forest trail.</a:t>
            </a:r>
          </a:p>
        </p:txBody>
      </p:sp>
      <p:sp>
        <p:nvSpPr>
          <p:cNvPr id="44" name="Sentence field left">
            <a:extLst xmlns:a="http://schemas.openxmlformats.org/drawingml/2006/main">
              <a:ext uri="{FF2B5EF4-FFF2-40B4-BE49-F238E27FC236}">
                <a16:creationId xmlns:a16="http://schemas.microsoft.com/office/drawing/2014/main" id="{BEB9254A-E104-4D9A-8F72-318FD7E3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05400"/>
            <a:ext cx="5314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5" name="Sentence field right">
            <a:extLst xmlns:a="http://schemas.openxmlformats.org/drawingml/2006/main">
              <a:ext uri="{FF2B5EF4-FFF2-40B4-BE49-F238E27FC236}">
                <a16:creationId xmlns:a16="http://schemas.microsoft.com/office/drawing/2014/main" id="{C50BCF53-9E57-4958-8C59-2E5FA1A42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05400"/>
            <a:ext cx="5314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6" name="Sentence left">
            <a:extLst xmlns:a="http://schemas.openxmlformats.org/drawingml/2006/main">
              <a:ext uri="{FF2B5EF4-FFF2-40B4-BE49-F238E27FC236}">
                <a16:creationId xmlns:a16="http://schemas.microsoft.com/office/drawing/2014/main" id="{F54937E2-CB0D-48F5-A701-4D50C941A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62550"/>
            <a:ext cx="5219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>
                <a:solidFill>
                  <a:srgbClr val="182E43"/>
                </a:solidFill>
                <a:latin typeface="Aptos"/>
                <a:ea typeface="Aptos"/>
                <a:cs typeface="Aptos"/>
              </a:defRPr>
            </a:pPr>
            <a:r>
              <a:rPr sz="1700">
                <a:solidFill>
                  <a:srgbClr val="182E43"/>
                </a:solidFill>
                <a:latin typeface="Aptos"/>
                <a:ea typeface="Aptos"/>
                <a:cs typeface="Aptos"/>
              </a:rPr>
              <a:t>The boys are cycling </a:t>
            </a:r>
            <a:r>
              <a:rPr sz="1700" b="1" i="1">
                <a:solidFill>
                  <a:srgbClr val="182E43"/>
                </a:solidFill>
                <a:latin typeface="Aptos"/>
                <a:ea typeface="Aptos"/>
                <a:cs typeface="Aptos"/>
              </a:rPr>
              <a:t>across</a:t>
            </a:r>
            <a:r>
              <a:rPr sz="1700">
                <a:solidFill>
                  <a:srgbClr val="182E43"/>
                </a:solidFill>
                <a:latin typeface="Aptos"/>
                <a:ea typeface="Aptos"/>
                <a:cs typeface="Aptos"/>
              </a:rPr>
              <a:t> the road.</a:t>
            </a:r>
          </a:p>
        </p:txBody>
      </p:sp>
      <p:sp>
        <p:nvSpPr>
          <p:cNvPr id="47" name="Sentence right">
            <a:extLst xmlns:a="http://schemas.openxmlformats.org/drawingml/2006/main">
              <a:ext uri="{FF2B5EF4-FFF2-40B4-BE49-F238E27FC236}">
                <a16:creationId xmlns:a16="http://schemas.microsoft.com/office/drawing/2014/main" id="{816E6B5D-A54C-4417-A0DD-19B96E0B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5162550"/>
            <a:ext cx="5219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>
                <a:solidFill>
                  <a:srgbClr val="182E43"/>
                </a:solidFill>
                <a:latin typeface="Aptos"/>
                <a:ea typeface="Aptos"/>
                <a:cs typeface="Aptos"/>
              </a:defRPr>
            </a:pPr>
            <a:r>
              <a:rPr sz="1700">
                <a:solidFill>
                  <a:srgbClr val="182E43"/>
                </a:solidFill>
                <a:latin typeface="Aptos"/>
                <a:ea typeface="Aptos"/>
                <a:cs typeface="Aptos"/>
              </a:rPr>
              <a:t>Jonathan is walking </a:t>
            </a:r>
            <a:r>
              <a:rPr sz="1700" b="1" i="1">
                <a:solidFill>
                  <a:srgbClr val="182E43"/>
                </a:solidFill>
                <a:latin typeface="Aptos"/>
                <a:ea typeface="Aptos"/>
                <a:cs typeface="Aptos"/>
              </a:rPr>
              <a:t>along</a:t>
            </a:r>
            <a:r>
              <a:rPr sz="1700">
                <a:solidFill>
                  <a:srgbClr val="182E43"/>
                </a:solidFill>
                <a:latin typeface="Aptos"/>
                <a:ea typeface="Aptos"/>
                <a:cs typeface="Aptos"/>
              </a:rPr>
              <a:t> the railway tracks.</a:t>
            </a:r>
          </a:p>
        </p:txBody>
      </p:sp>
      <p:sp>
        <p:nvSpPr>
          <p:cNvPr id="51" name="Clean emblem background">
            <a:extLst xmlns:a="http://schemas.openxmlformats.org/drawingml/2006/main">
              <a:ext uri="{FF2B5EF4-FFF2-40B4-BE49-F238E27FC236}">
                <a16:creationId xmlns:a16="http://schemas.microsoft.com/office/drawing/2014/main" id="{AB331942-01AB-4C3B-8AEF-3F1D76F5D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6010275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6d575e92eb448b">
            <a:extLst>
              <a:ext uri="{96DAC541-7B7A-43D3-8B79-37D633B846F1}">
                <asvg:svgBlip xmlns:asvg="http://schemas.microsoft.com/office/drawing/2016/SVG/main" r:embed="R1e1f4cf7ce92404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829300" y="6048375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56" name="Pete Martell rowing across river backing">
            <a:extLst xmlns:a="http://schemas.openxmlformats.org/drawingml/2006/main">
              <a:ext uri="{FF2B5EF4-FFF2-40B4-BE49-F238E27FC236}">
                <a16:creationId xmlns:a16="http://schemas.microsoft.com/office/drawing/2014/main" id="{ACFC6598-7E10-45DB-85E3-2B10571C1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52197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Pete Martell rowing across river border">
            <a:extLst xmlns:a="http://schemas.openxmlformats.org/drawingml/2006/main">
              <a:ext uri="{FF2B5EF4-FFF2-40B4-BE49-F238E27FC236}">
                <a16:creationId xmlns:a16="http://schemas.microsoft.com/office/drawing/2014/main" id="{CD521FB3-6EDD-44A5-BD36-3D3542B1B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52197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9" name="Deputy Hawk walking along forest path backing">
            <a:extLst xmlns:a="http://schemas.openxmlformats.org/drawingml/2006/main">
              <a:ext uri="{FF2B5EF4-FFF2-40B4-BE49-F238E27FC236}">
                <a16:creationId xmlns:a16="http://schemas.microsoft.com/office/drawing/2014/main" id="{A21C4D08-E8AC-4731-BC64-99A138E9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76400"/>
            <a:ext cx="52197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Deputy Hawk walking along forest path border">
            <a:extLst xmlns:a="http://schemas.openxmlformats.org/drawingml/2006/main">
              <a:ext uri="{FF2B5EF4-FFF2-40B4-BE49-F238E27FC236}">
                <a16:creationId xmlns:a16="http://schemas.microsoft.com/office/drawing/2014/main" id="{B063B033-3A00-43CC-B1E7-85F44C6FC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76400"/>
            <a:ext cx="52197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8" name="Calm Hawk ALONG backing">
            <a:extLst xmlns:a="http://schemas.openxmlformats.org/drawingml/2006/main">
              <a:ext uri="{FF2B5EF4-FFF2-40B4-BE49-F238E27FC236}">
                <a16:creationId xmlns:a16="http://schemas.microsoft.com/office/drawing/2014/main" id="{C3E3E448-4965-4CD0-8BBB-5FDFB1272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76400"/>
            <a:ext cx="52197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Calm Hawk ALONG border">
            <a:extLst xmlns:a="http://schemas.openxmlformats.org/drawingml/2006/main">
              <a:ext uri="{FF2B5EF4-FFF2-40B4-BE49-F238E27FC236}">
                <a16:creationId xmlns:a16="http://schemas.microsoft.com/office/drawing/2014/main" id="{5B0A758F-0CC3-42CC-82D8-52A7F347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76400"/>
            <a:ext cx="52197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8" name="Hawk corrected proportions v2 backing">
            <a:extLst xmlns:a="http://schemas.openxmlformats.org/drawingml/2006/main">
              <a:ext uri="{FF2B5EF4-FFF2-40B4-BE49-F238E27FC236}">
                <a16:creationId xmlns:a16="http://schemas.microsoft.com/office/drawing/2014/main" id="{340CC052-2CDF-4926-A2CD-CC77818C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76400"/>
            <a:ext cx="52197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Hawk corrected proportions v2 border">
            <a:extLst xmlns:a="http://schemas.openxmlformats.org/drawingml/2006/main">
              <a:ext uri="{FF2B5EF4-FFF2-40B4-BE49-F238E27FC236}">
                <a16:creationId xmlns:a16="http://schemas.microsoft.com/office/drawing/2014/main" id="{DD04DC65-866C-4703-B301-9CD0E8BBA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76400"/>
            <a:ext cx="52197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9" name="Photo-traced Hawk ALONG backing">
            <a:extLst xmlns:a="http://schemas.openxmlformats.org/drawingml/2006/main">
              <a:ext uri="{FF2B5EF4-FFF2-40B4-BE49-F238E27FC236}">
                <a16:creationId xmlns:a16="http://schemas.microsoft.com/office/drawing/2014/main" id="{087BA12D-4A70-4231-99A3-3941E95CD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76400"/>
            <a:ext cx="52197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Photo-traced Hawk ALONG border">
            <a:extLst xmlns:a="http://schemas.openxmlformats.org/drawingml/2006/main">
              <a:ext uri="{FF2B5EF4-FFF2-40B4-BE49-F238E27FC236}">
                <a16:creationId xmlns:a16="http://schemas.microsoft.com/office/drawing/2014/main" id="{F377E9FF-F27F-4C34-988A-172728F4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76400"/>
            <a:ext cx="52197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1" name="Simplified Hawk ALONG backing">
            <a:extLst xmlns:a="http://schemas.openxmlformats.org/drawingml/2006/main">
              <a:ext uri="{FF2B5EF4-FFF2-40B4-BE49-F238E27FC236}">
                <a16:creationId xmlns:a16="http://schemas.microsoft.com/office/drawing/2014/main" id="{CF725AFF-8D0F-40D4-88DB-E0CF82FE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76400"/>
            <a:ext cx="52197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Simplified Hawk ALONG border">
            <a:extLst xmlns:a="http://schemas.openxmlformats.org/drawingml/2006/main">
              <a:ext uri="{FF2B5EF4-FFF2-40B4-BE49-F238E27FC236}">
                <a16:creationId xmlns:a16="http://schemas.microsoft.com/office/drawing/2014/main" id="{82C2E590-B44F-43F5-BCD1-D8F0A836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76400"/>
            <a:ext cx="52197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14" name="Balanced-detail Hawk ALONG backing">
            <a:extLst xmlns:a="http://schemas.openxmlformats.org/drawingml/2006/main">
              <a:ext uri="{FF2B5EF4-FFF2-40B4-BE49-F238E27FC236}">
                <a16:creationId xmlns:a16="http://schemas.microsoft.com/office/drawing/2014/main" id="{28CE5652-5FD0-44C4-8F3E-98EF65358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76400"/>
            <a:ext cx="52197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Balanced-detail Hawk ALONG border">
            <a:extLst xmlns:a="http://schemas.openxmlformats.org/drawingml/2006/main">
              <a:ext uri="{FF2B5EF4-FFF2-40B4-BE49-F238E27FC236}">
                <a16:creationId xmlns:a16="http://schemas.microsoft.com/office/drawing/2014/main" id="{8437E88F-387C-475E-862E-34E76194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76400"/>
            <a:ext cx="52197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8" name="Detailed-path Hawk ALONG backing">
            <a:extLst xmlns:a="http://schemas.openxmlformats.org/drawingml/2006/main">
              <a:ext uri="{FF2B5EF4-FFF2-40B4-BE49-F238E27FC236}">
                <a16:creationId xmlns:a16="http://schemas.microsoft.com/office/drawing/2014/main" id="{FE1227AD-854D-4C48-A4BB-832430BF2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76400"/>
            <a:ext cx="52197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bbf1b8cda9479c"/>
          <a:srcRect xmlns:a="http://schemas.openxmlformats.org/drawingml/2006/main" l="0" t="21130" r="0" b="211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496050" y="1676400"/>
            <a:ext cx="5219700" cy="3429000"/>
          </a:xfrm>
          <a:prstGeom xmlns:a="http://schemas.openxmlformats.org/drawingml/2006/main" prst="rect">
            <a:avLst/>
          </a:prstGeom>
        </p:spPr>
      </p:pic>
      <p:sp>
        <p:nvSpPr>
          <p:cNvPr id="130" name="Detailed-path Hawk ALONG border">
            <a:extLst xmlns:a="http://schemas.openxmlformats.org/drawingml/2006/main">
              <a:ext uri="{FF2B5EF4-FFF2-40B4-BE49-F238E27FC236}">
                <a16:creationId xmlns:a16="http://schemas.microsoft.com/office/drawing/2014/main" id="{B523E1E9-295A-47C7-BE07-2D354A322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76400"/>
            <a:ext cx="52197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3" name="Cover emblem clean background">
            <a:extLst xmlns:a="http://schemas.openxmlformats.org/drawingml/2006/main">
              <a:ext uri="{FF2B5EF4-FFF2-40B4-BE49-F238E27FC236}">
                <a16:creationId xmlns:a16="http://schemas.microsoft.com/office/drawing/2014/main" id="{EC962C45-C59A-4FDF-967A-1C9DE818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6010275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091e877a414f0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29300" y="6048375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157" name="ACROSS Pete flattened editorial treatment cream backing">
            <a:extLst xmlns:a="http://schemas.openxmlformats.org/drawingml/2006/main">
              <a:ext uri="{FF2B5EF4-FFF2-40B4-BE49-F238E27FC236}">
                <a16:creationId xmlns:a16="http://schemas.microsoft.com/office/drawing/2014/main" id="{76240B28-238B-48D5-8865-DE66A9BAD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52197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84d981e7ea4d91"/>
          <a:srcRect xmlns:a="http://schemas.openxmlformats.org/drawingml/2006/main" l="0" t="21201" r="0" b="212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476250" y="1676400"/>
            <a:ext cx="5219700" cy="3429000"/>
          </a:xfrm>
          <a:prstGeom xmlns:a="http://schemas.openxmlformats.org/drawingml/2006/main" prst="rect">
            <a:avLst/>
          </a:prstGeom>
        </p:spPr>
      </p:pic>
      <p:sp>
        <p:nvSpPr>
          <p:cNvPr id="172" name="Basic course header clean backing">
            <a:extLst xmlns:a="http://schemas.openxmlformats.org/drawingml/2006/main">
              <a:ext uri="{FF2B5EF4-FFF2-40B4-BE49-F238E27FC236}">
                <a16:creationId xmlns:a16="http://schemas.microsoft.com/office/drawing/2014/main" id="{90CAB571-3641-444A-8F61-FB092263B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"/>
            <a:ext cx="32861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" name="Basic course running header">
            <a:extLst xmlns:a="http://schemas.openxmlformats.org/drawingml/2006/main">
              <a:ext uri="{FF2B5EF4-FFF2-40B4-BE49-F238E27FC236}">
                <a16:creationId xmlns:a16="http://schemas.microsoft.com/office/drawing/2014/main" id="{B08E7E2B-C941-4CA0-A24B-FB47E14B1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82E43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82E43"/>
                </a:solidFill>
                <a:latin typeface="Aptos"/>
                <a:ea typeface="Aptos"/>
                <a:cs typeface="Aptos"/>
              </a:rPr>
              <a:t>FORBES ENGLISH • PREPOSITIONS</a:t>
            </a:r>
          </a:p>
        </p:txBody>
      </p:sp>
      <p:sp>
        <p:nvSpPr>
          <p:cNvPr id="174" name="Usage note left backing">
            <a:extLst xmlns:a="http://schemas.openxmlformats.org/drawingml/2006/main">
              <a:ext uri="{FF2B5EF4-FFF2-40B4-BE49-F238E27FC236}">
                <a16:creationId xmlns:a16="http://schemas.microsoft.com/office/drawing/2014/main" id="{CE5187A0-9B15-4212-AC9F-51C24FE6D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76900"/>
            <a:ext cx="53149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" name="Usage note left">
            <a:extLst xmlns:a="http://schemas.openxmlformats.org/drawingml/2006/main">
              <a:ext uri="{FF2B5EF4-FFF2-40B4-BE49-F238E27FC236}">
                <a16:creationId xmlns:a16="http://schemas.microsoft.com/office/drawing/2014/main" id="{5873EEC2-EE24-490D-BB02-C578C861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516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 i="0">
                <a:solidFill>
                  <a:srgbClr val="505653"/>
                </a:solidFill>
                <a:latin typeface="Aptos"/>
                <a:ea typeface="Aptos"/>
                <a:cs typeface="Aptos"/>
              </a:rPr>
              <a:t>Use across for movement from one side to the other.</a:t>
            </a:r>
          </a:p>
        </p:txBody>
      </p:sp>
      <p:sp>
        <p:nvSpPr>
          <p:cNvPr id="176" name="Usage note right backing">
            <a:extLst xmlns:a="http://schemas.openxmlformats.org/drawingml/2006/main">
              <a:ext uri="{FF2B5EF4-FFF2-40B4-BE49-F238E27FC236}">
                <a16:creationId xmlns:a16="http://schemas.microsoft.com/office/drawing/2014/main" id="{F6D891E9-638D-4949-9C3F-FBC547E7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676900"/>
            <a:ext cx="53149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Usage note right">
            <a:extLst xmlns:a="http://schemas.openxmlformats.org/drawingml/2006/main">
              <a:ext uri="{FF2B5EF4-FFF2-40B4-BE49-F238E27FC236}">
                <a16:creationId xmlns:a16="http://schemas.microsoft.com/office/drawing/2014/main" id="{00FBD9D7-E6BD-4A70-9240-0E73237EF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715000"/>
            <a:ext cx="516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 i="0">
                <a:solidFill>
                  <a:srgbClr val="505653"/>
                </a:solidFill>
                <a:latin typeface="Aptos"/>
                <a:ea typeface="Aptos"/>
                <a:cs typeface="Aptos"/>
              </a:rPr>
              <a:t>Use along for movement following the length of a path or edge.</a:t>
            </a:r>
          </a:p>
        </p:txBody>
      </p:sp>
      <p:sp>
        <p:nvSpPr>
          <p:cNvPr id="192" name="Italic usage note left backing">
            <a:extLst xmlns:a="http://schemas.openxmlformats.org/drawingml/2006/main">
              <a:ext uri="{FF2B5EF4-FFF2-40B4-BE49-F238E27FC236}">
                <a16:creationId xmlns:a16="http://schemas.microsoft.com/office/drawing/2014/main" id="{1664E5EC-2A66-45CB-A57B-35A20DC2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76900"/>
            <a:ext cx="53149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" name="Italic usage note left">
            <a:extLst xmlns:a="http://schemas.openxmlformats.org/drawingml/2006/main">
              <a:ext uri="{FF2B5EF4-FFF2-40B4-BE49-F238E27FC236}">
                <a16:creationId xmlns:a16="http://schemas.microsoft.com/office/drawing/2014/main" id="{E17D1BC2-7571-4AA6-88D1-34B1DFF35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516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>
                <a:solidFill>
                  <a:srgbClr val="182E43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182E43"/>
                </a:solidFill>
                <a:latin typeface="Aptos"/>
                <a:ea typeface="Aptos"/>
                <a:cs typeface="Aptos"/>
              </a:rPr>
              <a:t>Use </a:t>
            </a:r>
            <a:r>
              <a:rPr sz="1600" b="1" i="1">
                <a:solidFill>
                  <a:srgbClr val="182E43"/>
                </a:solidFill>
                <a:latin typeface="Aptos"/>
                <a:ea typeface="Aptos"/>
                <a:cs typeface="Aptos"/>
              </a:rPr>
              <a:t>across</a:t>
            </a:r>
            <a:r>
              <a:rPr sz="1600">
                <a:solidFill>
                  <a:srgbClr val="182E43"/>
                </a:solidFill>
                <a:latin typeface="Aptos"/>
                <a:ea typeface="Aptos"/>
                <a:cs typeface="Aptos"/>
              </a:rPr>
              <a:t> for movement from one side to the other.</a:t>
            </a:r>
          </a:p>
        </p:txBody>
      </p:sp>
      <p:sp>
        <p:nvSpPr>
          <p:cNvPr id="194" name="Italic usage note right backing">
            <a:extLst xmlns:a="http://schemas.openxmlformats.org/drawingml/2006/main">
              <a:ext uri="{FF2B5EF4-FFF2-40B4-BE49-F238E27FC236}">
                <a16:creationId xmlns:a16="http://schemas.microsoft.com/office/drawing/2014/main" id="{CD8F0AF9-CFBB-472F-9EEA-150F3D45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676900"/>
            <a:ext cx="53149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" name="Italic usage note right">
            <a:extLst xmlns:a="http://schemas.openxmlformats.org/drawingml/2006/main">
              <a:ext uri="{FF2B5EF4-FFF2-40B4-BE49-F238E27FC236}">
                <a16:creationId xmlns:a16="http://schemas.microsoft.com/office/drawing/2014/main" id="{CAB25672-5C49-461B-9D0E-BD113D476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715000"/>
            <a:ext cx="516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9704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>
                <a:solidFill>
                  <a:srgbClr val="182E43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182E43"/>
                </a:solidFill>
                <a:latin typeface="Aptos"/>
                <a:ea typeface="Aptos"/>
                <a:cs typeface="Aptos"/>
              </a:rPr>
              <a:t>Use </a:t>
            </a:r>
            <a:r>
              <a:rPr sz="1600" b="1" i="1">
                <a:solidFill>
                  <a:srgbClr val="182E43"/>
                </a:solidFill>
                <a:latin typeface="Aptos"/>
                <a:ea typeface="Aptos"/>
                <a:cs typeface="Aptos"/>
              </a:rPr>
              <a:t>along</a:t>
            </a:r>
            <a:r>
              <a:rPr sz="1600">
                <a:solidFill>
                  <a:srgbClr val="182E43"/>
                </a:solidFill>
                <a:latin typeface="Aptos"/>
                <a:ea typeface="Aptos"/>
                <a:cs typeface="Aptos"/>
              </a:rPr>
              <a:t> for movement following the length of a path or edge.</a:t>
            </a:r>
          </a:p>
        </p:txBody>
      </p:sp>
      <p:sp>
        <p:nvSpPr>
          <p:cNvPr id="196" name="Forbes English footer clean backing">
            <a:extLst xmlns:a="http://schemas.openxmlformats.org/drawingml/2006/main">
              <a:ext uri="{FF2B5EF4-FFF2-40B4-BE49-F238E27FC236}">
                <a16:creationId xmlns:a16="http://schemas.microsoft.com/office/drawing/2014/main" id="{2F21569B-FC96-4725-98EC-2E08969C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76975"/>
            <a:ext cx="9144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" name="Forbes English footer wordmark">
            <a:extLst xmlns:a="http://schemas.openxmlformats.org/drawingml/2006/main">
              <a:ext uri="{FF2B5EF4-FFF2-40B4-BE49-F238E27FC236}">
                <a16:creationId xmlns:a16="http://schemas.microsoft.com/office/drawing/2014/main" id="{34B4C226-6F46-4218-8F08-D00CC868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15075"/>
            <a:ext cx="733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i="0">
                <a:solidFill>
                  <a:srgbClr val="101918"/>
                </a:solidFill>
                <a:latin typeface="Georgia"/>
                <a:ea typeface="Georgia"/>
                <a:cs typeface="Georgia"/>
              </a:rPr>
              <a:t>Forbes</a:t>
            </a:r>
          </a:p>
        </p:txBody>
      </p:sp>
      <p:sp>
        <p:nvSpPr>
          <p:cNvPr id="198" name="Forbes English footer second line">
            <a:extLst xmlns:a="http://schemas.openxmlformats.org/drawingml/2006/main">
              <a:ext uri="{FF2B5EF4-FFF2-40B4-BE49-F238E27FC236}">
                <a16:creationId xmlns:a16="http://schemas.microsoft.com/office/drawing/2014/main" id="{828EFB2C-689A-4A42-8B27-BC42AE1D4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477000"/>
            <a:ext cx="7334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50" b="1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ENGLISH</a:t>
            </a:r>
          </a:p>
        </p:txBody>
      </p:sp>
    </p:spTree>
    <p:extLst>
      <p:ext uri="{BB962C8B-B14F-4D97-AF65-F5344CB8AC3E}">
        <p14:creationId xmlns:p14="http://schemas.microsoft.com/office/powerpoint/2010/main" val="17820378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D9E1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F350720-65F6-4B71-BD13-3C0FFB31D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219456"/>
            <a:ext cx="21031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1350" b="1">
                <a:solidFill>
                  <a:srgbClr val="90111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0111C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DCCDC2B-DF69-4DD6-B0D9-0AE63453C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1168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01918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8ED33AE-3252-4361-952D-AB8E49D1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10312"/>
            <a:ext cx="297180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00" b="1">
                <a:solidFill>
                  <a:srgbClr val="182E4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E43"/>
                </a:solidFill>
                <a:latin typeface="Aptos"/>
                <a:ea typeface="Aptos"/>
                <a:cs typeface="Aptos"/>
              </a:rPr>
              <a:t>FORBES ENGLISH • PREPOSITIONS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CD847CA-C90D-4ECA-A257-1CD76E6C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390" y="502920"/>
            <a:ext cx="0" cy="52760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7390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DB2A223-50D9-4715-9230-62E86B369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7666" y="3136392"/>
            <a:ext cx="155448" cy="155448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6571D"/>
          </a:solidFill>
          <a:ln xmlns:a="http://schemas.openxmlformats.org/drawingml/2006/main" w="12700">
            <a:solidFill>
              <a:srgbClr val="8A1A1E">
                <a:alpha val="0"/>
              </a:srgbClr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222BD22-68BB-4AB3-8F0B-CBF9768F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1520"/>
            <a:ext cx="507492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300" b="1">
                <a:ln w="10478">
                  <a:solidFill>
                    <a:srgbClr val="303437"/>
                  </a:solidFill>
                  <a:prstDash val="solid"/>
                </a:ln>
                <a:pattFill prst="narHorz">
                  <a:fgClr>
                    <a:srgbClr val="2F3336"/>
                  </a:fgClr>
                  <a:bgClr>
                    <a:srgbClr val="B7B2AA"/>
                  </a:bgClr>
                </a:pattFill>
                <a:latin typeface="Noto Sans Display Condensed"/>
                <a:ea typeface="Noto Sans Display Condensed"/>
                <a:cs typeface="Noto Sans Display Condensed"/>
              </a:rPr>
              <a:t>NEAR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57EA38B-627B-442E-B7C9-DFBD3C6D1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731520"/>
            <a:ext cx="507492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300" b="1">
                <a:ln w="10478">
                  <a:solidFill>
                    <a:srgbClr val="303437"/>
                  </a:solidFill>
                  <a:prstDash val="solid"/>
                </a:ln>
                <a:pattFill prst="narHorz">
                  <a:fgClr>
                    <a:srgbClr val="2F3336"/>
                  </a:fgClr>
                  <a:bgClr>
                    <a:srgbClr val="B7B2AA"/>
                  </a:bgClr>
                </a:pattFill>
                <a:latin typeface="Noto Sans Display Condensed"/>
                <a:ea typeface="Noto Sans Display Condensed"/>
                <a:cs typeface="Noto Sans Display Condensed"/>
              </a:rPr>
              <a:t>NEXT TO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6A3D48BC-76D3-44ED-BDB1-EB06BBDAD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1444752"/>
            <a:ext cx="5321808" cy="3547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0DF">
              <a:alpha val="96000"/>
            </a:srgbClr>
          </a:solidFill>
          <a:ln xmlns:a="http://schemas.openxmlformats.org/drawingml/2006/main" w="13335">
            <a:solidFill>
              <a:srgbClr val="8A1A1E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14CA114-5716-4F70-8AE4-9AA23E0F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1645920"/>
            <a:ext cx="4882896" cy="3145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20">
                <a:solidFill>
                  <a:srgbClr val="101918"/>
                </a:solidFill>
                <a:latin typeface="Aptos"/>
                <a:ea typeface="Aptos"/>
                <a:cs typeface="Aptos"/>
              </a:rPr>
              <a:t>IMAGE SLOT</a:t>
            </a:r>
          </a:p>
          <a:p xmlns:a="http://schemas.openxmlformats.org/drawingml/2006/main">
            <a:pPr marL="0" indent="0" algn="ctr">
              <a:buNone/>
            </a:pPr>
          </a:p>
          <a:p xmlns:a="http://schemas.openxmlformats.org/drawingml/2006/main">
            <a:pPr marL="0" indent="0" algn="ctr">
              <a:buNone/>
            </a:pPr>
            <a:r>
              <a:rPr sz="1320">
                <a:solidFill>
                  <a:srgbClr val="101918"/>
                </a:solidFill>
                <a:latin typeface="Aptos"/>
                <a:ea typeface="Aptos"/>
                <a:cs typeface="Aptos"/>
              </a:rPr>
              <a:t>Lucy is near Andy at the Sheriff’s Station reception desk. They are close, but not side by side. Desk and phone support the location.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19F3FCA-48D3-4978-97FB-685E4A9E0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1444752"/>
            <a:ext cx="5321808" cy="3547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0DF">
              <a:alpha val="96000"/>
            </a:srgbClr>
          </a:solidFill>
          <a:ln xmlns:a="http://schemas.openxmlformats.org/drawingml/2006/main" w="13335">
            <a:solidFill>
              <a:srgbClr val="233F63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3C4A7AE-5BE3-42BA-88E8-040BF1BF8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1645920"/>
            <a:ext cx="4882896" cy="3145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20">
                <a:solidFill>
                  <a:srgbClr val="101918"/>
                </a:solidFill>
                <a:latin typeface="Aptos"/>
                <a:ea typeface="Aptos"/>
                <a:cs typeface="Aptos"/>
              </a:rPr>
              <a:t>IMAGE SLOT</a:t>
            </a:r>
          </a:p>
          <a:p xmlns:a="http://schemas.openxmlformats.org/drawingml/2006/main">
            <a:pPr marL="0" indent="0" algn="ctr">
              <a:buNone/>
            </a:pPr>
          </a:p>
          <a:p xmlns:a="http://schemas.openxmlformats.org/drawingml/2006/main">
            <a:pPr marL="0" indent="0" algn="ctr">
              <a:buNone/>
            </a:pPr>
            <a:r>
              <a:rPr sz="1320">
                <a:solidFill>
                  <a:srgbClr val="101918"/>
                </a:solidFill>
                <a:latin typeface="Aptos"/>
                <a:ea typeface="Aptos"/>
                <a:cs typeface="Aptos"/>
              </a:rPr>
              <a:t>Andy stands next to Sheriff </a:t>
            </a:r>
            <a:r>
              <a:rPr sz="1320">
                <a:solidFill>
                  <a:srgbClr val="101918"/>
                </a:solidFill>
                <a:latin typeface="Aptos"/>
                <a:ea typeface="Aptos"/>
                <a:cs typeface="Aptos"/>
              </a:rPr>
              <a:t>Lucy</a:t>
            </a:r>
            <a:r>
              <a:rPr sz="1320">
                <a:solidFill>
                  <a:srgbClr val="101918"/>
                </a:solidFill>
                <a:latin typeface="Aptos"/>
                <a:ea typeface="Aptos"/>
                <a:cs typeface="Aptos"/>
              </a:rPr>
              <a:t> at the station. Shoulder-to-shoulder placement makes next to obvious.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761BDC0-6336-4481-B4F4-DFB48DDB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5212080"/>
            <a:ext cx="510235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>
                <a:solidFill>
                  <a:srgbClr val="101918"/>
                </a:solidFill>
                <a:latin typeface="Aptos"/>
                <a:ea typeface="Aptos"/>
                <a:cs typeface="Aptos"/>
              </a:rPr>
              <a:t>Lucy is standing </a:t>
            </a:r>
            <a:r>
              <a:rPr sz="1700" b="1" i="1">
                <a:solidFill>
                  <a:srgbClr val="8A1A1E"/>
                </a:solidFill>
                <a:latin typeface="Georgia"/>
                <a:ea typeface="Georgia"/>
                <a:cs typeface="Georgia"/>
              </a:rPr>
              <a:t>near</a:t>
            </a:r>
            <a:r>
              <a:rPr sz="1700">
                <a:solidFill>
                  <a:srgbClr val="101918"/>
                </a:solidFill>
                <a:latin typeface="Aptos"/>
                <a:ea typeface="Aptos"/>
                <a:cs typeface="Aptos"/>
              </a:rPr>
              <a:t> Andy.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14E9A2A-AFA2-4C04-877E-BDEB9240C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384" y="5212080"/>
            <a:ext cx="510235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>
                <a:solidFill>
                  <a:srgbClr val="101918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8EC3E86-7F28-4BE9-8CCB-C641D4E0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632704"/>
            <a:ext cx="4754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20" b="1">
                <a:solidFill>
                  <a:srgbClr val="8A1A1E"/>
                </a:solidFill>
                <a:latin typeface="Roboto Condensed"/>
                <a:ea typeface="Roboto Condensed"/>
                <a:cs typeface="Roboto Condensed"/>
              </a:rPr>
              <a:t>NEAR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9E64C9D0-DF30-4BA8-8F42-538FB2D1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879592"/>
            <a:ext cx="4754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80" i="1">
                <a:solidFill>
                  <a:srgbClr val="69675E"/>
                </a:solidFill>
                <a:latin typeface="Georgia"/>
                <a:ea typeface="Georgia"/>
                <a:cs typeface="Georgia"/>
              </a:rPr>
              <a:t>close to something, but not necessarily beside it.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196CAA0-7A29-4AF7-818F-D3D35451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5632704"/>
            <a:ext cx="4754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20" b="1">
                <a:solidFill>
                  <a:srgbClr val="233F63"/>
                </a:solidFill>
                <a:latin typeface="Roboto Condensed"/>
                <a:ea typeface="Roboto Condensed"/>
                <a:cs typeface="Roboto Condensed"/>
              </a:rPr>
              <a:t>NEXT TO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1EA5DB8-3CE0-4178-90AF-07057F0F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5879592"/>
            <a:ext cx="4754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80" i="1">
                <a:solidFill>
                  <a:srgbClr val="69675E"/>
                </a:solidFill>
                <a:latin typeface="Georgia"/>
                <a:ea typeface="Georgia"/>
                <a:cs typeface="Georgia"/>
              </a:rPr>
              <a:t>directly beside something or someone.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3400EB2D-4AA8-4A52-A23B-5D07B02D6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238875"/>
            <a:ext cx="538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7390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37E9F41-95C7-4545-849D-44AD2A31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6238875"/>
            <a:ext cx="538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7390"/>
            </a:solidFill>
            <a:prstDash val="solid"/>
          </a:ln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7E9F14C8-C4F8-447A-9E74-679D288F1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6382512"/>
            <a:ext cx="228600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HAWKINS FIELD GUIDE</a:t>
            </a:r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18C84587-CCE1-4888-8CDE-4766DBECB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6382512"/>
            <a:ext cx="2852928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50" b="1">
                <a:solidFill>
                  <a:srgbClr val="101918"/>
                </a:solidFill>
                <a:latin typeface="Roboto Condensed"/>
                <a:ea typeface="Roboto Condensed"/>
                <a:cs typeface="Roboto Condensed"/>
              </a:rPr>
              <a:t/>
            </a:r>
          </a:p>
        </p:txBody>
      </p:sp>
      <p:sp>
        <p:nvSpPr>
          <p:cNvPr id="25" name="Slide 4 system background">
            <a:extLst xmlns:a="http://schemas.openxmlformats.org/drawingml/2006/main">
              <a:ext uri="{FF2B5EF4-FFF2-40B4-BE49-F238E27FC236}">
                <a16:creationId xmlns:a16="http://schemas.microsoft.com/office/drawing/2014/main" id="{43C4D85C-3583-44C9-B0AD-23F72EA4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1F35F844-686B-423B-9376-F2A28252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219456"/>
            <a:ext cx="210312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777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90111C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90111C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27" name="Header separator">
            <a:extLst xmlns:a="http://schemas.openxmlformats.org/drawingml/2006/main">
              <a:ext uri="{FF2B5EF4-FFF2-40B4-BE49-F238E27FC236}">
                <a16:creationId xmlns:a16="http://schemas.microsoft.com/office/drawing/2014/main" id="{34A40987-743C-4D8C-9EAC-B1DC1D98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1168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01918"/>
            </a:solidFill>
            <a:prstDash val="solid"/>
          </a:ln>
        </p:spPr>
      </p:sp>
      <p:sp>
        <p:nvSpPr>
          <p:cNvPr id="28" name="Running header">
            <a:extLst xmlns:a="http://schemas.openxmlformats.org/drawingml/2006/main">
              <a:ext uri="{FF2B5EF4-FFF2-40B4-BE49-F238E27FC236}">
                <a16:creationId xmlns:a16="http://schemas.microsoft.com/office/drawing/2014/main" id="{CB11B8DA-20DF-42C9-8A2C-D789B915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10312"/>
            <a:ext cx="2971800" cy="210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82E43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82E43"/>
                </a:solidFill>
                <a:latin typeface="Aptos"/>
                <a:ea typeface="Aptos"/>
                <a:cs typeface="Aptos"/>
              </a:rPr>
              <a:t>FORBES ENGLISH • PREPOSITIONS</a:t>
            </a:r>
          </a:p>
        </p:txBody>
      </p:sp>
      <p:sp>
        <p:nvSpPr>
          <p:cNvPr id="29" name="Centre divider">
            <a:extLst xmlns:a="http://schemas.openxmlformats.org/drawingml/2006/main">
              <a:ext uri="{FF2B5EF4-FFF2-40B4-BE49-F238E27FC236}">
                <a16:creationId xmlns:a16="http://schemas.microsoft.com/office/drawing/2014/main" id="{A7BC4CB8-C8B8-43BF-849E-38300F340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429" y="502920"/>
            <a:ext cx="0" cy="52760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7390"/>
            </a:solidFill>
            <a:prstDash val="solid"/>
          </a:ln>
        </p:spPr>
      </p:sp>
      <p:sp>
        <p:nvSpPr>
          <p:cNvPr id="30" name="Centre diamond">
            <a:extLst xmlns:a="http://schemas.openxmlformats.org/drawingml/2006/main">
              <a:ext uri="{FF2B5EF4-FFF2-40B4-BE49-F238E27FC236}">
                <a16:creationId xmlns:a16="http://schemas.microsoft.com/office/drawing/2014/main" id="{20174ED3-72B3-411F-986B-A095316C0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7705" y="3136392"/>
            <a:ext cx="155448" cy="155448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1073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arget title left">
            <a:extLst xmlns:a="http://schemas.openxmlformats.org/drawingml/2006/main">
              <a:ext uri="{FF2B5EF4-FFF2-40B4-BE49-F238E27FC236}">
                <a16:creationId xmlns:a16="http://schemas.microsoft.com/office/drawing/2014/main" id="{E6C58549-424C-4C0B-9FF1-9EA5C743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1520"/>
            <a:ext cx="5074920" cy="658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300" b="1">
                <a:solidFill>
                  <a:srgbClr val="C9C5BD"/>
                </a:solidFill>
                <a:latin typeface="Noto Sans Display Condensed"/>
                <a:ea typeface="Noto Sans Display Condensed"/>
                <a:cs typeface="Noto Sans Display Condensed"/>
              </a:defRPr>
            </a:pPr>
            <a:r>
              <a:rPr sz="4300" b="1" i="0">
                <a:ln w="10478">
                  <a:solidFill>
                    <a:srgbClr val="303437"/>
                  </a:solidFill>
                  <a:prstDash val="solid"/>
                </a:ln>
                <a:solidFill>
                  <a:srgbClr val="C9C5BD"/>
                </a:solidFill>
                <a:latin typeface="Noto Sans Display Condensed"/>
                <a:ea typeface="Noto Sans Display Condensed"/>
                <a:cs typeface="Noto Sans Display Condensed"/>
              </a:rPr>
              <a:t>NEAR</a:t>
            </a:r>
          </a:p>
        </p:txBody>
      </p:sp>
      <p:sp>
        <p:nvSpPr>
          <p:cNvPr id="32" name="Target title right">
            <a:extLst xmlns:a="http://schemas.openxmlformats.org/drawingml/2006/main">
              <a:ext uri="{FF2B5EF4-FFF2-40B4-BE49-F238E27FC236}">
                <a16:creationId xmlns:a16="http://schemas.microsoft.com/office/drawing/2014/main" id="{8F24352A-3E2F-4CFB-9FF2-3A5A9310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731520"/>
            <a:ext cx="5074920" cy="658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300" b="1">
                <a:solidFill>
                  <a:srgbClr val="C9C5BD"/>
                </a:solidFill>
                <a:latin typeface="Noto Sans Display Condensed"/>
                <a:ea typeface="Noto Sans Display Condensed"/>
                <a:cs typeface="Noto Sans Display Condensed"/>
              </a:defRPr>
            </a:pPr>
            <a:r>
              <a:rPr sz="4300" b="1" i="0">
                <a:ln w="10478">
                  <a:solidFill>
                    <a:srgbClr val="303437"/>
                  </a:solidFill>
                  <a:prstDash val="solid"/>
                </a:ln>
                <a:solidFill>
                  <a:srgbClr val="C9C5BD"/>
                </a:solidFill>
                <a:latin typeface="Noto Sans Display Condensed"/>
                <a:ea typeface="Noto Sans Display Condensed"/>
                <a:cs typeface="Noto Sans Display Condensed"/>
              </a:rPr>
              <a:t>NEXT TO</a:t>
            </a:r>
          </a:p>
        </p:txBody>
      </p:sp>
      <p:sp>
        <p:nvSpPr>
          <p:cNvPr id="33" name="Footer line left">
            <a:extLst xmlns:a="http://schemas.openxmlformats.org/drawingml/2006/main">
              <a:ext uri="{FF2B5EF4-FFF2-40B4-BE49-F238E27FC236}">
                <a16:creationId xmlns:a16="http://schemas.microsoft.com/office/drawing/2014/main" id="{C5B803DF-319B-4DED-9064-C05152C2A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238875"/>
            <a:ext cx="538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7390"/>
            </a:solidFill>
            <a:prstDash val="solid"/>
          </a:ln>
        </p:spPr>
      </p:sp>
      <p:sp>
        <p:nvSpPr>
          <p:cNvPr id="34" name="Footer line right">
            <a:extLst xmlns:a="http://schemas.openxmlformats.org/drawingml/2006/main">
              <a:ext uri="{FF2B5EF4-FFF2-40B4-BE49-F238E27FC236}">
                <a16:creationId xmlns:a16="http://schemas.microsoft.com/office/drawing/2014/main" id="{82B6A14B-B347-4152-8745-50F82E2D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6238875"/>
            <a:ext cx="538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7390"/>
            </a:solidFill>
            <a:prstDash val="solid"/>
          </a:ln>
        </p:spPr>
      </p:sp>
      <p:pic>
        <p:nvPicPr>
          <p:cNvPr id="1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e7efd43f184287"/>
          <a:stretch xmlns:a="http://schemas.openxmlformats.org/drawingml/2006/main"/>
        </p:blipFill>
        <p:spPr>
          <a:xfrm xmlns:a="http://schemas.openxmlformats.org/drawingml/2006/main">
            <a:off x="5829300" y="6048375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36" name="Footer left">
            <a:extLst xmlns:a="http://schemas.openxmlformats.org/drawingml/2006/main">
              <a:ext uri="{FF2B5EF4-FFF2-40B4-BE49-F238E27FC236}">
                <a16:creationId xmlns:a16="http://schemas.microsoft.com/office/drawing/2014/main" id="{090E9928-ACA9-4E7C-A855-12623810A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3817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11111"/>
                </a:solidFill>
                <a:latin typeface="Aptos"/>
                <a:ea typeface="Aptos"/>
                <a:cs typeface="Aptos"/>
              </a:rPr>
              <a:t>HAWKINS FIELD GUIDE</a:t>
            </a:r>
          </a:p>
        </p:txBody>
      </p:sp>
      <p:sp>
        <p:nvSpPr>
          <p:cNvPr id="37" name="Footer course">
            <a:extLst xmlns:a="http://schemas.openxmlformats.org/drawingml/2006/main">
              <a:ext uri="{FF2B5EF4-FFF2-40B4-BE49-F238E27FC236}">
                <a16:creationId xmlns:a16="http://schemas.microsoft.com/office/drawing/2014/main" id="{2A65518D-7EEB-4FCF-A8BC-0BBF34661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38175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 b="1" i="0">
                <a:solidFill>
                  <a:srgbClr val="101918"/>
                </a:solidFill>
                <a:latin typeface="Roboto Condensed"/>
                <a:ea typeface="Roboto Condensed"/>
                <a:cs typeface="Roboto Condensed"/>
              </a:rPr>
              <a:t/>
            </a:r>
          </a:p>
        </p:txBody>
      </p:sp>
      <p:pic>
        <p:nvPicPr>
          <p:cNvPr id="1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0598d515a84643">
            <a:extLst>
              <a:ext uri="{96DAC541-7B7A-43D3-8B79-37D633B846F1}">
                <asvg:svgBlip xmlns:asvg="http://schemas.microsoft.com/office/drawing/2016/SVG/main" r:embed="R85c068264cb34d9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144250" y="6267450"/>
            <a:ext cx="781050" cy="361950"/>
          </a:xfrm>
          <a:prstGeom xmlns:a="http://schemas.openxmlformats.org/drawingml/2006/main" prst="rect">
            <a:avLst/>
          </a:prstGeom>
        </p:spPr>
      </p:pic>
      <p:sp>
        <p:nvSpPr>
          <p:cNvPr id="40" name="Left image slot">
            <a:extLst xmlns:a="http://schemas.openxmlformats.org/drawingml/2006/main">
              <a:ext uri="{FF2B5EF4-FFF2-40B4-BE49-F238E27FC236}">
                <a16:creationId xmlns:a16="http://schemas.microsoft.com/office/drawing/2014/main" id="{FBC8E7B7-CB70-41DF-9CF9-602A0988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52197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1" name="Right image slot">
            <a:extLst xmlns:a="http://schemas.openxmlformats.org/drawingml/2006/main">
              <a:ext uri="{FF2B5EF4-FFF2-40B4-BE49-F238E27FC236}">
                <a16:creationId xmlns:a16="http://schemas.microsoft.com/office/drawing/2014/main" id="{1DD40484-9740-4D15-89AC-9F50093E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76400"/>
            <a:ext cx="52197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2" name="Left image brief">
            <a:extLst xmlns:a="http://schemas.openxmlformats.org/drawingml/2006/main">
              <a:ext uri="{FF2B5EF4-FFF2-40B4-BE49-F238E27FC236}">
                <a16:creationId xmlns:a16="http://schemas.microsoft.com/office/drawing/2014/main" id="{5A335119-8F69-4331-A264-0604DD08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71750"/>
            <a:ext cx="4552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 i="0">
                <a:solidFill>
                  <a:srgbClr val="101918"/>
                </a:solidFill>
                <a:latin typeface="Aptos"/>
                <a:ea typeface="Aptos"/>
                <a:cs typeface="Aptos"/>
              </a:rPr>
              <a:t>Lucy is close to Andy but not directly beside him.</a:t>
            </a:r>
          </a:p>
        </p:txBody>
      </p:sp>
      <p:sp>
        <p:nvSpPr>
          <p:cNvPr id="43" name="Right image brief">
            <a:extLst xmlns:a="http://schemas.openxmlformats.org/drawingml/2006/main">
              <a:ext uri="{FF2B5EF4-FFF2-40B4-BE49-F238E27FC236}">
                <a16:creationId xmlns:a16="http://schemas.microsoft.com/office/drawing/2014/main" id="{E71323B6-5440-4622-B218-91661CD28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571750"/>
            <a:ext cx="4552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 i="0">
                <a:solidFill>
                  <a:srgbClr val="101918"/>
                </a:solidFill>
                <a:latin typeface="Aptos"/>
                <a:ea typeface="Aptos"/>
                <a:cs typeface="Aptos"/>
              </a:rPr>
              <a:t>Andy stands shoulder-to-shoulder next to Sheriff </a:t>
            </a:r>
            <a:r>
              <a:rPr sz="1300" b="0" i="0">
                <a:solidFill>
                  <a:srgbClr val="101918"/>
                </a:solidFill>
                <a:latin typeface="Aptos"/>
                <a:ea typeface="Aptos"/>
                <a:cs typeface="Aptos"/>
              </a:rPr>
              <a:t>Lucy</a:t>
            </a:r>
            <a:r>
              <a:rPr sz="1300" b="0" i="0">
                <a:solidFill>
                  <a:srgbClr val="101918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44" name="Sentence field left">
            <a:extLst xmlns:a="http://schemas.openxmlformats.org/drawingml/2006/main">
              <a:ext uri="{FF2B5EF4-FFF2-40B4-BE49-F238E27FC236}">
                <a16:creationId xmlns:a16="http://schemas.microsoft.com/office/drawing/2014/main" id="{FC4BA086-0A82-47E0-A6A3-4B820D0D5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05400"/>
            <a:ext cx="5314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5" name="Sentence field right">
            <a:extLst xmlns:a="http://schemas.openxmlformats.org/drawingml/2006/main">
              <a:ext uri="{FF2B5EF4-FFF2-40B4-BE49-F238E27FC236}">
                <a16:creationId xmlns:a16="http://schemas.microsoft.com/office/drawing/2014/main" id="{AE782343-B6D5-4B7C-ACF0-EC3843097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05400"/>
            <a:ext cx="5314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6" name="Sentence left">
            <a:extLst xmlns:a="http://schemas.openxmlformats.org/drawingml/2006/main">
              <a:ext uri="{FF2B5EF4-FFF2-40B4-BE49-F238E27FC236}">
                <a16:creationId xmlns:a16="http://schemas.microsoft.com/office/drawing/2014/main" id="{F72F7231-3C4F-4F9A-BAF5-A725DD1C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62550"/>
            <a:ext cx="5219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>
                <a:solidFill>
                  <a:srgbClr val="101918"/>
                </a:solidFill>
                <a:latin typeface="Aptos"/>
                <a:ea typeface="Aptos"/>
                <a:cs typeface="Aptos"/>
              </a:rPr>
              <a:t>Lucy is standing </a:t>
            </a:r>
            <a:r>
              <a:rPr sz="1700" b="1" i="1">
                <a:solidFill>
                  <a:srgbClr val="8A1A1E"/>
                </a:solidFill>
                <a:latin typeface="Georgia"/>
                <a:ea typeface="Georgia"/>
                <a:cs typeface="Georgia"/>
              </a:rPr>
              <a:t>near</a:t>
            </a:r>
            <a:r>
              <a:rPr sz="1700">
                <a:solidFill>
                  <a:srgbClr val="101918"/>
                </a:solidFill>
                <a:latin typeface="Aptos"/>
                <a:ea typeface="Aptos"/>
                <a:cs typeface="Aptos"/>
              </a:rPr>
              <a:t> Andy.</a:t>
            </a:r>
          </a:p>
        </p:txBody>
      </p:sp>
      <p:sp>
        <p:nvSpPr>
          <p:cNvPr id="47" name="Sentence right">
            <a:extLst xmlns:a="http://schemas.openxmlformats.org/drawingml/2006/main">
              <a:ext uri="{FF2B5EF4-FFF2-40B4-BE49-F238E27FC236}">
                <a16:creationId xmlns:a16="http://schemas.microsoft.com/office/drawing/2014/main" id="{E9B1F4FE-B985-4E71-AEE6-5A43492F3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5162550"/>
            <a:ext cx="5219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>
                <a:solidFill>
                  <a:srgbClr val="101918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51" name="Clean emblem background">
            <a:extLst xmlns:a="http://schemas.openxmlformats.org/drawingml/2006/main">
              <a:ext uri="{FF2B5EF4-FFF2-40B4-BE49-F238E27FC236}">
                <a16:creationId xmlns:a16="http://schemas.microsoft.com/office/drawing/2014/main" id="{A76A93A5-98CD-4046-A1E0-AEBB20D5E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6010275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a6be08371a432d">
            <a:extLst>
              <a:ext uri="{96DAC541-7B7A-43D3-8B79-37D633B846F1}">
                <asvg:svgBlip xmlns:asvg="http://schemas.microsoft.com/office/drawing/2016/SVG/main" r:embed="Ra36fb709eb0e414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829300" y="6048375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56" name="Cover emblem clean background">
            <a:extLst xmlns:a="http://schemas.openxmlformats.org/drawingml/2006/main">
              <a:ext uri="{FF2B5EF4-FFF2-40B4-BE49-F238E27FC236}">
                <a16:creationId xmlns:a16="http://schemas.microsoft.com/office/drawing/2014/main" id="{66AD3FC4-F905-43F7-A360-022EEA212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6010275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c4da38d1a34bf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29300" y="6048375"/>
            <a:ext cx="533400" cy="533400"/>
          </a:xfrm>
          <a:prstGeom xmlns:a="http://schemas.openxmlformats.org/drawingml/2006/main" prst="rect">
            <a:avLst/>
          </a:prstGeom>
        </p:spPr>
      </p:pic>
      <p:pic>
        <p:nvPicPr>
          <p:cNvPr id="1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ae9232f5c34afd"/>
          <a:srcRect xmlns:a="http://schemas.openxmlformats.org/drawingml/2006/main" l="0" t="730" r="0" b="7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496050" y="1676400"/>
            <a:ext cx="5219700" cy="3429000"/>
          </a:xfrm>
          <a:prstGeom xmlns:a="http://schemas.openxmlformats.org/drawingml/2006/main" prst="rect">
            <a:avLst/>
          </a:prstGeom>
        </p:spPr>
      </p:pic>
      <p:sp>
        <p:nvSpPr>
          <p:cNvPr id="65" name="Basic course header clean backing">
            <a:extLst xmlns:a="http://schemas.openxmlformats.org/drawingml/2006/main">
              <a:ext uri="{FF2B5EF4-FFF2-40B4-BE49-F238E27FC236}">
                <a16:creationId xmlns:a16="http://schemas.microsoft.com/office/drawing/2014/main" id="{0359AE5E-0DF6-4033-9391-C60F18DA0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"/>
            <a:ext cx="32861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Basic course running header">
            <a:extLst xmlns:a="http://schemas.openxmlformats.org/drawingml/2006/main">
              <a:ext uri="{FF2B5EF4-FFF2-40B4-BE49-F238E27FC236}">
                <a16:creationId xmlns:a16="http://schemas.microsoft.com/office/drawing/2014/main" id="{218EE91E-A3C7-480F-BA2C-627DB0AF9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82E43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82E43"/>
                </a:solidFill>
                <a:latin typeface="Aptos"/>
                <a:ea typeface="Aptos"/>
                <a:cs typeface="Aptos"/>
              </a:rPr>
              <a:t>FORBES ENGLISH • PREPOSITIONS</a:t>
            </a:r>
          </a:p>
        </p:txBody>
      </p:sp>
      <p:pic>
        <p:nvPicPr>
          <p:cNvPr id="1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a0892c3f2a477d"/>
          <a:srcRect xmlns:a="http://schemas.openxmlformats.org/drawingml/2006/main" l="0" t="730" r="0" b="7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476250" y="1676400"/>
            <a:ext cx="5219700" cy="3429000"/>
          </a:xfrm>
          <a:prstGeom xmlns:a="http://schemas.openxmlformats.org/drawingml/2006/main" prst="rect">
            <a:avLst/>
          </a:prstGeom>
        </p:spPr>
      </p:pic>
      <p:sp>
        <p:nvSpPr>
          <p:cNvPr id="68" name="Lucy seated caption final backing">
            <a:extLst xmlns:a="http://schemas.openxmlformats.org/drawingml/2006/main">
              <a:ext uri="{FF2B5EF4-FFF2-40B4-BE49-F238E27FC236}">
                <a16:creationId xmlns:a16="http://schemas.microsoft.com/office/drawing/2014/main" id="{F39DF41F-6EAA-41E7-99FF-88BAC13BD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05400"/>
            <a:ext cx="5314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Lucy seated caption final">
            <a:extLst xmlns:a="http://schemas.openxmlformats.org/drawingml/2006/main">
              <a:ext uri="{FF2B5EF4-FFF2-40B4-BE49-F238E27FC236}">
                <a16:creationId xmlns:a16="http://schemas.microsoft.com/office/drawing/2014/main" id="{39AFA473-4EE1-474B-9F10-302AA0998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62550"/>
            <a:ext cx="5219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>
                <a:solidFill>
                  <a:srgbClr val="182E43"/>
                </a:solidFill>
                <a:latin typeface="Aptos"/>
                <a:ea typeface="Aptos"/>
                <a:cs typeface="Aptos"/>
              </a:defRPr>
            </a:pPr>
            <a:r>
              <a:rPr sz="1700">
                <a:solidFill>
                  <a:srgbClr val="182E43"/>
                </a:solidFill>
                <a:latin typeface="Aptos"/>
                <a:ea typeface="Aptos"/>
                <a:cs typeface="Aptos"/>
              </a:rPr>
              <a:t>Mike is standing </a:t>
            </a:r>
            <a:r>
              <a:rPr sz="1700" b="1" i="1">
                <a:solidFill>
                  <a:srgbClr val="182E43"/>
                </a:solidFill>
                <a:latin typeface="Aptos"/>
                <a:ea typeface="Aptos"/>
                <a:cs typeface="Aptos"/>
              </a:rPr>
              <a:t>near</a:t>
            </a:r>
            <a:r>
              <a:rPr sz="1700">
                <a:solidFill>
                  <a:srgbClr val="182E43"/>
                </a:solidFill>
                <a:latin typeface="Aptos"/>
                <a:ea typeface="Aptos"/>
                <a:cs typeface="Aptos"/>
              </a:rPr>
              <a:t> Eleven.</a:t>
            </a:r>
          </a:p>
        </p:txBody>
      </p:sp>
      <p:sp>
        <p:nvSpPr>
          <p:cNvPr id="70" name="Truman before Cole caption final backing">
            <a:extLst xmlns:a="http://schemas.openxmlformats.org/drawingml/2006/main">
              <a:ext uri="{FF2B5EF4-FFF2-40B4-BE49-F238E27FC236}">
                <a16:creationId xmlns:a16="http://schemas.microsoft.com/office/drawing/2014/main" id="{32631A82-AE04-46A4-B8A4-C1685C95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05400"/>
            <a:ext cx="5314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Truman before Cole caption final">
            <a:extLst xmlns:a="http://schemas.openxmlformats.org/drawingml/2006/main">
              <a:ext uri="{FF2B5EF4-FFF2-40B4-BE49-F238E27FC236}">
                <a16:creationId xmlns:a16="http://schemas.microsoft.com/office/drawing/2014/main" id="{7F36B8C5-0CFC-44A2-AFBD-AFC0B69B7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5162550"/>
            <a:ext cx="5219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>
                <a:solidFill>
                  <a:srgbClr val="182E43"/>
                </a:solidFill>
                <a:latin typeface="Aptos"/>
                <a:ea typeface="Aptos"/>
                <a:cs typeface="Aptos"/>
              </a:defRPr>
            </a:pPr>
            <a:r>
              <a:rPr sz="1700">
                <a:solidFill>
                  <a:srgbClr val="182E43"/>
                </a:solidFill>
                <a:latin typeface="Aptos"/>
                <a:ea typeface="Aptos"/>
                <a:cs typeface="Aptos"/>
              </a:rPr>
              <a:t>Lucas is sitting </a:t>
            </a:r>
            <a:r>
              <a:rPr sz="1700" b="1" i="1">
                <a:solidFill>
                  <a:srgbClr val="182E43"/>
                </a:solidFill>
                <a:latin typeface="Aptos"/>
                <a:ea typeface="Aptos"/>
                <a:cs typeface="Aptos"/>
              </a:rPr>
              <a:t>next to</a:t>
            </a:r>
            <a:r>
              <a:rPr sz="1700">
                <a:solidFill>
                  <a:srgbClr val="182E43"/>
                </a:solidFill>
                <a:latin typeface="Aptos"/>
                <a:ea typeface="Aptos"/>
                <a:cs typeface="Aptos"/>
              </a:rPr>
              <a:t> Dustin.</a:t>
            </a:r>
          </a:p>
        </p:txBody>
      </p:sp>
      <p:sp>
        <p:nvSpPr>
          <p:cNvPr id="72" name="Usage note left backing">
            <a:extLst xmlns:a="http://schemas.openxmlformats.org/drawingml/2006/main">
              <a:ext uri="{FF2B5EF4-FFF2-40B4-BE49-F238E27FC236}">
                <a16:creationId xmlns:a16="http://schemas.microsoft.com/office/drawing/2014/main" id="{7AD9401E-5F6D-447D-A3CE-E6CDF042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76900"/>
            <a:ext cx="53149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Usage note left">
            <a:extLst xmlns:a="http://schemas.openxmlformats.org/drawingml/2006/main">
              <a:ext uri="{FF2B5EF4-FFF2-40B4-BE49-F238E27FC236}">
                <a16:creationId xmlns:a16="http://schemas.microsoft.com/office/drawing/2014/main" id="{34AD09DB-BBD5-4F3B-A15D-09E14BAB1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516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 i="0">
                <a:solidFill>
                  <a:srgbClr val="505653"/>
                </a:solidFill>
                <a:latin typeface="Aptos"/>
                <a:ea typeface="Aptos"/>
                <a:cs typeface="Aptos"/>
              </a:rPr>
              <a:t>Use near when something is close, but not necessarily directly beside.</a:t>
            </a:r>
          </a:p>
        </p:txBody>
      </p:sp>
      <p:sp>
        <p:nvSpPr>
          <p:cNvPr id="74" name="Usage note right backing">
            <a:extLst xmlns:a="http://schemas.openxmlformats.org/drawingml/2006/main">
              <a:ext uri="{FF2B5EF4-FFF2-40B4-BE49-F238E27FC236}">
                <a16:creationId xmlns:a16="http://schemas.microsoft.com/office/drawing/2014/main" id="{4B36F3D7-FCA8-4875-BBFB-5F09EAAC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676900"/>
            <a:ext cx="53149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Usage note right">
            <a:extLst xmlns:a="http://schemas.openxmlformats.org/drawingml/2006/main">
              <a:ext uri="{FF2B5EF4-FFF2-40B4-BE49-F238E27FC236}">
                <a16:creationId xmlns:a16="http://schemas.microsoft.com/office/drawing/2014/main" id="{9451B03F-C21B-4DB4-8620-B62BD074F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715000"/>
            <a:ext cx="516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 i="0">
                <a:solidFill>
                  <a:srgbClr val="505653"/>
                </a:solidFill>
                <a:latin typeface="Aptos"/>
                <a:ea typeface="Aptos"/>
                <a:cs typeface="Aptos"/>
              </a:rPr>
              <a:t>Use next to when something is immediately beside another thing.</a:t>
            </a:r>
          </a:p>
        </p:txBody>
      </p:sp>
      <p:sp>
        <p:nvSpPr>
          <p:cNvPr id="85" name="Italic usage note left backing">
            <a:extLst xmlns:a="http://schemas.openxmlformats.org/drawingml/2006/main">
              <a:ext uri="{FF2B5EF4-FFF2-40B4-BE49-F238E27FC236}">
                <a16:creationId xmlns:a16="http://schemas.microsoft.com/office/drawing/2014/main" id="{EDACC081-E10C-4CA0-B076-1939FC9C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76900"/>
            <a:ext cx="53149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Italic usage note left">
            <a:extLst xmlns:a="http://schemas.openxmlformats.org/drawingml/2006/main">
              <a:ext uri="{FF2B5EF4-FFF2-40B4-BE49-F238E27FC236}">
                <a16:creationId xmlns:a16="http://schemas.microsoft.com/office/drawing/2014/main" id="{F5E47DB7-663B-4F09-A2B6-8FDC98B5A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516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8846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>
                <a:solidFill>
                  <a:srgbClr val="182E43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182E43"/>
                </a:solidFill>
                <a:latin typeface="Aptos"/>
                <a:ea typeface="Aptos"/>
                <a:cs typeface="Aptos"/>
              </a:rPr>
              <a:t>Use </a:t>
            </a:r>
            <a:r>
              <a:rPr sz="1600" b="1" i="1">
                <a:solidFill>
                  <a:srgbClr val="182E43"/>
                </a:solidFill>
                <a:latin typeface="Aptos"/>
                <a:ea typeface="Aptos"/>
                <a:cs typeface="Aptos"/>
              </a:rPr>
              <a:t>near</a:t>
            </a:r>
            <a:r>
              <a:rPr sz="1600">
                <a:solidFill>
                  <a:srgbClr val="182E43"/>
                </a:solidFill>
                <a:latin typeface="Aptos"/>
                <a:ea typeface="Aptos"/>
                <a:cs typeface="Aptos"/>
              </a:rPr>
              <a:t> when something is close, but not necessarily directly beside.</a:t>
            </a:r>
          </a:p>
        </p:txBody>
      </p:sp>
      <p:sp>
        <p:nvSpPr>
          <p:cNvPr id="87" name="Italic usage note right backing">
            <a:extLst xmlns:a="http://schemas.openxmlformats.org/drawingml/2006/main">
              <a:ext uri="{FF2B5EF4-FFF2-40B4-BE49-F238E27FC236}">
                <a16:creationId xmlns:a16="http://schemas.microsoft.com/office/drawing/2014/main" id="{0EB7924A-B479-4B75-8096-F484DB8D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676900"/>
            <a:ext cx="53149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Italic usage note right">
            <a:extLst xmlns:a="http://schemas.openxmlformats.org/drawingml/2006/main">
              <a:ext uri="{FF2B5EF4-FFF2-40B4-BE49-F238E27FC236}">
                <a16:creationId xmlns:a16="http://schemas.microsoft.com/office/drawing/2014/main" id="{8B096291-67A5-4AE5-88B8-8F8EA1CB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715000"/>
            <a:ext cx="516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9433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>
                <a:solidFill>
                  <a:srgbClr val="182E43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182E43"/>
                </a:solidFill>
                <a:latin typeface="Aptos"/>
                <a:ea typeface="Aptos"/>
                <a:cs typeface="Aptos"/>
              </a:rPr>
              <a:t>Use </a:t>
            </a:r>
            <a:r>
              <a:rPr sz="1600" b="1" i="1">
                <a:solidFill>
                  <a:srgbClr val="182E43"/>
                </a:solidFill>
                <a:latin typeface="Aptos"/>
                <a:ea typeface="Aptos"/>
                <a:cs typeface="Aptos"/>
              </a:rPr>
              <a:t>next to</a:t>
            </a:r>
            <a:r>
              <a:rPr sz="1600">
                <a:solidFill>
                  <a:srgbClr val="182E43"/>
                </a:solidFill>
                <a:latin typeface="Aptos"/>
                <a:ea typeface="Aptos"/>
                <a:cs typeface="Aptos"/>
              </a:rPr>
              <a:t> when something is immediately beside another thing.</a:t>
            </a:r>
          </a:p>
        </p:txBody>
      </p:sp>
      <p:sp>
        <p:nvSpPr>
          <p:cNvPr id="89" name="Forbes English footer clean backing">
            <a:extLst xmlns:a="http://schemas.openxmlformats.org/drawingml/2006/main">
              <a:ext uri="{FF2B5EF4-FFF2-40B4-BE49-F238E27FC236}">
                <a16:creationId xmlns:a16="http://schemas.microsoft.com/office/drawing/2014/main" id="{7E4CDA5A-91DB-4899-B22B-170DF4043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76975"/>
            <a:ext cx="9144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Forbes English footer wordmark">
            <a:extLst xmlns:a="http://schemas.openxmlformats.org/drawingml/2006/main">
              <a:ext uri="{FF2B5EF4-FFF2-40B4-BE49-F238E27FC236}">
                <a16:creationId xmlns:a16="http://schemas.microsoft.com/office/drawing/2014/main" id="{E4771433-6BBB-4A79-9F3F-D7A398B83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15075"/>
            <a:ext cx="733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i="0">
                <a:solidFill>
                  <a:srgbClr val="101918"/>
                </a:solidFill>
                <a:latin typeface="Georgia"/>
                <a:ea typeface="Georgia"/>
                <a:cs typeface="Georgia"/>
              </a:rPr>
              <a:t>Forbes</a:t>
            </a:r>
          </a:p>
        </p:txBody>
      </p:sp>
      <p:sp>
        <p:nvSpPr>
          <p:cNvPr id="91" name="Forbes English footer second line">
            <a:extLst xmlns:a="http://schemas.openxmlformats.org/drawingml/2006/main">
              <a:ext uri="{FF2B5EF4-FFF2-40B4-BE49-F238E27FC236}">
                <a16:creationId xmlns:a16="http://schemas.microsoft.com/office/drawing/2014/main" id="{93DDDB89-3EF6-4DAF-AD7A-6E37C9E5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477000"/>
            <a:ext cx="7334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50" b="1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ENGLISH</a:t>
            </a:r>
          </a:p>
        </p:txBody>
      </p:sp>
    </p:spTree>
    <p:extLst>
      <p:ext uri="{BB962C8B-B14F-4D97-AF65-F5344CB8AC3E}">
        <p14:creationId xmlns:p14="http://schemas.microsoft.com/office/powerpoint/2010/main" val="19624840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D9E1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EFC7BA7-D85E-41FE-AC69-332D2EEA8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219456"/>
            <a:ext cx="21031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1350" b="1">
                <a:solidFill>
                  <a:srgbClr val="90111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0111C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2407334-6AC0-4C43-B6BE-3F8C8D1F2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1168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01918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AE0F7DF-0B19-4B78-BEEA-0BBA1F86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10312"/>
            <a:ext cx="297180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00" b="1">
                <a:solidFill>
                  <a:srgbClr val="182E4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E43"/>
                </a:solidFill>
                <a:latin typeface="Aptos"/>
                <a:ea typeface="Aptos"/>
                <a:cs typeface="Aptos"/>
              </a:rPr>
              <a:t>FORBES ENGLISH • PREPOSITIONS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EB2B0EE-EE37-4912-8A82-AD35015B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390" y="502920"/>
            <a:ext cx="0" cy="52760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7390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954FC03D-EF05-47BF-9A02-0F9DAE6FD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7666" y="3136392"/>
            <a:ext cx="155448" cy="155448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6571D"/>
          </a:solidFill>
          <a:ln xmlns:a="http://schemas.openxmlformats.org/drawingml/2006/main" w="12700">
            <a:solidFill>
              <a:srgbClr val="8A1A1E">
                <a:alpha val="0"/>
              </a:srgbClr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C9B0178-3ED2-4534-8000-82DCFBDA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1520"/>
            <a:ext cx="507492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300" b="1">
                <a:ln w="10478">
                  <a:solidFill>
                    <a:srgbClr val="303437"/>
                  </a:solidFill>
                  <a:prstDash val="solid"/>
                </a:ln>
                <a:pattFill prst="narHorz">
                  <a:fgClr>
                    <a:srgbClr val="2F3336"/>
                  </a:fgClr>
                  <a:bgClr>
                    <a:srgbClr val="B7B2AA"/>
                  </a:bgClr>
                </a:pattFill>
                <a:latin typeface="Noto Sans Display Condensed"/>
                <a:ea typeface="Noto Sans Display Condensed"/>
                <a:cs typeface="Noto Sans Display Condensed"/>
              </a:rPr>
              <a:t>OPPOSITE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E677582-F36B-4AFE-916E-989A9ADA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731520"/>
            <a:ext cx="507492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300" b="1">
                <a:ln w="10478">
                  <a:solidFill>
                    <a:srgbClr val="303437"/>
                  </a:solidFill>
                  <a:prstDash val="solid"/>
                </a:ln>
                <a:pattFill prst="narHorz">
                  <a:fgClr>
                    <a:srgbClr val="2F3336"/>
                  </a:fgClr>
                  <a:bgClr>
                    <a:srgbClr val="B7B2AA"/>
                  </a:bgClr>
                </a:pattFill>
                <a:latin typeface="Noto Sans Display Condensed"/>
                <a:ea typeface="Noto Sans Display Condensed"/>
                <a:cs typeface="Noto Sans Display Condensed"/>
              </a:rPr>
              <a:t>FACING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8D7F042-E79D-4ABC-82A5-918780D13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1444752"/>
            <a:ext cx="5321808" cy="3547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0DF">
              <a:alpha val="96000"/>
            </a:srgbClr>
          </a:solidFill>
          <a:ln xmlns:a="http://schemas.openxmlformats.org/drawingml/2006/main" w="13335">
            <a:solidFill>
              <a:srgbClr val="8A1A1E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D2BA5CB-6410-4E3F-9C16-6E285285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1645920"/>
            <a:ext cx="4882896" cy="3145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20">
                <a:solidFill>
                  <a:srgbClr val="101918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DC3ED4D-16B7-4A6A-8E33-B906768B2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1444752"/>
            <a:ext cx="5321808" cy="3547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0DF">
              <a:alpha val="96000"/>
            </a:srgbClr>
          </a:solidFill>
          <a:ln xmlns:a="http://schemas.openxmlformats.org/drawingml/2006/main" w="13335">
            <a:solidFill>
              <a:srgbClr val="8A1A1E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9AA6B2D-3952-455F-AF40-605787E7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1645920"/>
            <a:ext cx="4882896" cy="3145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20">
                <a:solidFill>
                  <a:srgbClr val="101918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89CA1FC-36E0-4FDC-9EFE-95411E1C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5212080"/>
            <a:ext cx="510235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>
                <a:solidFill>
                  <a:srgbClr val="101918"/>
                </a:solidFill>
                <a:latin typeface="Aptos"/>
                <a:ea typeface="Aptos"/>
                <a:cs typeface="Aptos"/>
              </a:rPr>
              <a:t>Audrey is sitting </a:t>
            </a:r>
            <a:r>
              <a:rPr sz="1700" b="1" i="1">
                <a:solidFill>
                  <a:srgbClr val="8A1A1E"/>
                </a:solidFill>
                <a:latin typeface="Georgia"/>
                <a:ea typeface="Georgia"/>
                <a:cs typeface="Georgia"/>
              </a:rPr>
              <a:t>opposite</a:t>
            </a:r>
            <a:r>
              <a:rPr sz="1700">
                <a:solidFill>
                  <a:srgbClr val="101918"/>
                </a:solidFill>
                <a:latin typeface="Aptos"/>
                <a:ea typeface="Aptos"/>
                <a:cs typeface="Aptos"/>
              </a:rPr>
              <a:t> Ben.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CF55965-AFA0-4264-8D54-8B3D1C1E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384" y="5212080"/>
            <a:ext cx="510235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>
                <a:solidFill>
                  <a:srgbClr val="101918"/>
                </a:solidFill>
                <a:latin typeface="Aptos"/>
                <a:ea typeface="Aptos"/>
                <a:cs typeface="Aptos"/>
              </a:rPr>
              <a:t>Ben and Jerry are </a:t>
            </a:r>
            <a:r>
              <a:rPr sz="1700" b="1" i="1">
                <a:solidFill>
                  <a:srgbClr val="8A1A1E"/>
                </a:solidFill>
                <a:latin typeface="Georgia"/>
                <a:ea typeface="Georgia"/>
                <a:cs typeface="Georgia"/>
              </a:rPr>
              <a:t>facing</a:t>
            </a:r>
            <a:r>
              <a:rPr sz="1700">
                <a:solidFill>
                  <a:srgbClr val="101918"/>
                </a:solidFill>
                <a:latin typeface="Aptos"/>
                <a:ea typeface="Aptos"/>
                <a:cs typeface="Aptos"/>
              </a:rPr>
              <a:t> each other.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CE35C6D-F8AD-4561-9ED6-68D2A042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632704"/>
            <a:ext cx="4754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20" b="1">
                <a:solidFill>
                  <a:srgbClr val="8A1A1E"/>
                </a:solidFill>
                <a:latin typeface="Roboto Condensed"/>
                <a:ea typeface="Roboto Condensed"/>
                <a:cs typeface="Roboto Condensed"/>
              </a:rPr>
              <a:t>OPPOSITE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2D475C4-5428-4C49-A3D7-7C03BC0C5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879592"/>
            <a:ext cx="4754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80" i="1">
                <a:solidFill>
                  <a:srgbClr val="69675E"/>
                </a:solidFill>
                <a:latin typeface="Georgia"/>
                <a:ea typeface="Georgia"/>
                <a:cs typeface="Georgia"/>
              </a:rPr>
              <a:t>on the other side of a space or object.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66E580E7-A2B9-44DB-BA00-DE1CFEC0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5632704"/>
            <a:ext cx="4754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20" b="1">
                <a:solidFill>
                  <a:srgbClr val="8A1A1E"/>
                </a:solidFill>
                <a:latin typeface="Roboto Condensed"/>
                <a:ea typeface="Roboto Condensed"/>
                <a:cs typeface="Roboto Condensed"/>
              </a:rPr>
              <a:t>FACING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D35BADC-FA9F-40B8-BDE3-34C4967C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5879592"/>
            <a:ext cx="4754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80" i="1">
                <a:solidFill>
                  <a:srgbClr val="69675E"/>
                </a:solidFill>
                <a:latin typeface="Georgia"/>
                <a:ea typeface="Georgia"/>
                <a:cs typeface="Georgia"/>
              </a:rPr>
              <a:t>looking or pointing toward someone or something.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40C5C1AF-BDAA-43A7-ABF1-F47B50A86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238875"/>
            <a:ext cx="538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7390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3EA6EB80-DFDA-4CED-B1D8-ABD256CC1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6238875"/>
            <a:ext cx="538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7390"/>
            </a:solidFill>
            <a:prstDash val="solid"/>
          </a:ln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5B46FA42-EE83-4756-91F5-CF317765E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6382512"/>
            <a:ext cx="228600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HAWKINS FIELD GUIDE</a:t>
            </a:r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6CB7B3D6-8FE8-4746-8C07-B4CC7CCEB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6382512"/>
            <a:ext cx="2852928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50" b="1">
                <a:solidFill>
                  <a:srgbClr val="101918"/>
                </a:solidFill>
                <a:latin typeface="Roboto Condensed"/>
                <a:ea typeface="Roboto Condensed"/>
                <a:cs typeface="Roboto Condensed"/>
              </a:rPr>
              <a:t/>
            </a:r>
          </a:p>
        </p:txBody>
      </p:sp>
      <p:sp>
        <p:nvSpPr>
          <p:cNvPr id="25" name="Slide 4 system background">
            <a:extLst xmlns:a="http://schemas.openxmlformats.org/drawingml/2006/main">
              <a:ext uri="{FF2B5EF4-FFF2-40B4-BE49-F238E27FC236}">
                <a16:creationId xmlns:a16="http://schemas.microsoft.com/office/drawing/2014/main" id="{7B7741B8-0B88-4196-B210-AD2D1A22D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35380827-E207-4A87-857A-B7DFDE4B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219456"/>
            <a:ext cx="210312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777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90111C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90111C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27" name="Header separator">
            <a:extLst xmlns:a="http://schemas.openxmlformats.org/drawingml/2006/main">
              <a:ext uri="{FF2B5EF4-FFF2-40B4-BE49-F238E27FC236}">
                <a16:creationId xmlns:a16="http://schemas.microsoft.com/office/drawing/2014/main" id="{BC8BC756-EF6B-410C-B24E-1B6B0254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1168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01918"/>
            </a:solidFill>
            <a:prstDash val="solid"/>
          </a:ln>
        </p:spPr>
      </p:sp>
      <p:sp>
        <p:nvSpPr>
          <p:cNvPr id="28" name="Running header">
            <a:extLst xmlns:a="http://schemas.openxmlformats.org/drawingml/2006/main">
              <a:ext uri="{FF2B5EF4-FFF2-40B4-BE49-F238E27FC236}">
                <a16:creationId xmlns:a16="http://schemas.microsoft.com/office/drawing/2014/main" id="{E6385B0E-D742-482F-9966-2516D0777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10312"/>
            <a:ext cx="2971800" cy="210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82E43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82E43"/>
                </a:solidFill>
                <a:latin typeface="Aptos"/>
                <a:ea typeface="Aptos"/>
                <a:cs typeface="Aptos"/>
              </a:rPr>
              <a:t>FORBES ENGLISH • PREPOSITIONS</a:t>
            </a:r>
          </a:p>
        </p:txBody>
      </p:sp>
      <p:sp>
        <p:nvSpPr>
          <p:cNvPr id="29" name="Centre divider">
            <a:extLst xmlns:a="http://schemas.openxmlformats.org/drawingml/2006/main">
              <a:ext uri="{FF2B5EF4-FFF2-40B4-BE49-F238E27FC236}">
                <a16:creationId xmlns:a16="http://schemas.microsoft.com/office/drawing/2014/main" id="{594F22BF-F97B-4A00-AC17-028D595B2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429" y="502920"/>
            <a:ext cx="0" cy="52760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7390"/>
            </a:solidFill>
            <a:prstDash val="solid"/>
          </a:ln>
        </p:spPr>
      </p:sp>
      <p:sp>
        <p:nvSpPr>
          <p:cNvPr id="30" name="Centre diamond">
            <a:extLst xmlns:a="http://schemas.openxmlformats.org/drawingml/2006/main">
              <a:ext uri="{FF2B5EF4-FFF2-40B4-BE49-F238E27FC236}">
                <a16:creationId xmlns:a16="http://schemas.microsoft.com/office/drawing/2014/main" id="{F8667924-0D79-4539-8BE4-3D42A3FFF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7705" y="3136392"/>
            <a:ext cx="155448" cy="155448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1073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arget title left">
            <a:extLst xmlns:a="http://schemas.openxmlformats.org/drawingml/2006/main">
              <a:ext uri="{FF2B5EF4-FFF2-40B4-BE49-F238E27FC236}">
                <a16:creationId xmlns:a16="http://schemas.microsoft.com/office/drawing/2014/main" id="{148525C8-E1FE-4B33-B7EE-E8D08BA0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1520"/>
            <a:ext cx="5074920" cy="658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300" b="1">
                <a:solidFill>
                  <a:srgbClr val="C9C5BD"/>
                </a:solidFill>
                <a:latin typeface="Noto Sans Display Condensed"/>
                <a:ea typeface="Noto Sans Display Condensed"/>
                <a:cs typeface="Noto Sans Display Condensed"/>
              </a:defRPr>
            </a:pPr>
            <a:r>
              <a:rPr sz="4300" b="1" i="0">
                <a:ln w="10478">
                  <a:solidFill>
                    <a:srgbClr val="303437"/>
                  </a:solidFill>
                  <a:prstDash val="solid"/>
                </a:ln>
                <a:solidFill>
                  <a:srgbClr val="C9C5BD"/>
                </a:solidFill>
                <a:latin typeface="Noto Sans Display Condensed"/>
                <a:ea typeface="Noto Sans Display Condensed"/>
                <a:cs typeface="Noto Sans Display Condensed"/>
              </a:rPr>
              <a:t>OPPOSITE</a:t>
            </a:r>
          </a:p>
        </p:txBody>
      </p:sp>
      <p:sp>
        <p:nvSpPr>
          <p:cNvPr id="32" name="Target title right">
            <a:extLst xmlns:a="http://schemas.openxmlformats.org/drawingml/2006/main">
              <a:ext uri="{FF2B5EF4-FFF2-40B4-BE49-F238E27FC236}">
                <a16:creationId xmlns:a16="http://schemas.microsoft.com/office/drawing/2014/main" id="{B6CFC8F5-10B8-447D-9F61-DF4CE5465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731520"/>
            <a:ext cx="5074920" cy="658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300" b="1">
                <a:solidFill>
                  <a:srgbClr val="C9C5BD"/>
                </a:solidFill>
                <a:latin typeface="Noto Sans Display Condensed"/>
                <a:ea typeface="Noto Sans Display Condensed"/>
                <a:cs typeface="Noto Sans Display Condensed"/>
              </a:defRPr>
            </a:pPr>
            <a:r>
              <a:rPr sz="4300" b="1" i="0">
                <a:ln w="10478">
                  <a:solidFill>
                    <a:srgbClr val="303437"/>
                  </a:solidFill>
                  <a:prstDash val="solid"/>
                </a:ln>
                <a:solidFill>
                  <a:srgbClr val="C9C5BD"/>
                </a:solidFill>
                <a:latin typeface="Noto Sans Display Condensed"/>
                <a:ea typeface="Noto Sans Display Condensed"/>
                <a:cs typeface="Noto Sans Display Condensed"/>
              </a:rPr>
              <a:t>FACING</a:t>
            </a:r>
          </a:p>
        </p:txBody>
      </p:sp>
      <p:sp>
        <p:nvSpPr>
          <p:cNvPr id="33" name="Footer line left">
            <a:extLst xmlns:a="http://schemas.openxmlformats.org/drawingml/2006/main">
              <a:ext uri="{FF2B5EF4-FFF2-40B4-BE49-F238E27FC236}">
                <a16:creationId xmlns:a16="http://schemas.microsoft.com/office/drawing/2014/main" id="{68F1F163-95D0-45EA-A8B9-700566134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238875"/>
            <a:ext cx="538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7390"/>
            </a:solidFill>
            <a:prstDash val="solid"/>
          </a:ln>
        </p:spPr>
      </p:sp>
      <p:sp>
        <p:nvSpPr>
          <p:cNvPr id="34" name="Footer line right">
            <a:extLst xmlns:a="http://schemas.openxmlformats.org/drawingml/2006/main">
              <a:ext uri="{FF2B5EF4-FFF2-40B4-BE49-F238E27FC236}">
                <a16:creationId xmlns:a16="http://schemas.microsoft.com/office/drawing/2014/main" id="{F78E8F7F-8FAD-42C1-A98E-2468D0FA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6238875"/>
            <a:ext cx="538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7390"/>
            </a:solidFill>
            <a:prstDash val="solid"/>
          </a:ln>
        </p:spPr>
      </p:sp>
      <p:pic>
        <p:nvPicPr>
          <p:cNvPr id="2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88254b5aa84e40"/>
          <a:stretch xmlns:a="http://schemas.openxmlformats.org/drawingml/2006/main"/>
        </p:blipFill>
        <p:spPr>
          <a:xfrm xmlns:a="http://schemas.openxmlformats.org/drawingml/2006/main">
            <a:off x="5829300" y="6048375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36" name="Footer left">
            <a:extLst xmlns:a="http://schemas.openxmlformats.org/drawingml/2006/main">
              <a:ext uri="{FF2B5EF4-FFF2-40B4-BE49-F238E27FC236}">
                <a16:creationId xmlns:a16="http://schemas.microsoft.com/office/drawing/2014/main" id="{8658A16C-1543-4F5B-AD62-ACEC8E7F6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3817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11111"/>
                </a:solidFill>
                <a:latin typeface="Aptos"/>
                <a:ea typeface="Aptos"/>
                <a:cs typeface="Aptos"/>
              </a:rPr>
              <a:t>HAWKINS FIELD GUIDE</a:t>
            </a:r>
          </a:p>
        </p:txBody>
      </p:sp>
      <p:sp>
        <p:nvSpPr>
          <p:cNvPr id="37" name="Footer course">
            <a:extLst xmlns:a="http://schemas.openxmlformats.org/drawingml/2006/main">
              <a:ext uri="{FF2B5EF4-FFF2-40B4-BE49-F238E27FC236}">
                <a16:creationId xmlns:a16="http://schemas.microsoft.com/office/drawing/2014/main" id="{FA0AB708-255A-43E0-8120-3FB54AA7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38175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 b="1" i="0">
                <a:solidFill>
                  <a:srgbClr val="101918"/>
                </a:solidFill>
                <a:latin typeface="Roboto Condensed"/>
                <a:ea typeface="Roboto Condensed"/>
                <a:cs typeface="Roboto Condensed"/>
              </a:rPr>
              <a:t/>
            </a:r>
          </a:p>
        </p:txBody>
      </p:sp>
      <p:pic>
        <p:nvPicPr>
          <p:cNvPr id="2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5bfdb3ecaa45a5">
            <a:extLst>
              <a:ext uri="{96DAC541-7B7A-43D3-8B79-37D633B846F1}">
                <asvg:svgBlip xmlns:asvg="http://schemas.microsoft.com/office/drawing/2016/SVG/main" r:embed="Rc7ddeb1416e043d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144250" y="6267450"/>
            <a:ext cx="781050" cy="361950"/>
          </a:xfrm>
          <a:prstGeom xmlns:a="http://schemas.openxmlformats.org/drawingml/2006/main" prst="rect">
            <a:avLst/>
          </a:prstGeom>
        </p:spPr>
      </p:pic>
      <p:sp>
        <p:nvSpPr>
          <p:cNvPr id="40" name="Left image slot">
            <a:extLst xmlns:a="http://schemas.openxmlformats.org/drawingml/2006/main">
              <a:ext uri="{FF2B5EF4-FFF2-40B4-BE49-F238E27FC236}">
                <a16:creationId xmlns:a16="http://schemas.microsoft.com/office/drawing/2014/main" id="{F5EFA9D7-DA74-41C6-8EF7-A9583DCB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52197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1" name="Right image slot">
            <a:extLst xmlns:a="http://schemas.openxmlformats.org/drawingml/2006/main">
              <a:ext uri="{FF2B5EF4-FFF2-40B4-BE49-F238E27FC236}">
                <a16:creationId xmlns:a16="http://schemas.microsoft.com/office/drawing/2014/main" id="{B513580C-1E02-4FE2-8B9A-C9C491F7A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76400"/>
            <a:ext cx="52197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2" name="Left image brief">
            <a:extLst xmlns:a="http://schemas.openxmlformats.org/drawingml/2006/main">
              <a:ext uri="{FF2B5EF4-FFF2-40B4-BE49-F238E27FC236}">
                <a16:creationId xmlns:a16="http://schemas.microsoft.com/office/drawing/2014/main" id="{5EDAE24E-11B6-4B34-AFFE-4142259CF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71750"/>
            <a:ext cx="4552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 i="0">
                <a:solidFill>
                  <a:srgbClr val="101918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43" name="Right image brief">
            <a:extLst xmlns:a="http://schemas.openxmlformats.org/drawingml/2006/main">
              <a:ext uri="{FF2B5EF4-FFF2-40B4-BE49-F238E27FC236}">
                <a16:creationId xmlns:a16="http://schemas.microsoft.com/office/drawing/2014/main" id="{C65BB903-9E4E-4960-AA21-C5A84FC22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571750"/>
            <a:ext cx="4552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 i="0">
                <a:solidFill>
                  <a:srgbClr val="101918"/>
                </a:solidFill>
                <a:latin typeface="Aptos"/>
                <a:ea typeface="Aptos"/>
                <a:cs typeface="Aptos"/>
              </a:rPr>
              <a:t>Ben and Jerry face toward one another in the lobby.</a:t>
            </a:r>
          </a:p>
        </p:txBody>
      </p:sp>
      <p:sp>
        <p:nvSpPr>
          <p:cNvPr id="44" name="Sentence field left">
            <a:extLst xmlns:a="http://schemas.openxmlformats.org/drawingml/2006/main">
              <a:ext uri="{FF2B5EF4-FFF2-40B4-BE49-F238E27FC236}">
                <a16:creationId xmlns:a16="http://schemas.microsoft.com/office/drawing/2014/main" id="{D71C7BE3-F19C-4AE3-8901-86D6F7542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05400"/>
            <a:ext cx="5314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5" name="Sentence field right">
            <a:extLst xmlns:a="http://schemas.openxmlformats.org/drawingml/2006/main">
              <a:ext uri="{FF2B5EF4-FFF2-40B4-BE49-F238E27FC236}">
                <a16:creationId xmlns:a16="http://schemas.microsoft.com/office/drawing/2014/main" id="{69A7C32D-4849-4BD7-A526-42E897514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05400"/>
            <a:ext cx="5314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6" name="Sentence left">
            <a:extLst xmlns:a="http://schemas.openxmlformats.org/drawingml/2006/main">
              <a:ext uri="{FF2B5EF4-FFF2-40B4-BE49-F238E27FC236}">
                <a16:creationId xmlns:a16="http://schemas.microsoft.com/office/drawing/2014/main" id="{225AF5C5-0F7A-4FC0-BE6D-543FC6AE9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62550"/>
            <a:ext cx="5219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>
                <a:solidFill>
                  <a:srgbClr val="101918"/>
                </a:solidFill>
                <a:latin typeface="Aptos"/>
                <a:ea typeface="Aptos"/>
                <a:cs typeface="Aptos"/>
              </a:rPr>
              <a:t>Audrey is sitting </a:t>
            </a:r>
            <a:r>
              <a:rPr sz="1700" b="1" i="1">
                <a:solidFill>
                  <a:srgbClr val="8A1A1E"/>
                </a:solidFill>
                <a:latin typeface="Georgia"/>
                <a:ea typeface="Georgia"/>
                <a:cs typeface="Georgia"/>
              </a:rPr>
              <a:t>opposite</a:t>
            </a:r>
            <a:r>
              <a:rPr sz="1700">
                <a:solidFill>
                  <a:srgbClr val="101918"/>
                </a:solidFill>
                <a:latin typeface="Aptos"/>
                <a:ea typeface="Aptos"/>
                <a:cs typeface="Aptos"/>
              </a:rPr>
              <a:t> Ben.</a:t>
            </a:r>
          </a:p>
        </p:txBody>
      </p:sp>
      <p:sp>
        <p:nvSpPr>
          <p:cNvPr id="47" name="Sentence right">
            <a:extLst xmlns:a="http://schemas.openxmlformats.org/drawingml/2006/main">
              <a:ext uri="{FF2B5EF4-FFF2-40B4-BE49-F238E27FC236}">
                <a16:creationId xmlns:a16="http://schemas.microsoft.com/office/drawing/2014/main" id="{79FD1A88-0CD6-49F4-AC62-F4C396346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5162550"/>
            <a:ext cx="5219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>
                <a:solidFill>
                  <a:srgbClr val="101918"/>
                </a:solidFill>
                <a:latin typeface="Aptos"/>
                <a:ea typeface="Aptos"/>
                <a:cs typeface="Aptos"/>
              </a:rPr>
              <a:t>Ben and Jerry are </a:t>
            </a:r>
            <a:r>
              <a:rPr sz="1700" b="1" i="1">
                <a:solidFill>
                  <a:srgbClr val="8A1A1E"/>
                </a:solidFill>
                <a:latin typeface="Georgia"/>
                <a:ea typeface="Georgia"/>
                <a:cs typeface="Georgia"/>
              </a:rPr>
              <a:t>facing</a:t>
            </a:r>
            <a:r>
              <a:rPr sz="1700">
                <a:solidFill>
                  <a:srgbClr val="101918"/>
                </a:solidFill>
                <a:latin typeface="Aptos"/>
                <a:ea typeface="Aptos"/>
                <a:cs typeface="Aptos"/>
              </a:rPr>
              <a:t> each other.</a:t>
            </a:r>
          </a:p>
        </p:txBody>
      </p:sp>
      <p:sp>
        <p:nvSpPr>
          <p:cNvPr id="51" name="Clean emblem background">
            <a:extLst xmlns:a="http://schemas.openxmlformats.org/drawingml/2006/main">
              <a:ext uri="{FF2B5EF4-FFF2-40B4-BE49-F238E27FC236}">
                <a16:creationId xmlns:a16="http://schemas.microsoft.com/office/drawing/2014/main" id="{E0392528-9AE6-4BF0-AA13-AEE368E4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6010275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a788a7f14d4afd">
            <a:extLst>
              <a:ext uri="{96DAC541-7B7A-43D3-8B79-37D633B846F1}">
                <asvg:svgBlip xmlns:asvg="http://schemas.microsoft.com/office/drawing/2016/SVG/main" r:embed="Rb122ab3a295d4ba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829300" y="6048375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56" name="Cover emblem clean background">
            <a:extLst xmlns:a="http://schemas.openxmlformats.org/drawingml/2006/main">
              <a:ext uri="{FF2B5EF4-FFF2-40B4-BE49-F238E27FC236}">
                <a16:creationId xmlns:a16="http://schemas.microsoft.com/office/drawing/2014/main" id="{FAED55CC-5257-4FB2-B921-BEB0528F1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6010275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d5bc9a4fcc4ce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29300" y="6048375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62" name="Slide 9 opposite artwork backing">
            <a:extLst xmlns:a="http://schemas.openxmlformats.org/drawingml/2006/main">
              <a:ext uri="{FF2B5EF4-FFF2-40B4-BE49-F238E27FC236}">
                <a16:creationId xmlns:a16="http://schemas.microsoft.com/office/drawing/2014/main" id="{AAC06A2A-E881-4051-B4D4-00448251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52197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Slide 9 facing artwork backing">
            <a:extLst xmlns:a="http://schemas.openxmlformats.org/drawingml/2006/main">
              <a:ext uri="{FF2B5EF4-FFF2-40B4-BE49-F238E27FC236}">
                <a16:creationId xmlns:a16="http://schemas.microsoft.com/office/drawing/2014/main" id="{6FC362BD-C5B0-423C-8B70-B92454190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76400"/>
            <a:ext cx="52197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Slide 9 caption backing left">
            <a:extLst xmlns:a="http://schemas.openxmlformats.org/drawingml/2006/main">
              <a:ext uri="{FF2B5EF4-FFF2-40B4-BE49-F238E27FC236}">
                <a16:creationId xmlns:a16="http://schemas.microsoft.com/office/drawing/2014/main" id="{105F139F-5E96-42E5-8718-55C78B7A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05400"/>
            <a:ext cx="5314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Slide 9 caption backing right">
            <a:extLst xmlns:a="http://schemas.openxmlformats.org/drawingml/2006/main">
              <a:ext uri="{FF2B5EF4-FFF2-40B4-BE49-F238E27FC236}">
                <a16:creationId xmlns:a16="http://schemas.microsoft.com/office/drawing/2014/main" id="{FD7240BD-39F8-42F0-9784-5F5225170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05400"/>
            <a:ext cx="5314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Slide 9 caption left">
            <a:extLst xmlns:a="http://schemas.openxmlformats.org/drawingml/2006/main">
              <a:ext uri="{FF2B5EF4-FFF2-40B4-BE49-F238E27FC236}">
                <a16:creationId xmlns:a16="http://schemas.microsoft.com/office/drawing/2014/main" id="{E87DF76E-F145-484E-90EC-A7C9AB2B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62550"/>
            <a:ext cx="5219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>
                <a:solidFill>
                  <a:srgbClr val="182E43"/>
                </a:solidFill>
                <a:latin typeface="Aptos"/>
                <a:ea typeface="Aptos"/>
                <a:cs typeface="Aptos"/>
              </a:defRPr>
            </a:pPr>
            <a:r>
              <a:rPr sz="1700">
                <a:solidFill>
                  <a:srgbClr val="182E43"/>
                </a:solidFill>
                <a:latin typeface="Aptos"/>
                <a:ea typeface="Aptos"/>
                <a:cs typeface="Aptos"/>
              </a:rPr>
              <a:t>Nancy is sitting </a:t>
            </a:r>
            <a:r>
              <a:rPr sz="1700" b="1" i="1">
                <a:solidFill>
                  <a:srgbClr val="182E43"/>
                </a:solidFill>
                <a:latin typeface="Aptos"/>
                <a:ea typeface="Aptos"/>
                <a:cs typeface="Aptos"/>
              </a:rPr>
              <a:t>opposite</a:t>
            </a:r>
            <a:r>
              <a:rPr sz="1700">
                <a:solidFill>
                  <a:srgbClr val="182E43"/>
                </a:solidFill>
                <a:latin typeface="Aptos"/>
                <a:ea typeface="Aptos"/>
                <a:cs typeface="Aptos"/>
              </a:rPr>
              <a:t> Steve.</a:t>
            </a:r>
          </a:p>
        </p:txBody>
      </p:sp>
      <p:sp>
        <p:nvSpPr>
          <p:cNvPr id="69" name="Slide 9 caption right">
            <a:extLst xmlns:a="http://schemas.openxmlformats.org/drawingml/2006/main">
              <a:ext uri="{FF2B5EF4-FFF2-40B4-BE49-F238E27FC236}">
                <a16:creationId xmlns:a16="http://schemas.microsoft.com/office/drawing/2014/main" id="{5115D347-83A7-4D80-8C76-B59CEBB46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5162550"/>
            <a:ext cx="5219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>
                <a:solidFill>
                  <a:srgbClr val="182E43"/>
                </a:solidFill>
                <a:latin typeface="Aptos"/>
                <a:ea typeface="Aptos"/>
                <a:cs typeface="Aptos"/>
              </a:defRPr>
            </a:pPr>
            <a:r>
              <a:rPr sz="1700">
                <a:solidFill>
                  <a:srgbClr val="182E43"/>
                </a:solidFill>
                <a:latin typeface="Aptos"/>
                <a:ea typeface="Aptos"/>
                <a:cs typeface="Aptos"/>
              </a:rPr>
              <a:t>Hopper and Joyce are </a:t>
            </a:r>
            <a:r>
              <a:rPr sz="1700" b="1" i="1">
                <a:solidFill>
                  <a:srgbClr val="182E43"/>
                </a:solidFill>
                <a:latin typeface="Aptos"/>
                <a:ea typeface="Aptos"/>
                <a:cs typeface="Aptos"/>
              </a:rPr>
              <a:t>facing</a:t>
            </a:r>
            <a:r>
              <a:rPr sz="1700">
                <a:solidFill>
                  <a:srgbClr val="182E43"/>
                </a:solidFill>
                <a:latin typeface="Aptos"/>
                <a:ea typeface="Aptos"/>
                <a:cs typeface="Aptos"/>
              </a:rPr>
              <a:t> each other.</a:t>
            </a:r>
          </a:p>
        </p:txBody>
      </p:sp>
      <p:sp>
        <p:nvSpPr>
          <p:cNvPr id="77" name="Audrey opposite Ben back view backing">
            <a:extLst xmlns:a="http://schemas.openxmlformats.org/drawingml/2006/main">
              <a:ext uri="{FF2B5EF4-FFF2-40B4-BE49-F238E27FC236}">
                <a16:creationId xmlns:a16="http://schemas.microsoft.com/office/drawing/2014/main" id="{77E953F2-B15D-4B10-9F38-4C8D7A42A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52197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Albert facing Truman with authentic patch backing">
            <a:extLst xmlns:a="http://schemas.openxmlformats.org/drawingml/2006/main">
              <a:ext uri="{FF2B5EF4-FFF2-40B4-BE49-F238E27FC236}">
                <a16:creationId xmlns:a16="http://schemas.microsoft.com/office/drawing/2014/main" id="{E7F740AD-9B5E-47E6-8EF8-F3A7307A3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76400"/>
            <a:ext cx="52197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e7192ca3814aa7"/>
          <a:srcRect xmlns:a="http://schemas.openxmlformats.org/drawingml/2006/main" l="0" t="21155" r="0" b="211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496050" y="1676400"/>
            <a:ext cx="5219700" cy="3429000"/>
          </a:xfrm>
          <a:prstGeom xmlns:a="http://schemas.openxmlformats.org/drawingml/2006/main" prst="rect">
            <a:avLst/>
          </a:prstGeom>
        </p:spPr>
      </p:pic>
      <p:sp>
        <p:nvSpPr>
          <p:cNvPr id="89" name="Photo-approved Audrey opposite backing">
            <a:extLst xmlns:a="http://schemas.openxmlformats.org/drawingml/2006/main">
              <a:ext uri="{FF2B5EF4-FFF2-40B4-BE49-F238E27FC236}">
                <a16:creationId xmlns:a16="http://schemas.microsoft.com/office/drawing/2014/main" id="{AC9DC963-8DE0-447C-B8E2-2DE3F9BD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52197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Audrey pink sweater backing">
            <a:extLst xmlns:a="http://schemas.openxmlformats.org/drawingml/2006/main">
              <a:ext uri="{FF2B5EF4-FFF2-40B4-BE49-F238E27FC236}">
                <a16:creationId xmlns:a16="http://schemas.microsoft.com/office/drawing/2014/main" id="{C5938E6A-2D98-4248-8CFB-B27898E0A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52197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Audrey refined palette backing">
            <a:extLst xmlns:a="http://schemas.openxmlformats.org/drawingml/2006/main">
              <a:ext uri="{FF2B5EF4-FFF2-40B4-BE49-F238E27FC236}">
                <a16:creationId xmlns:a16="http://schemas.microsoft.com/office/drawing/2014/main" id="{28FA8BE2-FEE6-42AF-9536-1D692E9A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52197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Audrey improved likeness backing">
            <a:extLst xmlns:a="http://schemas.openxmlformats.org/drawingml/2006/main">
              <a:ext uri="{FF2B5EF4-FFF2-40B4-BE49-F238E27FC236}">
                <a16:creationId xmlns:a16="http://schemas.microsoft.com/office/drawing/2014/main" id="{504DBA56-50C1-4764-967E-AD753DF64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52197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a272c4f1e340c8"/>
          <a:srcRect xmlns:a="http://schemas.openxmlformats.org/drawingml/2006/main" l="0" t="21155" r="0" b="211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" y="1676400"/>
            <a:ext cx="5219700" cy="3429000"/>
          </a:xfrm>
          <a:prstGeom xmlns:a="http://schemas.openxmlformats.org/drawingml/2006/main" prst="rect">
            <a:avLst/>
          </a:prstGeom>
        </p:spPr>
      </p:pic>
      <p:sp>
        <p:nvSpPr>
          <p:cNvPr id="139" name="Basic course header clean backing">
            <a:extLst xmlns:a="http://schemas.openxmlformats.org/drawingml/2006/main">
              <a:ext uri="{FF2B5EF4-FFF2-40B4-BE49-F238E27FC236}">
                <a16:creationId xmlns:a16="http://schemas.microsoft.com/office/drawing/2014/main" id="{A15A764B-3E59-4704-A6AD-AB5134B7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"/>
            <a:ext cx="32861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Basic course running header">
            <a:extLst xmlns:a="http://schemas.openxmlformats.org/drawingml/2006/main">
              <a:ext uri="{FF2B5EF4-FFF2-40B4-BE49-F238E27FC236}">
                <a16:creationId xmlns:a16="http://schemas.microsoft.com/office/drawing/2014/main" id="{C51FA67C-4F1A-4D76-B17F-46E1868A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82E43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82E43"/>
                </a:solidFill>
                <a:latin typeface="Aptos"/>
                <a:ea typeface="Aptos"/>
                <a:cs typeface="Aptos"/>
              </a:rPr>
              <a:t>FORBES ENGLISH • PREPOSITIONS</a:t>
            </a:r>
          </a:p>
        </p:txBody>
      </p:sp>
      <p:sp>
        <p:nvSpPr>
          <p:cNvPr id="141" name="Usage note left backing">
            <a:extLst xmlns:a="http://schemas.openxmlformats.org/drawingml/2006/main">
              <a:ext uri="{FF2B5EF4-FFF2-40B4-BE49-F238E27FC236}">
                <a16:creationId xmlns:a16="http://schemas.microsoft.com/office/drawing/2014/main" id="{4A93FE03-B5DF-47BA-A612-8BE50301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76900"/>
            <a:ext cx="53149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Usage note left">
            <a:extLst xmlns:a="http://schemas.openxmlformats.org/drawingml/2006/main">
              <a:ext uri="{FF2B5EF4-FFF2-40B4-BE49-F238E27FC236}">
                <a16:creationId xmlns:a16="http://schemas.microsoft.com/office/drawing/2014/main" id="{A5C6A3EF-7FB4-405C-ABE7-CB56D2C5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516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 i="0">
                <a:solidFill>
                  <a:srgbClr val="505653"/>
                </a:solidFill>
                <a:latin typeface="Aptos"/>
                <a:ea typeface="Aptos"/>
                <a:cs typeface="Aptos"/>
              </a:rPr>
              <a:t>Use opposite for positions on different sides of a space.</a:t>
            </a:r>
          </a:p>
        </p:txBody>
      </p:sp>
      <p:sp>
        <p:nvSpPr>
          <p:cNvPr id="143" name="Usage note right backing">
            <a:extLst xmlns:a="http://schemas.openxmlformats.org/drawingml/2006/main">
              <a:ext uri="{FF2B5EF4-FFF2-40B4-BE49-F238E27FC236}">
                <a16:creationId xmlns:a16="http://schemas.microsoft.com/office/drawing/2014/main" id="{A5B0110B-DB1A-4B9F-87E9-0D666F31E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676900"/>
            <a:ext cx="53149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Usage note right">
            <a:extLst xmlns:a="http://schemas.openxmlformats.org/drawingml/2006/main">
              <a:ext uri="{FF2B5EF4-FFF2-40B4-BE49-F238E27FC236}">
                <a16:creationId xmlns:a16="http://schemas.microsoft.com/office/drawing/2014/main" id="{8EC7BC7F-D38D-4162-8547-31DD6617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715000"/>
            <a:ext cx="516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 i="0">
                <a:solidFill>
                  <a:srgbClr val="505653"/>
                </a:solidFill>
                <a:latin typeface="Aptos"/>
                <a:ea typeface="Aptos"/>
                <a:cs typeface="Aptos"/>
              </a:rPr>
              <a:t>Use facing when people or things are turned towards each other.</a:t>
            </a:r>
          </a:p>
        </p:txBody>
      </p:sp>
      <p:sp>
        <p:nvSpPr>
          <p:cNvPr id="158" name="Italic usage note left backing">
            <a:extLst xmlns:a="http://schemas.openxmlformats.org/drawingml/2006/main">
              <a:ext uri="{FF2B5EF4-FFF2-40B4-BE49-F238E27FC236}">
                <a16:creationId xmlns:a16="http://schemas.microsoft.com/office/drawing/2014/main" id="{0B12BA13-DDE9-4EF5-8279-0BF9CE1DC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76900"/>
            <a:ext cx="53149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Italic usage note left">
            <a:extLst xmlns:a="http://schemas.openxmlformats.org/drawingml/2006/main">
              <a:ext uri="{FF2B5EF4-FFF2-40B4-BE49-F238E27FC236}">
                <a16:creationId xmlns:a16="http://schemas.microsoft.com/office/drawing/2014/main" id="{709F1DFE-6B84-45EC-A024-C762A7912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516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>
                <a:solidFill>
                  <a:srgbClr val="182E43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182E43"/>
                </a:solidFill>
                <a:latin typeface="Aptos"/>
                <a:ea typeface="Aptos"/>
                <a:cs typeface="Aptos"/>
              </a:rPr>
              <a:t>Use </a:t>
            </a:r>
            <a:r>
              <a:rPr sz="1600" b="1" i="1">
                <a:solidFill>
                  <a:srgbClr val="182E43"/>
                </a:solidFill>
                <a:latin typeface="Aptos"/>
                <a:ea typeface="Aptos"/>
                <a:cs typeface="Aptos"/>
              </a:rPr>
              <a:t>opposite</a:t>
            </a:r>
            <a:r>
              <a:rPr sz="1600">
                <a:solidFill>
                  <a:srgbClr val="182E43"/>
                </a:solidFill>
                <a:latin typeface="Aptos"/>
                <a:ea typeface="Aptos"/>
                <a:cs typeface="Aptos"/>
              </a:rPr>
              <a:t> for positions on different sides of a space.</a:t>
            </a:r>
          </a:p>
        </p:txBody>
      </p:sp>
      <p:sp>
        <p:nvSpPr>
          <p:cNvPr id="160" name="Italic usage note right backing">
            <a:extLst xmlns:a="http://schemas.openxmlformats.org/drawingml/2006/main">
              <a:ext uri="{FF2B5EF4-FFF2-40B4-BE49-F238E27FC236}">
                <a16:creationId xmlns:a16="http://schemas.microsoft.com/office/drawing/2014/main" id="{724D2572-B4C5-497D-A8AD-F81EF33D0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676900"/>
            <a:ext cx="53149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Italic usage note right">
            <a:extLst xmlns:a="http://schemas.openxmlformats.org/drawingml/2006/main">
              <a:ext uri="{FF2B5EF4-FFF2-40B4-BE49-F238E27FC236}">
                <a16:creationId xmlns:a16="http://schemas.microsoft.com/office/drawing/2014/main" id="{2019E4BE-97E5-44D2-8B41-D6F7061E9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715000"/>
            <a:ext cx="516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9506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>
                <a:solidFill>
                  <a:srgbClr val="182E43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182E43"/>
                </a:solidFill>
                <a:latin typeface="Aptos"/>
                <a:ea typeface="Aptos"/>
                <a:cs typeface="Aptos"/>
              </a:rPr>
              <a:t>Use </a:t>
            </a:r>
            <a:r>
              <a:rPr sz="1600" b="1" i="1">
                <a:solidFill>
                  <a:srgbClr val="182E43"/>
                </a:solidFill>
                <a:latin typeface="Aptos"/>
                <a:ea typeface="Aptos"/>
                <a:cs typeface="Aptos"/>
              </a:rPr>
              <a:t>facing</a:t>
            </a:r>
            <a:r>
              <a:rPr sz="1600">
                <a:solidFill>
                  <a:srgbClr val="182E43"/>
                </a:solidFill>
                <a:latin typeface="Aptos"/>
                <a:ea typeface="Aptos"/>
                <a:cs typeface="Aptos"/>
              </a:rPr>
              <a:t> when people or things are turned towards each other.</a:t>
            </a:r>
          </a:p>
        </p:txBody>
      </p:sp>
      <p:sp>
        <p:nvSpPr>
          <p:cNvPr id="162" name="Forbes English footer clean backing">
            <a:extLst xmlns:a="http://schemas.openxmlformats.org/drawingml/2006/main">
              <a:ext uri="{FF2B5EF4-FFF2-40B4-BE49-F238E27FC236}">
                <a16:creationId xmlns:a16="http://schemas.microsoft.com/office/drawing/2014/main" id="{FAE1EC2C-05D9-48DC-8815-E22F18102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76975"/>
            <a:ext cx="9144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Forbes English footer wordmark">
            <a:extLst xmlns:a="http://schemas.openxmlformats.org/drawingml/2006/main">
              <a:ext uri="{FF2B5EF4-FFF2-40B4-BE49-F238E27FC236}">
                <a16:creationId xmlns:a16="http://schemas.microsoft.com/office/drawing/2014/main" id="{A4037DA6-E55A-4ABB-A3BC-6396FDD6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15075"/>
            <a:ext cx="733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i="0">
                <a:solidFill>
                  <a:srgbClr val="101918"/>
                </a:solidFill>
                <a:latin typeface="Georgia"/>
                <a:ea typeface="Georgia"/>
                <a:cs typeface="Georgia"/>
              </a:rPr>
              <a:t>Forbes</a:t>
            </a:r>
          </a:p>
        </p:txBody>
      </p:sp>
      <p:sp>
        <p:nvSpPr>
          <p:cNvPr id="164" name="Forbes English footer second line">
            <a:extLst xmlns:a="http://schemas.openxmlformats.org/drawingml/2006/main">
              <a:ext uri="{FF2B5EF4-FFF2-40B4-BE49-F238E27FC236}">
                <a16:creationId xmlns:a16="http://schemas.microsoft.com/office/drawing/2014/main" id="{E7BBE8DB-94CB-4496-BC90-B38A70390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477000"/>
            <a:ext cx="7334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50" b="1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ENGLISH</a:t>
            </a:r>
          </a:p>
        </p:txBody>
      </p:sp>
    </p:spTree>
    <p:extLst>
      <p:ext uri="{BB962C8B-B14F-4D97-AF65-F5344CB8AC3E}">
        <p14:creationId xmlns:p14="http://schemas.microsoft.com/office/powerpoint/2010/main" val="31907714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D9E1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9446346-B5E3-4F24-90C2-1F49F6954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219456"/>
            <a:ext cx="21031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1350" b="1">
                <a:solidFill>
                  <a:srgbClr val="90111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0111C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E9B7532-C62B-46EA-9379-947F3809B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1168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01918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1ADC648-4C9E-45DF-B395-FFB17A298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10312"/>
            <a:ext cx="297180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00" b="1">
                <a:solidFill>
                  <a:srgbClr val="182E4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E43"/>
                </a:solidFill>
                <a:latin typeface="Aptos"/>
                <a:ea typeface="Aptos"/>
                <a:cs typeface="Aptos"/>
              </a:rPr>
              <a:t>FORBES ENGLISH • PREPOSITIONS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8F3BE63-079E-45AD-8D0F-1011EB96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390" y="502920"/>
            <a:ext cx="0" cy="52760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7390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D6315FDC-019D-4AB4-9436-7F93E2D3C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7666" y="3136392"/>
            <a:ext cx="155448" cy="155448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6571D"/>
          </a:solidFill>
          <a:ln xmlns:a="http://schemas.openxmlformats.org/drawingml/2006/main" w="12700">
            <a:solidFill>
              <a:srgbClr val="8A1A1E">
                <a:alpha val="0"/>
              </a:srgbClr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36D7A27-D524-49B7-A965-43433808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1520"/>
            <a:ext cx="507492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300" b="1">
                <a:ln w="10478">
                  <a:solidFill>
                    <a:srgbClr val="303437"/>
                  </a:solidFill>
                  <a:prstDash val="solid"/>
                </a:ln>
                <a:pattFill prst="narHorz">
                  <a:fgClr>
                    <a:srgbClr val="2F3336"/>
                  </a:fgClr>
                  <a:bgClr>
                    <a:srgbClr val="B7B2AA"/>
                  </a:bgClr>
                </a:pattFill>
                <a:latin typeface="Noto Sans Display Condensed"/>
                <a:ea typeface="Noto Sans Display Condensed"/>
                <a:cs typeface="Noto Sans Display Condensed"/>
              </a:rPr>
              <a:t>INSIDE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2F01DA6-813D-4B0D-B423-6B991084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731520"/>
            <a:ext cx="507492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300" b="1">
                <a:ln w="10478">
                  <a:solidFill>
                    <a:srgbClr val="303437"/>
                  </a:solidFill>
                  <a:prstDash val="solid"/>
                </a:ln>
                <a:pattFill prst="narHorz">
                  <a:fgClr>
                    <a:srgbClr val="2F3336"/>
                  </a:fgClr>
                  <a:bgClr>
                    <a:srgbClr val="B7B2AA"/>
                  </a:bgClr>
                </a:pattFill>
                <a:latin typeface="Noto Sans Display Condensed"/>
                <a:ea typeface="Noto Sans Display Condensed"/>
                <a:cs typeface="Noto Sans Display Condensed"/>
              </a:rPr>
              <a:t>OUTSIDE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BF3DE6EA-D606-409E-97A8-55B4A4B2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1444752"/>
            <a:ext cx="5321808" cy="3547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0DF">
              <a:alpha val="96000"/>
            </a:srgbClr>
          </a:solidFill>
          <a:ln xmlns:a="http://schemas.openxmlformats.org/drawingml/2006/main" w="13335">
            <a:solidFill>
              <a:srgbClr val="8A1A1E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BA7D1A9-D3EE-42F8-8B0E-FED6C4464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1645920"/>
            <a:ext cx="4882896" cy="3145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20">
                <a:solidFill>
                  <a:srgbClr val="101918"/>
                </a:solidFill>
                <a:latin typeface="Aptos"/>
                <a:ea typeface="Aptos"/>
                <a:cs typeface="Aptos"/>
              </a:rPr>
              <a:t>IMAGE SLOT</a:t>
            </a:r>
          </a:p>
          <a:p xmlns:a="http://schemas.openxmlformats.org/drawingml/2006/main">
            <a:pPr marL="0" indent="0" algn="ctr">
              <a:buNone/>
            </a:pPr>
          </a:p>
          <a:p xmlns:a="http://schemas.openxmlformats.org/drawingml/2006/main">
            <a:pPr marL="0" indent="0" algn="ctr">
              <a:buNone/>
            </a:pPr>
            <a:r>
              <a:rPr sz="1320">
                <a:solidFill>
                  <a:srgbClr val="101918"/>
                </a:solidFill>
                <a:latin typeface="Aptos"/>
                <a:ea typeface="Aptos"/>
                <a:cs typeface="Aptos"/>
              </a:rPr>
              <a:t>Dr Jacoby inside his office. Colourful glasses, Hawaiian shirt, tapes or desk props. Room boundaries should be visible.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0DE8BAE4-A418-406A-8CBE-CBF0784EC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1444752"/>
            <a:ext cx="5321808" cy="3547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0DF">
              <a:alpha val="96000"/>
            </a:srgbClr>
          </a:solidFill>
          <a:ln xmlns:a="http://schemas.openxmlformats.org/drawingml/2006/main" w="13335">
            <a:solidFill>
              <a:srgbClr val="263C32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3E03441-D9F4-4707-9097-78B1AB41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1645920"/>
            <a:ext cx="4882896" cy="3145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20">
                <a:solidFill>
                  <a:srgbClr val="101918"/>
                </a:solidFill>
                <a:latin typeface="Aptos"/>
                <a:ea typeface="Aptos"/>
                <a:cs typeface="Aptos"/>
              </a:rPr>
              <a:t>IMAGE SLOT</a:t>
            </a:r>
          </a:p>
          <a:p xmlns:a="http://schemas.openxmlformats.org/drawingml/2006/main">
            <a:pPr marL="0" indent="0" algn="ctr">
              <a:buNone/>
            </a:pPr>
          </a:p>
          <a:p xmlns:a="http://schemas.openxmlformats.org/drawingml/2006/main">
            <a:pPr marL="0" indent="0" algn="ctr">
              <a:buNone/>
            </a:pPr>
            <a:r>
              <a:rPr sz="1320">
                <a:solidFill>
                  <a:srgbClr val="101918"/>
                </a:solidFill>
                <a:latin typeface="Aptos"/>
                <a:ea typeface="Aptos"/>
                <a:cs typeface="Aptos"/>
              </a:rPr>
              <a:t>Sarah Palmer or Donna outside the Palmer house. Exterior wall, porch or doorway must clearly show the character is not indoors.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C3C7382-B127-4E4D-A924-A5BD3EBA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5212080"/>
            <a:ext cx="510235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>
                <a:solidFill>
                  <a:srgbClr val="101918"/>
                </a:solidFill>
                <a:latin typeface="Aptos"/>
                <a:ea typeface="Aptos"/>
                <a:cs typeface="Aptos"/>
              </a:rPr>
              <a:t>Dr Jacoby is </a:t>
            </a:r>
            <a:r>
              <a:rPr sz="1700" b="1" i="1">
                <a:solidFill>
                  <a:srgbClr val="8A1A1E"/>
                </a:solidFill>
                <a:latin typeface="Georgia"/>
                <a:ea typeface="Georgia"/>
                <a:cs typeface="Georgia"/>
              </a:rPr>
              <a:t>inside</a:t>
            </a:r>
            <a:r>
              <a:rPr sz="1700">
                <a:solidFill>
                  <a:srgbClr val="101918"/>
                </a:solidFill>
                <a:latin typeface="Aptos"/>
                <a:ea typeface="Aptos"/>
                <a:cs typeface="Aptos"/>
              </a:rPr>
              <a:t> his office.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3942698-8D7F-47D8-9E91-226A4B305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384" y="5212080"/>
            <a:ext cx="510235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>
                <a:solidFill>
                  <a:srgbClr val="101918"/>
                </a:solidFill>
                <a:latin typeface="Aptos"/>
                <a:ea typeface="Aptos"/>
                <a:cs typeface="Aptos"/>
              </a:rPr>
              <a:t>Donna is waiting </a:t>
            </a:r>
            <a:r>
              <a:rPr sz="1700" b="1" i="1">
                <a:solidFill>
                  <a:srgbClr val="263C32"/>
                </a:solidFill>
                <a:latin typeface="Georgia"/>
                <a:ea typeface="Georgia"/>
                <a:cs typeface="Georgia"/>
              </a:rPr>
              <a:t>outside</a:t>
            </a:r>
            <a:r>
              <a:rPr sz="1700">
                <a:solidFill>
                  <a:srgbClr val="101918"/>
                </a:solidFill>
                <a:latin typeface="Aptos"/>
                <a:ea typeface="Aptos"/>
                <a:cs typeface="Aptos"/>
              </a:rPr>
              <a:t> the house.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978A668-E0EF-4572-AB98-97E76FC9B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632704"/>
            <a:ext cx="4754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20" b="1">
                <a:solidFill>
                  <a:srgbClr val="8A1A1E"/>
                </a:solidFill>
                <a:latin typeface="Roboto Condensed"/>
                <a:ea typeface="Roboto Condensed"/>
                <a:cs typeface="Roboto Condensed"/>
              </a:rPr>
              <a:t>INSIDE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C8F9E776-2B94-465D-9BE6-BF2CA5B4D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879592"/>
            <a:ext cx="4754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80" i="1">
                <a:solidFill>
                  <a:srgbClr val="69675E"/>
                </a:solidFill>
                <a:latin typeface="Georgia"/>
                <a:ea typeface="Georgia"/>
                <a:cs typeface="Georgia"/>
              </a:rPr>
              <a:t>within the limits of a place or container.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539CD9E-62DA-4C04-A23F-8310CDE8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5632704"/>
            <a:ext cx="4754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20" b="1">
                <a:solidFill>
                  <a:srgbClr val="263C32"/>
                </a:solidFill>
                <a:latin typeface="Roboto Condensed"/>
                <a:ea typeface="Roboto Condensed"/>
                <a:cs typeface="Roboto Condensed"/>
              </a:rPr>
              <a:t>OUTSIDE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6B6E5DB-98A4-457B-ADF7-4129EA91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5879592"/>
            <a:ext cx="4754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80" i="1">
                <a:solidFill>
                  <a:srgbClr val="69675E"/>
                </a:solidFill>
                <a:latin typeface="Georgia"/>
                <a:ea typeface="Georgia"/>
                <a:cs typeface="Georgia"/>
              </a:rPr>
              <a:t>not within the limits of a place or building.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3A951820-535D-493F-9BBE-FF2DDA0F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238875"/>
            <a:ext cx="538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7390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27D0AC3A-9660-40F9-B9BD-4C44B1123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6238875"/>
            <a:ext cx="538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7390"/>
            </a:solidFill>
            <a:prstDash val="solid"/>
          </a:ln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A2F13D45-6704-4189-80C6-B44ADFD8F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6382512"/>
            <a:ext cx="228600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HAWKINS FIELD GUIDE</a:t>
            </a:r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A16D9F4B-B6CB-47D8-85E7-92A8E63BC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6382512"/>
            <a:ext cx="2852928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50" b="1">
                <a:solidFill>
                  <a:srgbClr val="101918"/>
                </a:solidFill>
                <a:latin typeface="Roboto Condensed"/>
                <a:ea typeface="Roboto Condensed"/>
                <a:cs typeface="Roboto Condensed"/>
              </a:rPr>
              <a:t/>
            </a:r>
          </a:p>
        </p:txBody>
      </p:sp>
      <p:sp>
        <p:nvSpPr>
          <p:cNvPr id="25" name="Slide 4 system background">
            <a:extLst xmlns:a="http://schemas.openxmlformats.org/drawingml/2006/main">
              <a:ext uri="{FF2B5EF4-FFF2-40B4-BE49-F238E27FC236}">
                <a16:creationId xmlns:a16="http://schemas.microsoft.com/office/drawing/2014/main" id="{BE67CA8C-E402-42C3-9BF5-AF10BFE3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D0D83E2A-B7D3-4889-978C-5F948307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219456"/>
            <a:ext cx="210312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777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90111C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90111C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27" name="Header separator">
            <a:extLst xmlns:a="http://schemas.openxmlformats.org/drawingml/2006/main">
              <a:ext uri="{FF2B5EF4-FFF2-40B4-BE49-F238E27FC236}">
                <a16:creationId xmlns:a16="http://schemas.microsoft.com/office/drawing/2014/main" id="{5AE9440D-10D5-468C-B491-6C5E5D0D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1168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01918"/>
            </a:solidFill>
            <a:prstDash val="solid"/>
          </a:ln>
        </p:spPr>
      </p:sp>
      <p:sp>
        <p:nvSpPr>
          <p:cNvPr id="28" name="Running header">
            <a:extLst xmlns:a="http://schemas.openxmlformats.org/drawingml/2006/main">
              <a:ext uri="{FF2B5EF4-FFF2-40B4-BE49-F238E27FC236}">
                <a16:creationId xmlns:a16="http://schemas.microsoft.com/office/drawing/2014/main" id="{16C5C0D4-1320-405A-9C07-84CBC938B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10312"/>
            <a:ext cx="2971800" cy="210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82E43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82E43"/>
                </a:solidFill>
                <a:latin typeface="Aptos"/>
                <a:ea typeface="Aptos"/>
                <a:cs typeface="Aptos"/>
              </a:rPr>
              <a:t>FORBES ENGLISH • PREPOSITIONS</a:t>
            </a:r>
          </a:p>
        </p:txBody>
      </p:sp>
      <p:sp>
        <p:nvSpPr>
          <p:cNvPr id="29" name="Centre divider">
            <a:extLst xmlns:a="http://schemas.openxmlformats.org/drawingml/2006/main">
              <a:ext uri="{FF2B5EF4-FFF2-40B4-BE49-F238E27FC236}">
                <a16:creationId xmlns:a16="http://schemas.microsoft.com/office/drawing/2014/main" id="{B9C3AE93-CBFA-4285-A106-1C9BA450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429" y="502920"/>
            <a:ext cx="0" cy="52760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7390"/>
            </a:solidFill>
            <a:prstDash val="solid"/>
          </a:ln>
        </p:spPr>
      </p:sp>
      <p:sp>
        <p:nvSpPr>
          <p:cNvPr id="30" name="Centre diamond">
            <a:extLst xmlns:a="http://schemas.openxmlformats.org/drawingml/2006/main">
              <a:ext uri="{FF2B5EF4-FFF2-40B4-BE49-F238E27FC236}">
                <a16:creationId xmlns:a16="http://schemas.microsoft.com/office/drawing/2014/main" id="{0B1F2FE8-5AFD-47B4-83A4-B172A28E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7705" y="3136392"/>
            <a:ext cx="155448" cy="155448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1073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arget title left">
            <a:extLst xmlns:a="http://schemas.openxmlformats.org/drawingml/2006/main">
              <a:ext uri="{FF2B5EF4-FFF2-40B4-BE49-F238E27FC236}">
                <a16:creationId xmlns:a16="http://schemas.microsoft.com/office/drawing/2014/main" id="{B17CE517-1761-474E-8488-35533593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1520"/>
            <a:ext cx="5074920" cy="658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300" b="1">
                <a:solidFill>
                  <a:srgbClr val="C9C5BD"/>
                </a:solidFill>
                <a:latin typeface="Noto Sans Display Condensed"/>
                <a:ea typeface="Noto Sans Display Condensed"/>
                <a:cs typeface="Noto Sans Display Condensed"/>
              </a:defRPr>
            </a:pPr>
            <a:r>
              <a:rPr sz="4300" b="1" i="0">
                <a:ln w="10478">
                  <a:solidFill>
                    <a:srgbClr val="303437"/>
                  </a:solidFill>
                  <a:prstDash val="solid"/>
                </a:ln>
                <a:solidFill>
                  <a:srgbClr val="C9C5BD"/>
                </a:solidFill>
                <a:latin typeface="Noto Sans Display Condensed"/>
                <a:ea typeface="Noto Sans Display Condensed"/>
                <a:cs typeface="Noto Sans Display Condensed"/>
              </a:rPr>
              <a:t>INSIDE</a:t>
            </a:r>
          </a:p>
        </p:txBody>
      </p:sp>
      <p:sp>
        <p:nvSpPr>
          <p:cNvPr id="32" name="Target title right">
            <a:extLst xmlns:a="http://schemas.openxmlformats.org/drawingml/2006/main">
              <a:ext uri="{FF2B5EF4-FFF2-40B4-BE49-F238E27FC236}">
                <a16:creationId xmlns:a16="http://schemas.microsoft.com/office/drawing/2014/main" id="{B1E98D5A-4CAA-4536-A01F-28667FC38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731520"/>
            <a:ext cx="5074920" cy="658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300" b="1">
                <a:solidFill>
                  <a:srgbClr val="C9C5BD"/>
                </a:solidFill>
                <a:latin typeface="Noto Sans Display Condensed"/>
                <a:ea typeface="Noto Sans Display Condensed"/>
                <a:cs typeface="Noto Sans Display Condensed"/>
              </a:defRPr>
            </a:pPr>
            <a:r>
              <a:rPr sz="4300" b="1" i="0">
                <a:ln w="10478">
                  <a:solidFill>
                    <a:srgbClr val="303437"/>
                  </a:solidFill>
                  <a:prstDash val="solid"/>
                </a:ln>
                <a:solidFill>
                  <a:srgbClr val="C9C5BD"/>
                </a:solidFill>
                <a:latin typeface="Noto Sans Display Condensed"/>
                <a:ea typeface="Noto Sans Display Condensed"/>
                <a:cs typeface="Noto Sans Display Condensed"/>
              </a:rPr>
              <a:t>OUTSIDE</a:t>
            </a:r>
          </a:p>
        </p:txBody>
      </p:sp>
      <p:sp>
        <p:nvSpPr>
          <p:cNvPr id="33" name="Footer line left">
            <a:extLst xmlns:a="http://schemas.openxmlformats.org/drawingml/2006/main">
              <a:ext uri="{FF2B5EF4-FFF2-40B4-BE49-F238E27FC236}">
                <a16:creationId xmlns:a16="http://schemas.microsoft.com/office/drawing/2014/main" id="{B7ED8233-5350-49A4-B797-0A87AB18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238875"/>
            <a:ext cx="538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7390"/>
            </a:solidFill>
            <a:prstDash val="solid"/>
          </a:ln>
        </p:spPr>
      </p:sp>
      <p:sp>
        <p:nvSpPr>
          <p:cNvPr id="34" name="Footer line right">
            <a:extLst xmlns:a="http://schemas.openxmlformats.org/drawingml/2006/main">
              <a:ext uri="{FF2B5EF4-FFF2-40B4-BE49-F238E27FC236}">
                <a16:creationId xmlns:a16="http://schemas.microsoft.com/office/drawing/2014/main" id="{3B438C42-47D0-4961-B456-2A23403BB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6238875"/>
            <a:ext cx="538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7390"/>
            </a:solidFill>
            <a:prstDash val="solid"/>
          </a:ln>
        </p:spPr>
      </p:sp>
      <p:pic>
        <p:nvPicPr>
          <p:cNvPr id="1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d97343603a42a2"/>
          <a:stretch xmlns:a="http://schemas.openxmlformats.org/drawingml/2006/main"/>
        </p:blipFill>
        <p:spPr>
          <a:xfrm xmlns:a="http://schemas.openxmlformats.org/drawingml/2006/main">
            <a:off x="5829300" y="6048375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36" name="Footer left">
            <a:extLst xmlns:a="http://schemas.openxmlformats.org/drawingml/2006/main">
              <a:ext uri="{FF2B5EF4-FFF2-40B4-BE49-F238E27FC236}">
                <a16:creationId xmlns:a16="http://schemas.microsoft.com/office/drawing/2014/main" id="{66B53E3D-6514-41CD-A580-1B955C8AC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3817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11111"/>
                </a:solidFill>
                <a:latin typeface="Aptos"/>
                <a:ea typeface="Aptos"/>
                <a:cs typeface="Aptos"/>
              </a:rPr>
              <a:t>HAWKINS FIELD GUIDE</a:t>
            </a:r>
          </a:p>
        </p:txBody>
      </p:sp>
      <p:sp>
        <p:nvSpPr>
          <p:cNvPr id="37" name="Footer course">
            <a:extLst xmlns:a="http://schemas.openxmlformats.org/drawingml/2006/main">
              <a:ext uri="{FF2B5EF4-FFF2-40B4-BE49-F238E27FC236}">
                <a16:creationId xmlns:a16="http://schemas.microsoft.com/office/drawing/2014/main" id="{08EB39C8-F815-4BD3-ADFC-85C941B2A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38175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 b="1" i="0">
                <a:solidFill>
                  <a:srgbClr val="101918"/>
                </a:solidFill>
                <a:latin typeface="Roboto Condensed"/>
                <a:ea typeface="Roboto Condensed"/>
                <a:cs typeface="Roboto Condensed"/>
              </a:rPr>
              <a:t/>
            </a:r>
          </a:p>
        </p:txBody>
      </p:sp>
      <p:pic>
        <p:nvPicPr>
          <p:cNvPr id="1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c9d2d3f552443d">
            <a:extLst>
              <a:ext uri="{96DAC541-7B7A-43D3-8B79-37D633B846F1}">
                <asvg:svgBlip xmlns:asvg="http://schemas.microsoft.com/office/drawing/2016/SVG/main" r:embed="Rd4daeef5cc224bf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144250" y="6267450"/>
            <a:ext cx="781050" cy="361950"/>
          </a:xfrm>
          <a:prstGeom xmlns:a="http://schemas.openxmlformats.org/drawingml/2006/main" prst="rect">
            <a:avLst/>
          </a:prstGeom>
        </p:spPr>
      </p:pic>
      <p:sp>
        <p:nvSpPr>
          <p:cNvPr id="40" name="Left image slot">
            <a:extLst xmlns:a="http://schemas.openxmlformats.org/drawingml/2006/main">
              <a:ext uri="{FF2B5EF4-FFF2-40B4-BE49-F238E27FC236}">
                <a16:creationId xmlns:a16="http://schemas.microsoft.com/office/drawing/2014/main" id="{D4BE336F-148A-497F-B1EE-10FDAAC7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52197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1" name="Right image slot">
            <a:extLst xmlns:a="http://schemas.openxmlformats.org/drawingml/2006/main">
              <a:ext uri="{FF2B5EF4-FFF2-40B4-BE49-F238E27FC236}">
                <a16:creationId xmlns:a16="http://schemas.microsoft.com/office/drawing/2014/main" id="{B138BDF6-20E1-4BC8-8C3C-7104A143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76400"/>
            <a:ext cx="52197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2" name="Left image brief">
            <a:extLst xmlns:a="http://schemas.openxmlformats.org/drawingml/2006/main">
              <a:ext uri="{FF2B5EF4-FFF2-40B4-BE49-F238E27FC236}">
                <a16:creationId xmlns:a16="http://schemas.microsoft.com/office/drawing/2014/main" id="{362CC8D8-6146-42CC-A1C6-78CAEC65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71750"/>
            <a:ext cx="4552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 i="0">
                <a:solidFill>
                  <a:srgbClr val="101918"/>
                </a:solidFill>
                <a:latin typeface="Aptos"/>
                <a:ea typeface="Aptos"/>
                <a:cs typeface="Aptos"/>
              </a:rPr>
              <a:t>Dr Jacoby is clearly enclosed inside his office.</a:t>
            </a:r>
          </a:p>
        </p:txBody>
      </p:sp>
      <p:sp>
        <p:nvSpPr>
          <p:cNvPr id="43" name="Right image brief">
            <a:extLst xmlns:a="http://schemas.openxmlformats.org/drawingml/2006/main">
              <a:ext uri="{FF2B5EF4-FFF2-40B4-BE49-F238E27FC236}">
                <a16:creationId xmlns:a16="http://schemas.microsoft.com/office/drawing/2014/main" id="{ACD4FA86-F4D6-481B-A9ED-6257C0B5E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571750"/>
            <a:ext cx="4552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 i="0">
                <a:solidFill>
                  <a:srgbClr val="101918"/>
                </a:solidFill>
                <a:latin typeface="Aptos"/>
                <a:ea typeface="Aptos"/>
                <a:cs typeface="Aptos"/>
              </a:rPr>
              <a:t>Donna stands outside the Palmer house.</a:t>
            </a:r>
          </a:p>
        </p:txBody>
      </p:sp>
      <p:sp>
        <p:nvSpPr>
          <p:cNvPr id="44" name="Sentence field left">
            <a:extLst xmlns:a="http://schemas.openxmlformats.org/drawingml/2006/main">
              <a:ext uri="{FF2B5EF4-FFF2-40B4-BE49-F238E27FC236}">
                <a16:creationId xmlns:a16="http://schemas.microsoft.com/office/drawing/2014/main" id="{FBBC3CF4-1523-49C2-9B01-AAE20F9CC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05400"/>
            <a:ext cx="5314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5" name="Sentence field right">
            <a:extLst xmlns:a="http://schemas.openxmlformats.org/drawingml/2006/main">
              <a:ext uri="{FF2B5EF4-FFF2-40B4-BE49-F238E27FC236}">
                <a16:creationId xmlns:a16="http://schemas.microsoft.com/office/drawing/2014/main" id="{B758D545-5B6D-4B5E-95DC-1756CF79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05400"/>
            <a:ext cx="5314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6" name="Sentence left">
            <a:extLst xmlns:a="http://schemas.openxmlformats.org/drawingml/2006/main">
              <a:ext uri="{FF2B5EF4-FFF2-40B4-BE49-F238E27FC236}">
                <a16:creationId xmlns:a16="http://schemas.microsoft.com/office/drawing/2014/main" id="{29784059-839F-4E97-9E24-3F47EAC4B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62550"/>
            <a:ext cx="5219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>
                <a:solidFill>
                  <a:srgbClr val="182E43"/>
                </a:solidFill>
                <a:latin typeface="Aptos"/>
                <a:ea typeface="Aptos"/>
                <a:cs typeface="Aptos"/>
              </a:defRPr>
            </a:pPr>
            <a:r>
              <a:rPr sz="1700">
                <a:solidFill>
                  <a:srgbClr val="182E43"/>
                </a:solidFill>
                <a:latin typeface="Aptos"/>
                <a:ea typeface="Aptos"/>
                <a:cs typeface="Aptos"/>
              </a:rPr>
              <a:t>Joyce is standing </a:t>
            </a:r>
            <a:r>
              <a:rPr sz="1700" b="1" i="1">
                <a:solidFill>
                  <a:srgbClr val="182E43"/>
                </a:solidFill>
                <a:latin typeface="Aptos"/>
                <a:ea typeface="Aptos"/>
                <a:cs typeface="Aptos"/>
              </a:rPr>
              <a:t>inside</a:t>
            </a:r>
            <a:r>
              <a:rPr sz="1700">
                <a:solidFill>
                  <a:srgbClr val="182E43"/>
                </a:solidFill>
                <a:latin typeface="Aptos"/>
                <a:ea typeface="Aptos"/>
                <a:cs typeface="Aptos"/>
              </a:rPr>
              <a:t> the house.</a:t>
            </a:r>
          </a:p>
        </p:txBody>
      </p:sp>
      <p:sp>
        <p:nvSpPr>
          <p:cNvPr id="47" name="Sentence right">
            <a:extLst xmlns:a="http://schemas.openxmlformats.org/drawingml/2006/main">
              <a:ext uri="{FF2B5EF4-FFF2-40B4-BE49-F238E27FC236}">
                <a16:creationId xmlns:a16="http://schemas.microsoft.com/office/drawing/2014/main" id="{C7317386-2C4B-41AB-856E-0E82A5D0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5162550"/>
            <a:ext cx="5219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>
                <a:solidFill>
                  <a:srgbClr val="182E43"/>
                </a:solidFill>
                <a:latin typeface="Aptos"/>
                <a:ea typeface="Aptos"/>
                <a:cs typeface="Aptos"/>
              </a:defRPr>
            </a:pPr>
            <a:r>
              <a:rPr sz="1700">
                <a:solidFill>
                  <a:srgbClr val="182E43"/>
                </a:solidFill>
                <a:latin typeface="Aptos"/>
                <a:ea typeface="Aptos"/>
                <a:cs typeface="Aptos"/>
              </a:rPr>
              <a:t>Hopper is standing </a:t>
            </a:r>
            <a:r>
              <a:rPr sz="1700" b="1" i="1">
                <a:solidFill>
                  <a:srgbClr val="182E43"/>
                </a:solidFill>
                <a:latin typeface="Aptos"/>
                <a:ea typeface="Aptos"/>
                <a:cs typeface="Aptos"/>
              </a:rPr>
              <a:t>outside</a:t>
            </a:r>
            <a:r>
              <a:rPr sz="1700">
                <a:solidFill>
                  <a:srgbClr val="182E43"/>
                </a:solidFill>
                <a:latin typeface="Aptos"/>
                <a:ea typeface="Aptos"/>
                <a:cs typeface="Aptos"/>
              </a:rPr>
              <a:t> the house.</a:t>
            </a:r>
          </a:p>
        </p:txBody>
      </p:sp>
      <p:sp>
        <p:nvSpPr>
          <p:cNvPr id="51" name="Clean emblem background">
            <a:extLst xmlns:a="http://schemas.openxmlformats.org/drawingml/2006/main">
              <a:ext uri="{FF2B5EF4-FFF2-40B4-BE49-F238E27FC236}">
                <a16:creationId xmlns:a16="http://schemas.microsoft.com/office/drawing/2014/main" id="{E13893D5-D9DA-4840-A532-515BED649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6010275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ef1a0325cc42cc">
            <a:extLst>
              <a:ext uri="{96DAC541-7B7A-43D3-8B79-37D633B846F1}">
                <asvg:svgBlip xmlns:asvg="http://schemas.microsoft.com/office/drawing/2016/SVG/main" r:embed="R95d91eb57a09447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829300" y="6048375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56" name="Cover emblem clean background">
            <a:extLst xmlns:a="http://schemas.openxmlformats.org/drawingml/2006/main">
              <a:ext uri="{FF2B5EF4-FFF2-40B4-BE49-F238E27FC236}">
                <a16:creationId xmlns:a16="http://schemas.microsoft.com/office/drawing/2014/main" id="{F46248EC-D072-42C1-AFB4-3CFA7DC8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6010275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d2f61df26c45a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29300" y="6048375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62" name="Dr Jacoby inside his office cream backing">
            <a:extLst xmlns:a="http://schemas.openxmlformats.org/drawingml/2006/main">
              <a:ext uri="{FF2B5EF4-FFF2-40B4-BE49-F238E27FC236}">
                <a16:creationId xmlns:a16="http://schemas.microsoft.com/office/drawing/2014/main" id="{2FEE4620-1570-408D-8CFD-2D9D2E632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52197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4902aa86e8493c"/>
          <a:srcRect xmlns:a="http://schemas.openxmlformats.org/drawingml/2006/main" l="0" t="650" r="0" b="6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476250" y="1676400"/>
            <a:ext cx="5219700" cy="3429000"/>
          </a:xfrm>
          <a:prstGeom xmlns:a="http://schemas.openxmlformats.org/drawingml/2006/main" prst="rect">
            <a:avLst/>
          </a:prstGeom>
        </p:spPr>
      </p:pic>
      <p:sp>
        <p:nvSpPr>
          <p:cNvPr id="64" name="Donna outside the Palmer house cream backing">
            <a:extLst xmlns:a="http://schemas.openxmlformats.org/drawingml/2006/main">
              <a:ext uri="{FF2B5EF4-FFF2-40B4-BE49-F238E27FC236}">
                <a16:creationId xmlns:a16="http://schemas.microsoft.com/office/drawing/2014/main" id="{B412D79E-FF97-42B3-95E1-0C02C2BD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76400"/>
            <a:ext cx="52197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Basic course header clean backing">
            <a:extLst xmlns:a="http://schemas.openxmlformats.org/drawingml/2006/main">
              <a:ext uri="{FF2B5EF4-FFF2-40B4-BE49-F238E27FC236}">
                <a16:creationId xmlns:a16="http://schemas.microsoft.com/office/drawing/2014/main" id="{A9B77175-2E75-4953-8B88-CCC537880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"/>
            <a:ext cx="32861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Basic course running header">
            <a:extLst xmlns:a="http://schemas.openxmlformats.org/drawingml/2006/main">
              <a:ext uri="{FF2B5EF4-FFF2-40B4-BE49-F238E27FC236}">
                <a16:creationId xmlns:a16="http://schemas.microsoft.com/office/drawing/2014/main" id="{DD5A2B53-BBB5-413E-8CEA-36F1E35E8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82E43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82E43"/>
                </a:solidFill>
                <a:latin typeface="Aptos"/>
                <a:ea typeface="Aptos"/>
                <a:cs typeface="Aptos"/>
              </a:rPr>
              <a:t>FORBES ENGLISH • PREPOSITIONS</a:t>
            </a:r>
          </a:p>
        </p:txBody>
      </p:sp>
      <p:sp>
        <p:nvSpPr>
          <p:cNvPr id="74" name="Usage note left backing">
            <a:extLst xmlns:a="http://schemas.openxmlformats.org/drawingml/2006/main">
              <a:ext uri="{FF2B5EF4-FFF2-40B4-BE49-F238E27FC236}">
                <a16:creationId xmlns:a16="http://schemas.microsoft.com/office/drawing/2014/main" id="{2F64A8BE-C0B0-47AC-ABC8-319EFD8D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76900"/>
            <a:ext cx="53149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Usage note left">
            <a:extLst xmlns:a="http://schemas.openxmlformats.org/drawingml/2006/main">
              <a:ext uri="{FF2B5EF4-FFF2-40B4-BE49-F238E27FC236}">
                <a16:creationId xmlns:a16="http://schemas.microsoft.com/office/drawing/2014/main" id="{7702A344-64FB-48DC-959C-A327BA7CF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516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 i="0">
                <a:solidFill>
                  <a:srgbClr val="505653"/>
                </a:solidFill>
                <a:latin typeface="Aptos"/>
                <a:ea typeface="Aptos"/>
                <a:cs typeface="Aptos"/>
              </a:rPr>
              <a:t>Use inside for a position within a place, building or container.</a:t>
            </a:r>
          </a:p>
        </p:txBody>
      </p:sp>
      <p:sp>
        <p:nvSpPr>
          <p:cNvPr id="76" name="Usage note right backing">
            <a:extLst xmlns:a="http://schemas.openxmlformats.org/drawingml/2006/main">
              <a:ext uri="{FF2B5EF4-FFF2-40B4-BE49-F238E27FC236}">
                <a16:creationId xmlns:a16="http://schemas.microsoft.com/office/drawing/2014/main" id="{A7D49E85-70A9-4C7A-9A09-45ACE259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676900"/>
            <a:ext cx="53149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Usage note right">
            <a:extLst xmlns:a="http://schemas.openxmlformats.org/drawingml/2006/main">
              <a:ext uri="{FF2B5EF4-FFF2-40B4-BE49-F238E27FC236}">
                <a16:creationId xmlns:a16="http://schemas.microsoft.com/office/drawing/2014/main" id="{C25AABEE-C39E-464E-8884-A679B988A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715000"/>
            <a:ext cx="516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 i="0">
                <a:solidFill>
                  <a:srgbClr val="505653"/>
                </a:solidFill>
                <a:latin typeface="Aptos"/>
                <a:ea typeface="Aptos"/>
                <a:cs typeface="Aptos"/>
              </a:rPr>
              <a:t>Use outside for a position beyond the limits of a place or building.</a:t>
            </a:r>
          </a:p>
        </p:txBody>
      </p:sp>
      <p:pic>
        <p:nvPicPr>
          <p:cNvPr id="1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8aac3e5deb420c"/>
          <a:srcRect xmlns:a="http://schemas.openxmlformats.org/drawingml/2006/main" l="0" t="650" r="0" b="6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496050" y="1676400"/>
            <a:ext cx="5219700" cy="3429000"/>
          </a:xfrm>
          <a:prstGeom xmlns:a="http://schemas.openxmlformats.org/drawingml/2006/main" prst="rect">
            <a:avLst/>
          </a:prstGeom>
        </p:spPr>
      </p:pic>
      <p:sp>
        <p:nvSpPr>
          <p:cNvPr id="86" name="Italic usage note left backing">
            <a:extLst xmlns:a="http://schemas.openxmlformats.org/drawingml/2006/main">
              <a:ext uri="{FF2B5EF4-FFF2-40B4-BE49-F238E27FC236}">
                <a16:creationId xmlns:a16="http://schemas.microsoft.com/office/drawing/2014/main" id="{AF297A05-D691-441B-9A6D-DF497F1A9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76900"/>
            <a:ext cx="53149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Italic usage note left">
            <a:extLst xmlns:a="http://schemas.openxmlformats.org/drawingml/2006/main">
              <a:ext uri="{FF2B5EF4-FFF2-40B4-BE49-F238E27FC236}">
                <a16:creationId xmlns:a16="http://schemas.microsoft.com/office/drawing/2014/main" id="{F4974EE3-5C14-4CBF-953E-224E96B1C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516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>
                <a:solidFill>
                  <a:srgbClr val="182E43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182E43"/>
                </a:solidFill>
                <a:latin typeface="Aptos"/>
                <a:ea typeface="Aptos"/>
                <a:cs typeface="Aptos"/>
              </a:rPr>
              <a:t>Use </a:t>
            </a:r>
            <a:r>
              <a:rPr sz="1600" b="1" i="1">
                <a:solidFill>
                  <a:srgbClr val="182E43"/>
                </a:solidFill>
                <a:latin typeface="Aptos"/>
                <a:ea typeface="Aptos"/>
                <a:cs typeface="Aptos"/>
              </a:rPr>
              <a:t>inside</a:t>
            </a:r>
            <a:r>
              <a:rPr sz="1600">
                <a:solidFill>
                  <a:srgbClr val="182E43"/>
                </a:solidFill>
                <a:latin typeface="Aptos"/>
                <a:ea typeface="Aptos"/>
                <a:cs typeface="Aptos"/>
              </a:rPr>
              <a:t> for a position within a place, building or container.</a:t>
            </a:r>
          </a:p>
        </p:txBody>
      </p:sp>
      <p:sp>
        <p:nvSpPr>
          <p:cNvPr id="88" name="Italic usage note right backing">
            <a:extLst xmlns:a="http://schemas.openxmlformats.org/drawingml/2006/main">
              <a:ext uri="{FF2B5EF4-FFF2-40B4-BE49-F238E27FC236}">
                <a16:creationId xmlns:a16="http://schemas.microsoft.com/office/drawing/2014/main" id="{61F25F5A-75D0-4F6C-B6CA-D6A035ED1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676900"/>
            <a:ext cx="53149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Italic usage note right">
            <a:extLst xmlns:a="http://schemas.openxmlformats.org/drawingml/2006/main">
              <a:ext uri="{FF2B5EF4-FFF2-40B4-BE49-F238E27FC236}">
                <a16:creationId xmlns:a16="http://schemas.microsoft.com/office/drawing/2014/main" id="{FAE2B7E3-D88A-421F-9F99-91DC77D0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715000"/>
            <a:ext cx="516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9419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>
                <a:solidFill>
                  <a:srgbClr val="182E43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182E43"/>
                </a:solidFill>
                <a:latin typeface="Aptos"/>
                <a:ea typeface="Aptos"/>
                <a:cs typeface="Aptos"/>
              </a:rPr>
              <a:t>Use </a:t>
            </a:r>
            <a:r>
              <a:rPr sz="1600" b="1" i="1">
                <a:solidFill>
                  <a:srgbClr val="182E43"/>
                </a:solidFill>
                <a:latin typeface="Aptos"/>
                <a:ea typeface="Aptos"/>
                <a:cs typeface="Aptos"/>
              </a:rPr>
              <a:t>outside</a:t>
            </a:r>
            <a:r>
              <a:rPr sz="1600">
                <a:solidFill>
                  <a:srgbClr val="182E43"/>
                </a:solidFill>
                <a:latin typeface="Aptos"/>
                <a:ea typeface="Aptos"/>
                <a:cs typeface="Aptos"/>
              </a:rPr>
              <a:t> for a position beyond the limits of a place or building.</a:t>
            </a:r>
          </a:p>
        </p:txBody>
      </p:sp>
      <p:sp>
        <p:nvSpPr>
          <p:cNvPr id="90" name="Forbes English footer clean backing">
            <a:extLst xmlns:a="http://schemas.openxmlformats.org/drawingml/2006/main">
              <a:ext uri="{FF2B5EF4-FFF2-40B4-BE49-F238E27FC236}">
                <a16:creationId xmlns:a16="http://schemas.microsoft.com/office/drawing/2014/main" id="{B6E63BEA-88E1-43C5-A35D-5AA606E1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76975"/>
            <a:ext cx="9144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Forbes English footer wordmark">
            <a:extLst xmlns:a="http://schemas.openxmlformats.org/drawingml/2006/main">
              <a:ext uri="{FF2B5EF4-FFF2-40B4-BE49-F238E27FC236}">
                <a16:creationId xmlns:a16="http://schemas.microsoft.com/office/drawing/2014/main" id="{677EC2C1-CF74-4270-9F9B-B4E05D398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15075"/>
            <a:ext cx="733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i="0">
                <a:solidFill>
                  <a:srgbClr val="101918"/>
                </a:solidFill>
                <a:latin typeface="Georgia"/>
                <a:ea typeface="Georgia"/>
                <a:cs typeface="Georgia"/>
              </a:rPr>
              <a:t>Forbes</a:t>
            </a:r>
          </a:p>
        </p:txBody>
      </p:sp>
      <p:sp>
        <p:nvSpPr>
          <p:cNvPr id="92" name="Forbes English footer second line">
            <a:extLst xmlns:a="http://schemas.openxmlformats.org/drawingml/2006/main">
              <a:ext uri="{FF2B5EF4-FFF2-40B4-BE49-F238E27FC236}">
                <a16:creationId xmlns:a16="http://schemas.microsoft.com/office/drawing/2014/main" id="{CCD93205-49F9-4FC7-BA17-20247B93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477000"/>
            <a:ext cx="7334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50" b="1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ENGLISH</a:t>
            </a:r>
          </a:p>
        </p:txBody>
      </p:sp>
    </p:spTree>
    <p:extLst>
      <p:ext uri="{BB962C8B-B14F-4D97-AF65-F5344CB8AC3E}">
        <p14:creationId xmlns:p14="http://schemas.microsoft.com/office/powerpoint/2010/main" val="205389241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D9E1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53DB6F6-90EF-4053-B4A8-57CAB5009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219456"/>
            <a:ext cx="21031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1350" b="1">
                <a:solidFill>
                  <a:srgbClr val="90111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0111C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826A544-B301-46D0-B712-C1677F205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1168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01918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1A9FD60-7750-46AD-B862-0FB7F8BE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10312"/>
            <a:ext cx="297180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00" b="1">
                <a:solidFill>
                  <a:srgbClr val="182E4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E43"/>
                </a:solidFill>
                <a:latin typeface="Aptos"/>
                <a:ea typeface="Aptos"/>
                <a:cs typeface="Aptos"/>
              </a:rPr>
              <a:t>FORBES ENGLISH • PREPOSITIONS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2220168-9493-497B-A9AE-36A60C5B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390" y="502920"/>
            <a:ext cx="0" cy="52760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7390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D4C117E5-C7CF-4143-872F-D7991E0F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7666" y="3136392"/>
            <a:ext cx="155448" cy="155448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6571D"/>
          </a:solidFill>
          <a:ln xmlns:a="http://schemas.openxmlformats.org/drawingml/2006/main" w="12700">
            <a:solidFill>
              <a:srgbClr val="8A1A1E">
                <a:alpha val="0"/>
              </a:srgbClr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763F7EC-44D4-411A-895E-BD7709C3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1520"/>
            <a:ext cx="507492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300" b="1">
                <a:ln w="10478">
                  <a:solidFill>
                    <a:srgbClr val="303437"/>
                  </a:solidFill>
                  <a:prstDash val="solid"/>
                </a:ln>
                <a:pattFill prst="narHorz">
                  <a:fgClr>
                    <a:srgbClr val="2F3336"/>
                  </a:fgClr>
                  <a:bgClr>
                    <a:srgbClr val="B7B2AA"/>
                  </a:bgClr>
                </a:pattFill>
                <a:latin typeface="Noto Sans Display Condensed"/>
                <a:ea typeface="Noto Sans Display Condensed"/>
                <a:cs typeface="Noto Sans Display Condensed"/>
              </a:rPr>
              <a:t>TOWARDS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6D74749-D7BA-480D-99D4-FFB34082F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731520"/>
            <a:ext cx="507492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300" b="1">
                <a:ln w="10478">
                  <a:solidFill>
                    <a:srgbClr val="303437"/>
                  </a:solidFill>
                  <a:prstDash val="solid"/>
                </a:ln>
                <a:pattFill prst="narHorz">
                  <a:fgClr>
                    <a:srgbClr val="2F3336"/>
                  </a:fgClr>
                  <a:bgClr>
                    <a:srgbClr val="B7B2AA"/>
                  </a:bgClr>
                </a:pattFill>
                <a:latin typeface="Noto Sans Display Condensed"/>
                <a:ea typeface="Noto Sans Display Condensed"/>
                <a:cs typeface="Noto Sans Display Condensed"/>
              </a:rPr>
              <a:t>AWAY FROM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0C86F4CB-AC16-45F4-BC98-9192B85C4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1444752"/>
            <a:ext cx="5321808" cy="3547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0DF">
              <a:alpha val="96000"/>
            </a:srgbClr>
          </a:solidFill>
          <a:ln xmlns:a="http://schemas.openxmlformats.org/drawingml/2006/main" w="13335">
            <a:solidFill>
              <a:srgbClr val="8A1A1E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CFAABEA-960E-4E7C-8CA6-C27BACF1C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1645920"/>
            <a:ext cx="4882896" cy="3145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20">
                <a:solidFill>
                  <a:srgbClr val="101918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7C59C4A9-AFD5-4189-94E3-783F22B96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1444752"/>
            <a:ext cx="5321808" cy="3547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0DF">
              <a:alpha val="96000"/>
            </a:srgbClr>
          </a:solidFill>
          <a:ln xmlns:a="http://schemas.openxmlformats.org/drawingml/2006/main" w="13335">
            <a:solidFill>
              <a:srgbClr val="8A1A1E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9FB2559-9C66-475C-853E-E76C15BF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1645920"/>
            <a:ext cx="4882896" cy="3145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20">
                <a:solidFill>
                  <a:srgbClr val="101918"/>
                </a:solidFill>
                <a:latin typeface="Aptos"/>
                <a:ea typeface="Aptos"/>
                <a:cs typeface="Aptos"/>
              </a:rPr>
              <a:t>IMAGE SLOT</a:t>
            </a:r>
          </a:p>
          <a:p xmlns:a="http://schemas.openxmlformats.org/drawingml/2006/main">
            <a:pPr marL="0" indent="0" algn="ctr">
              <a:buNone/>
            </a:pPr>
          </a:p>
          <a:p xmlns:a="http://schemas.openxmlformats.org/drawingml/2006/main">
            <a:pPr marL="0" indent="0" algn="ctr">
              <a:buNone/>
            </a:pPr>
            <a:r>
              <a:rPr sz="1320">
                <a:solidFill>
                  <a:srgbClr val="101918"/>
                </a:solidFill>
                <a:latin typeface="Aptos"/>
                <a:ea typeface="Aptos"/>
                <a:cs typeface="Aptos"/>
              </a:rPr>
              <a:t>The Man From Another Place moves away from Cooper across the chevron floor. Short silhouette, suit, distinctive hair, hands behind back.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7EB9B4D-5157-49DD-B607-1ADBEA5F8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5212080"/>
            <a:ext cx="510235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>
                <a:solidFill>
                  <a:srgbClr val="101918"/>
                </a:solidFill>
                <a:latin typeface="Aptos"/>
                <a:ea typeface="Aptos"/>
                <a:cs typeface="Aptos"/>
              </a:rPr>
              <a:t>The Giant is walking </a:t>
            </a:r>
            <a:r>
              <a:rPr sz="1700" b="1" i="1">
                <a:solidFill>
                  <a:srgbClr val="8A1A1E"/>
                </a:solidFill>
                <a:latin typeface="Georgia"/>
                <a:ea typeface="Georgia"/>
                <a:cs typeface="Georgia"/>
              </a:rPr>
              <a:t>towards</a:t>
            </a:r>
            <a:r>
              <a:rPr sz="1700">
                <a:solidFill>
                  <a:srgbClr val="101918"/>
                </a:solidFill>
                <a:latin typeface="Aptos"/>
                <a:ea typeface="Aptos"/>
                <a:cs typeface="Aptos"/>
              </a:rPr>
              <a:t> Cooper.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B25F8AC-C9F6-4D79-A352-FB7B5C5D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384" y="5212080"/>
            <a:ext cx="510235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>
                <a:solidFill>
                  <a:srgbClr val="101918"/>
                </a:solidFill>
                <a:latin typeface="Aptos"/>
                <a:ea typeface="Aptos"/>
                <a:cs typeface="Aptos"/>
              </a:rPr>
              <a:t>The Man From Another Place is moving </a:t>
            </a:r>
            <a:r>
              <a:rPr sz="1700" b="1" i="1">
                <a:solidFill>
                  <a:srgbClr val="8A1A1E"/>
                </a:solidFill>
                <a:latin typeface="Georgia"/>
                <a:ea typeface="Georgia"/>
                <a:cs typeface="Georgia"/>
              </a:rPr>
              <a:t>away from</a:t>
            </a:r>
            <a:r>
              <a:rPr sz="1700">
                <a:solidFill>
                  <a:srgbClr val="101918"/>
                </a:solidFill>
                <a:latin typeface="Aptos"/>
                <a:ea typeface="Aptos"/>
                <a:cs typeface="Aptos"/>
              </a:rPr>
              <a:t> Cooper.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942A126-B7D9-41FB-9D45-6CE43B11A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632704"/>
            <a:ext cx="4754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20" b="1">
                <a:solidFill>
                  <a:srgbClr val="8A1A1E"/>
                </a:solidFill>
                <a:latin typeface="Roboto Condensed"/>
                <a:ea typeface="Roboto Condensed"/>
                <a:cs typeface="Roboto Condensed"/>
              </a:rPr>
              <a:t>TOWARDS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6CC88352-9CDD-4965-9643-CC71DBCE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879592"/>
            <a:ext cx="4754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80" i="1">
                <a:solidFill>
                  <a:srgbClr val="69675E"/>
                </a:solidFill>
                <a:latin typeface="Georgia"/>
                <a:ea typeface="Georgia"/>
                <a:cs typeface="Georgia"/>
              </a:rPr>
              <a:t>movement in the direction of someone or something.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EB19B9A-B059-4D88-98E2-E59436F4C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5632704"/>
            <a:ext cx="4754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20" b="1">
                <a:solidFill>
                  <a:srgbClr val="8A1A1E"/>
                </a:solidFill>
                <a:latin typeface="Roboto Condensed"/>
                <a:ea typeface="Roboto Condensed"/>
                <a:cs typeface="Roboto Condensed"/>
              </a:rPr>
              <a:t>AWAY FROM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76AD11D3-E403-4376-BA2A-3A611F12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5879592"/>
            <a:ext cx="4754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80" i="1">
                <a:solidFill>
                  <a:srgbClr val="69675E"/>
                </a:solidFill>
                <a:latin typeface="Georgia"/>
                <a:ea typeface="Georgia"/>
                <a:cs typeface="Georgia"/>
              </a:rPr>
              <a:t>movement so the distance from someone or something increases.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3F05C529-5B08-46EC-A9AE-97D72ED9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238875"/>
            <a:ext cx="538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7390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DA9CDED6-65BF-4A91-B6B1-54E102F80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6238875"/>
            <a:ext cx="538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7390"/>
            </a:solidFill>
            <a:prstDash val="solid"/>
          </a:ln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B2669DC8-4790-41DD-8125-B17D8994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6382512"/>
            <a:ext cx="228600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HAWKINS FIELD GUIDE</a:t>
            </a:r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B17FDE73-FE50-479E-85AB-3EEA7FF5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6382512"/>
            <a:ext cx="2852928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50" b="1">
                <a:solidFill>
                  <a:srgbClr val="101918"/>
                </a:solidFill>
                <a:latin typeface="Roboto Condensed"/>
                <a:ea typeface="Roboto Condensed"/>
                <a:cs typeface="Roboto Condensed"/>
              </a:rPr>
              <a:t/>
            </a:r>
          </a:p>
        </p:txBody>
      </p:sp>
      <p:sp>
        <p:nvSpPr>
          <p:cNvPr id="25" name="Slide 4 system background">
            <a:extLst xmlns:a="http://schemas.openxmlformats.org/drawingml/2006/main">
              <a:ext uri="{FF2B5EF4-FFF2-40B4-BE49-F238E27FC236}">
                <a16:creationId xmlns:a16="http://schemas.microsoft.com/office/drawing/2014/main" id="{DFBE4268-616A-4DB0-8C4B-D4478B5B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1A57BE7A-1AD1-4B05-A9CB-55F70205B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219456"/>
            <a:ext cx="210312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777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90111C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90111C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27" name="Header separator">
            <a:extLst xmlns:a="http://schemas.openxmlformats.org/drawingml/2006/main">
              <a:ext uri="{FF2B5EF4-FFF2-40B4-BE49-F238E27FC236}">
                <a16:creationId xmlns:a16="http://schemas.microsoft.com/office/drawing/2014/main" id="{1CB2CDD1-96D0-47C4-B8FE-DB19FD519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1168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01918"/>
            </a:solidFill>
            <a:prstDash val="solid"/>
          </a:ln>
        </p:spPr>
      </p:sp>
      <p:sp>
        <p:nvSpPr>
          <p:cNvPr id="28" name="Running header">
            <a:extLst xmlns:a="http://schemas.openxmlformats.org/drawingml/2006/main">
              <a:ext uri="{FF2B5EF4-FFF2-40B4-BE49-F238E27FC236}">
                <a16:creationId xmlns:a16="http://schemas.microsoft.com/office/drawing/2014/main" id="{91013881-995A-4956-A3B8-A8639543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10312"/>
            <a:ext cx="2971800" cy="210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82E43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82E43"/>
                </a:solidFill>
                <a:latin typeface="Aptos"/>
                <a:ea typeface="Aptos"/>
                <a:cs typeface="Aptos"/>
              </a:rPr>
              <a:t>FORBES ENGLISH • PREPOSITIONS</a:t>
            </a:r>
          </a:p>
        </p:txBody>
      </p:sp>
      <p:sp>
        <p:nvSpPr>
          <p:cNvPr id="29" name="Centre divider">
            <a:extLst xmlns:a="http://schemas.openxmlformats.org/drawingml/2006/main">
              <a:ext uri="{FF2B5EF4-FFF2-40B4-BE49-F238E27FC236}">
                <a16:creationId xmlns:a16="http://schemas.microsoft.com/office/drawing/2014/main" id="{9108D9C3-68FA-4A57-98B2-AAEA6C92B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429" y="502920"/>
            <a:ext cx="0" cy="52760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7390"/>
            </a:solidFill>
            <a:prstDash val="solid"/>
          </a:ln>
        </p:spPr>
      </p:sp>
      <p:sp>
        <p:nvSpPr>
          <p:cNvPr id="30" name="Centre diamond">
            <a:extLst xmlns:a="http://schemas.openxmlformats.org/drawingml/2006/main">
              <a:ext uri="{FF2B5EF4-FFF2-40B4-BE49-F238E27FC236}">
                <a16:creationId xmlns:a16="http://schemas.microsoft.com/office/drawing/2014/main" id="{8C7392A8-68B0-4AAF-8DD5-16F6D568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7705" y="3136392"/>
            <a:ext cx="155448" cy="155448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1073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arget title left">
            <a:extLst xmlns:a="http://schemas.openxmlformats.org/drawingml/2006/main">
              <a:ext uri="{FF2B5EF4-FFF2-40B4-BE49-F238E27FC236}">
                <a16:creationId xmlns:a16="http://schemas.microsoft.com/office/drawing/2014/main" id="{5E1A6F2E-54F2-4E68-A834-B6F650C2A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1520"/>
            <a:ext cx="5074920" cy="658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300" b="1">
                <a:solidFill>
                  <a:srgbClr val="C9C5BD"/>
                </a:solidFill>
                <a:latin typeface="Noto Sans Display Condensed"/>
                <a:ea typeface="Noto Sans Display Condensed"/>
                <a:cs typeface="Noto Sans Display Condensed"/>
              </a:defRPr>
            </a:pPr>
            <a:r>
              <a:rPr sz="4300" b="1" i="0">
                <a:ln w="10478">
                  <a:solidFill>
                    <a:srgbClr val="303437"/>
                  </a:solidFill>
                  <a:prstDash val="solid"/>
                </a:ln>
                <a:solidFill>
                  <a:srgbClr val="C9C5BD"/>
                </a:solidFill>
                <a:latin typeface="Noto Sans Display Condensed"/>
                <a:ea typeface="Noto Sans Display Condensed"/>
                <a:cs typeface="Noto Sans Display Condensed"/>
              </a:rPr>
              <a:t>TOWARDS</a:t>
            </a:r>
          </a:p>
        </p:txBody>
      </p:sp>
      <p:sp>
        <p:nvSpPr>
          <p:cNvPr id="32" name="Target title right">
            <a:extLst xmlns:a="http://schemas.openxmlformats.org/drawingml/2006/main">
              <a:ext uri="{FF2B5EF4-FFF2-40B4-BE49-F238E27FC236}">
                <a16:creationId xmlns:a16="http://schemas.microsoft.com/office/drawing/2014/main" id="{C2A0A30C-F717-4555-B8CD-DFC97FDB2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731520"/>
            <a:ext cx="5074920" cy="658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300" b="1">
                <a:solidFill>
                  <a:srgbClr val="C9C5BD"/>
                </a:solidFill>
                <a:latin typeface="Noto Sans Display Condensed"/>
                <a:ea typeface="Noto Sans Display Condensed"/>
                <a:cs typeface="Noto Sans Display Condensed"/>
              </a:defRPr>
            </a:pPr>
            <a:r>
              <a:rPr sz="4300" b="1" i="0">
                <a:ln w="10478">
                  <a:solidFill>
                    <a:srgbClr val="303437"/>
                  </a:solidFill>
                  <a:prstDash val="solid"/>
                </a:ln>
                <a:solidFill>
                  <a:srgbClr val="C9C5BD"/>
                </a:solidFill>
                <a:latin typeface="Noto Sans Display Condensed"/>
                <a:ea typeface="Noto Sans Display Condensed"/>
                <a:cs typeface="Noto Sans Display Condensed"/>
              </a:rPr>
              <a:t>AWAY FROM</a:t>
            </a:r>
          </a:p>
        </p:txBody>
      </p:sp>
      <p:sp>
        <p:nvSpPr>
          <p:cNvPr id="33" name="Footer line left">
            <a:extLst xmlns:a="http://schemas.openxmlformats.org/drawingml/2006/main">
              <a:ext uri="{FF2B5EF4-FFF2-40B4-BE49-F238E27FC236}">
                <a16:creationId xmlns:a16="http://schemas.microsoft.com/office/drawing/2014/main" id="{7DE89163-6E65-4A9A-A96E-FC90E03BD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238875"/>
            <a:ext cx="538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7390"/>
            </a:solidFill>
            <a:prstDash val="solid"/>
          </a:ln>
        </p:spPr>
      </p:sp>
      <p:sp>
        <p:nvSpPr>
          <p:cNvPr id="34" name="Footer line right">
            <a:extLst xmlns:a="http://schemas.openxmlformats.org/drawingml/2006/main">
              <a:ext uri="{FF2B5EF4-FFF2-40B4-BE49-F238E27FC236}">
                <a16:creationId xmlns:a16="http://schemas.microsoft.com/office/drawing/2014/main" id="{DC260EA9-7682-4A07-8990-D2CEEDF74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6238875"/>
            <a:ext cx="538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7390"/>
            </a:solidFill>
            <a:prstDash val="solid"/>
          </a:ln>
        </p:spPr>
      </p:sp>
      <p:pic>
        <p:nvPicPr>
          <p:cNvPr id="1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78416f48834228"/>
          <a:stretch xmlns:a="http://schemas.openxmlformats.org/drawingml/2006/main"/>
        </p:blipFill>
        <p:spPr>
          <a:xfrm xmlns:a="http://schemas.openxmlformats.org/drawingml/2006/main">
            <a:off x="5829300" y="6048375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36" name="Footer left">
            <a:extLst xmlns:a="http://schemas.openxmlformats.org/drawingml/2006/main">
              <a:ext uri="{FF2B5EF4-FFF2-40B4-BE49-F238E27FC236}">
                <a16:creationId xmlns:a16="http://schemas.microsoft.com/office/drawing/2014/main" id="{C251C005-4D94-4870-A058-FF70F12F3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3817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11111"/>
                </a:solidFill>
                <a:latin typeface="Aptos"/>
                <a:ea typeface="Aptos"/>
                <a:cs typeface="Aptos"/>
              </a:rPr>
              <a:t>HAWKINS FIELD GUIDE</a:t>
            </a:r>
          </a:p>
        </p:txBody>
      </p:sp>
      <p:sp>
        <p:nvSpPr>
          <p:cNvPr id="37" name="Footer course">
            <a:extLst xmlns:a="http://schemas.openxmlformats.org/drawingml/2006/main">
              <a:ext uri="{FF2B5EF4-FFF2-40B4-BE49-F238E27FC236}">
                <a16:creationId xmlns:a16="http://schemas.microsoft.com/office/drawing/2014/main" id="{83B63B60-81BD-4A16-B821-9E5159EE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38175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 b="1" i="0">
                <a:solidFill>
                  <a:srgbClr val="101918"/>
                </a:solidFill>
                <a:latin typeface="Roboto Condensed"/>
                <a:ea typeface="Roboto Condensed"/>
                <a:cs typeface="Roboto Condensed"/>
              </a:rPr>
              <a:t/>
            </a:r>
          </a:p>
        </p:txBody>
      </p:sp>
      <p:pic>
        <p:nvPicPr>
          <p:cNvPr id="1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638e336eb448d1">
            <a:extLst>
              <a:ext uri="{96DAC541-7B7A-43D3-8B79-37D633B846F1}">
                <asvg:svgBlip xmlns:asvg="http://schemas.microsoft.com/office/drawing/2016/SVG/main" r:embed="R2e0e943bc2194ba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144250" y="6267450"/>
            <a:ext cx="781050" cy="361950"/>
          </a:xfrm>
          <a:prstGeom xmlns:a="http://schemas.openxmlformats.org/drawingml/2006/main" prst="rect">
            <a:avLst/>
          </a:prstGeom>
        </p:spPr>
      </p:pic>
      <p:sp>
        <p:nvSpPr>
          <p:cNvPr id="40" name="Left image slot">
            <a:extLst xmlns:a="http://schemas.openxmlformats.org/drawingml/2006/main">
              <a:ext uri="{FF2B5EF4-FFF2-40B4-BE49-F238E27FC236}">
                <a16:creationId xmlns:a16="http://schemas.microsoft.com/office/drawing/2014/main" id="{42CACEF9-A8B8-4A27-A7B6-BD216F922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52197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1" name="Right image slot">
            <a:extLst xmlns:a="http://schemas.openxmlformats.org/drawingml/2006/main">
              <a:ext uri="{FF2B5EF4-FFF2-40B4-BE49-F238E27FC236}">
                <a16:creationId xmlns:a16="http://schemas.microsoft.com/office/drawing/2014/main" id="{9CFCD36D-8079-414F-B95E-ED4056E6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76400"/>
            <a:ext cx="52197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2" name="Left image brief">
            <a:extLst xmlns:a="http://schemas.openxmlformats.org/drawingml/2006/main">
              <a:ext uri="{FF2B5EF4-FFF2-40B4-BE49-F238E27FC236}">
                <a16:creationId xmlns:a16="http://schemas.microsoft.com/office/drawing/2014/main" id="{66C22E1A-0764-4B61-8C3C-0FC3EA00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71750"/>
            <a:ext cx="4552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 i="0">
                <a:solidFill>
                  <a:srgbClr val="101918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43" name="Right image brief">
            <a:extLst xmlns:a="http://schemas.openxmlformats.org/drawingml/2006/main">
              <a:ext uri="{FF2B5EF4-FFF2-40B4-BE49-F238E27FC236}">
                <a16:creationId xmlns:a16="http://schemas.microsoft.com/office/drawing/2014/main" id="{C4174A19-1B86-4A7C-9E27-0DDF018D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571750"/>
            <a:ext cx="4552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 i="0">
                <a:solidFill>
                  <a:srgbClr val="101918"/>
                </a:solidFill>
                <a:latin typeface="Aptos"/>
                <a:ea typeface="Aptos"/>
                <a:cs typeface="Aptos"/>
              </a:rPr>
              <a:t>The Man From Another Place moves away from Cooper.</a:t>
            </a:r>
          </a:p>
        </p:txBody>
      </p:sp>
      <p:sp>
        <p:nvSpPr>
          <p:cNvPr id="44" name="Sentence field left">
            <a:extLst xmlns:a="http://schemas.openxmlformats.org/drawingml/2006/main">
              <a:ext uri="{FF2B5EF4-FFF2-40B4-BE49-F238E27FC236}">
                <a16:creationId xmlns:a16="http://schemas.microsoft.com/office/drawing/2014/main" id="{98654BBE-92E5-4549-B145-170FB84D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05400"/>
            <a:ext cx="5314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5" name="Sentence field right">
            <a:extLst xmlns:a="http://schemas.openxmlformats.org/drawingml/2006/main">
              <a:ext uri="{FF2B5EF4-FFF2-40B4-BE49-F238E27FC236}">
                <a16:creationId xmlns:a16="http://schemas.microsoft.com/office/drawing/2014/main" id="{7C2AAA2E-B29F-4A20-B470-114516B09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05400"/>
            <a:ext cx="5314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6" name="Sentence left">
            <a:extLst xmlns:a="http://schemas.openxmlformats.org/drawingml/2006/main">
              <a:ext uri="{FF2B5EF4-FFF2-40B4-BE49-F238E27FC236}">
                <a16:creationId xmlns:a16="http://schemas.microsoft.com/office/drawing/2014/main" id="{B9BF8296-F01F-48F7-9421-7E8AF0D8E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62550"/>
            <a:ext cx="5219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>
                <a:solidFill>
                  <a:srgbClr val="101918"/>
                </a:solidFill>
                <a:latin typeface="Aptos"/>
                <a:ea typeface="Aptos"/>
                <a:cs typeface="Aptos"/>
              </a:rPr>
              <a:t>The Giant is walking </a:t>
            </a:r>
            <a:r>
              <a:rPr sz="1700" b="1" i="1">
                <a:solidFill>
                  <a:srgbClr val="8A1A1E"/>
                </a:solidFill>
                <a:latin typeface="Georgia"/>
                <a:ea typeface="Georgia"/>
                <a:cs typeface="Georgia"/>
              </a:rPr>
              <a:t>towards</a:t>
            </a:r>
            <a:r>
              <a:rPr sz="1700">
                <a:solidFill>
                  <a:srgbClr val="101918"/>
                </a:solidFill>
                <a:latin typeface="Aptos"/>
                <a:ea typeface="Aptos"/>
                <a:cs typeface="Aptos"/>
              </a:rPr>
              <a:t> Cooper.</a:t>
            </a:r>
          </a:p>
        </p:txBody>
      </p:sp>
      <p:sp>
        <p:nvSpPr>
          <p:cNvPr id="47" name="Sentence right">
            <a:extLst xmlns:a="http://schemas.openxmlformats.org/drawingml/2006/main">
              <a:ext uri="{FF2B5EF4-FFF2-40B4-BE49-F238E27FC236}">
                <a16:creationId xmlns:a16="http://schemas.microsoft.com/office/drawing/2014/main" id="{F0391490-A525-4614-AA2D-06CF1790F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5162550"/>
            <a:ext cx="5219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>
                <a:solidFill>
                  <a:srgbClr val="182E43"/>
                </a:solidFill>
                <a:latin typeface="Aptos"/>
                <a:ea typeface="Aptos"/>
                <a:cs typeface="Aptos"/>
              </a:defRPr>
            </a:pPr>
            <a:r>
              <a:rPr sz="1700">
                <a:solidFill>
                  <a:srgbClr val="182E43"/>
                </a:solidFill>
                <a:latin typeface="Aptos"/>
                <a:ea typeface="Aptos"/>
                <a:cs typeface="Aptos"/>
              </a:rPr>
              <a:t>The boys are cycling </a:t>
            </a:r>
            <a:r>
              <a:rPr sz="1700" b="1" i="1">
                <a:solidFill>
                  <a:srgbClr val="182E43"/>
                </a:solidFill>
                <a:latin typeface="Aptos"/>
                <a:ea typeface="Aptos"/>
                <a:cs typeface="Aptos"/>
              </a:rPr>
              <a:t>away from</a:t>
            </a:r>
            <a:r>
              <a:rPr sz="1700">
                <a:solidFill>
                  <a:srgbClr val="182E43"/>
                </a:solidFill>
                <a:latin typeface="Aptos"/>
                <a:ea typeface="Aptos"/>
                <a:cs typeface="Aptos"/>
              </a:rPr>
              <a:t> the vans.</a:t>
            </a:r>
          </a:p>
        </p:txBody>
      </p:sp>
      <p:sp>
        <p:nvSpPr>
          <p:cNvPr id="51" name="Clean emblem background">
            <a:extLst xmlns:a="http://schemas.openxmlformats.org/drawingml/2006/main">
              <a:ext uri="{FF2B5EF4-FFF2-40B4-BE49-F238E27FC236}">
                <a16:creationId xmlns:a16="http://schemas.microsoft.com/office/drawing/2014/main" id="{3CBACB2B-122C-4D67-BB9D-ABE9F84A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6010275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7d570e78704275">
            <a:extLst>
              <a:ext uri="{96DAC541-7B7A-43D3-8B79-37D633B846F1}">
                <asvg:svgBlip xmlns:asvg="http://schemas.microsoft.com/office/drawing/2016/SVG/main" r:embed="Rdea065b0830b4d8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829300" y="6048375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56" name="Cover emblem clean background">
            <a:extLst xmlns:a="http://schemas.openxmlformats.org/drawingml/2006/main">
              <a:ext uri="{FF2B5EF4-FFF2-40B4-BE49-F238E27FC236}">
                <a16:creationId xmlns:a16="http://schemas.microsoft.com/office/drawing/2014/main" id="{86DD6C07-8409-47A7-A1E0-B2A23DC94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6010275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35f42eddd7414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29300" y="6048375"/>
            <a:ext cx="533400" cy="533400"/>
          </a:xfrm>
          <a:prstGeom xmlns:a="http://schemas.openxmlformats.org/drawingml/2006/main" prst="rect">
            <a:avLst/>
          </a:prstGeom>
        </p:spPr>
      </p:pic>
      <p:pic>
        <p:nvPicPr>
          <p:cNvPr id="1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153976878e4132"/>
          <a:srcRect xmlns:a="http://schemas.openxmlformats.org/drawingml/2006/main" l="0" t="650" r="0" b="6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496050" y="1676400"/>
            <a:ext cx="5219700" cy="3429000"/>
          </a:xfrm>
          <a:prstGeom xmlns:a="http://schemas.openxmlformats.org/drawingml/2006/main" prst="rect">
            <a:avLst/>
          </a:prstGeom>
        </p:spPr>
      </p:pic>
      <p:sp>
        <p:nvSpPr>
          <p:cNvPr id="64" name="Basic course header clean backing">
            <a:extLst xmlns:a="http://schemas.openxmlformats.org/drawingml/2006/main">
              <a:ext uri="{FF2B5EF4-FFF2-40B4-BE49-F238E27FC236}">
                <a16:creationId xmlns:a16="http://schemas.microsoft.com/office/drawing/2014/main" id="{87096619-619D-40E3-9EB9-2CDC03B9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"/>
            <a:ext cx="32861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Basic course running header">
            <a:extLst xmlns:a="http://schemas.openxmlformats.org/drawingml/2006/main">
              <a:ext uri="{FF2B5EF4-FFF2-40B4-BE49-F238E27FC236}">
                <a16:creationId xmlns:a16="http://schemas.microsoft.com/office/drawing/2014/main" id="{15844F41-3E40-442D-B793-E3BA1278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82E43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82E43"/>
                </a:solidFill>
                <a:latin typeface="Aptos"/>
                <a:ea typeface="Aptos"/>
                <a:cs typeface="Aptos"/>
              </a:rPr>
              <a:t>FORBES ENGLISH • PREPOSITIONS</a:t>
            </a:r>
          </a:p>
        </p:txBody>
      </p:sp>
      <p:pic>
        <p:nvPicPr>
          <p:cNvPr id="1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c4d83b58d54bec"/>
          <a:srcRect xmlns:a="http://schemas.openxmlformats.org/drawingml/2006/main" l="0" t="730" r="0" b="7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476250" y="1676400"/>
            <a:ext cx="5219700" cy="3429000"/>
          </a:xfrm>
          <a:prstGeom xmlns:a="http://schemas.openxmlformats.org/drawingml/2006/main" prst="rect">
            <a:avLst/>
          </a:prstGeom>
        </p:spPr>
      </p:pic>
      <p:sp>
        <p:nvSpPr>
          <p:cNvPr id="67" name="Giant hotel caption final backing">
            <a:extLst xmlns:a="http://schemas.openxmlformats.org/drawingml/2006/main">
              <a:ext uri="{FF2B5EF4-FFF2-40B4-BE49-F238E27FC236}">
                <a16:creationId xmlns:a16="http://schemas.microsoft.com/office/drawing/2014/main" id="{27E32F07-03C0-41D1-B5D1-CD5E11AB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05400"/>
            <a:ext cx="5314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Giant hotel caption final">
            <a:extLst xmlns:a="http://schemas.openxmlformats.org/drawingml/2006/main">
              <a:ext uri="{FF2B5EF4-FFF2-40B4-BE49-F238E27FC236}">
                <a16:creationId xmlns:a16="http://schemas.microsoft.com/office/drawing/2014/main" id="{56106895-BB1D-462C-994D-DF651FE16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62550"/>
            <a:ext cx="5219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>
                <a:solidFill>
                  <a:srgbClr val="182E43"/>
                </a:solidFill>
                <a:latin typeface="Aptos"/>
                <a:ea typeface="Aptos"/>
                <a:cs typeface="Aptos"/>
              </a:defRPr>
            </a:pPr>
            <a:r>
              <a:rPr sz="1700">
                <a:solidFill>
                  <a:srgbClr val="182E43"/>
                </a:solidFill>
                <a:latin typeface="Aptos"/>
                <a:ea typeface="Aptos"/>
                <a:cs typeface="Aptos"/>
              </a:rPr>
              <a:t>Hopper is walking </a:t>
            </a:r>
            <a:r>
              <a:rPr sz="1700" b="1" i="1">
                <a:solidFill>
                  <a:srgbClr val="182E43"/>
                </a:solidFill>
                <a:latin typeface="Aptos"/>
                <a:ea typeface="Aptos"/>
                <a:cs typeface="Aptos"/>
              </a:rPr>
              <a:t>towards</a:t>
            </a:r>
            <a:r>
              <a:rPr sz="1700">
                <a:solidFill>
                  <a:srgbClr val="182E43"/>
                </a:solidFill>
                <a:latin typeface="Aptos"/>
                <a:ea typeface="Aptos"/>
                <a:cs typeface="Aptos"/>
              </a:rPr>
              <a:t> Joyce.</a:t>
            </a:r>
          </a:p>
        </p:txBody>
      </p:sp>
      <p:sp>
        <p:nvSpPr>
          <p:cNvPr id="69" name="Usage note left backing">
            <a:extLst xmlns:a="http://schemas.openxmlformats.org/drawingml/2006/main">
              <a:ext uri="{FF2B5EF4-FFF2-40B4-BE49-F238E27FC236}">
                <a16:creationId xmlns:a16="http://schemas.microsoft.com/office/drawing/2014/main" id="{6CDB2991-B70A-4773-B79E-5E40B846A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76900"/>
            <a:ext cx="53149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Usage note left">
            <a:extLst xmlns:a="http://schemas.openxmlformats.org/drawingml/2006/main">
              <a:ext uri="{FF2B5EF4-FFF2-40B4-BE49-F238E27FC236}">
                <a16:creationId xmlns:a16="http://schemas.microsoft.com/office/drawing/2014/main" id="{5ECBEBDA-4ED2-4B92-9A25-B44A670A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516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 i="0">
                <a:solidFill>
                  <a:srgbClr val="505653"/>
                </a:solidFill>
                <a:latin typeface="Aptos"/>
                <a:ea typeface="Aptos"/>
                <a:cs typeface="Aptos"/>
              </a:rPr>
              <a:t>Use towards for movement in the direction of someone or something.</a:t>
            </a:r>
          </a:p>
        </p:txBody>
      </p:sp>
      <p:sp>
        <p:nvSpPr>
          <p:cNvPr id="71" name="Usage note right backing">
            <a:extLst xmlns:a="http://schemas.openxmlformats.org/drawingml/2006/main">
              <a:ext uri="{FF2B5EF4-FFF2-40B4-BE49-F238E27FC236}">
                <a16:creationId xmlns:a16="http://schemas.microsoft.com/office/drawing/2014/main" id="{09C6EC59-579F-45C8-966B-A37B69C1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676900"/>
            <a:ext cx="53149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Usage note right">
            <a:extLst xmlns:a="http://schemas.openxmlformats.org/drawingml/2006/main">
              <a:ext uri="{FF2B5EF4-FFF2-40B4-BE49-F238E27FC236}">
                <a16:creationId xmlns:a16="http://schemas.microsoft.com/office/drawing/2014/main" id="{A2B814EE-F62A-4C07-86DF-716CC102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715000"/>
            <a:ext cx="516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 i="0">
                <a:solidFill>
                  <a:srgbClr val="505653"/>
                </a:solidFill>
                <a:latin typeface="Aptos"/>
                <a:ea typeface="Aptos"/>
                <a:cs typeface="Aptos"/>
              </a:rPr>
              <a:t>Use away from when the distance from someone or something increases.</a:t>
            </a:r>
          </a:p>
        </p:txBody>
      </p:sp>
      <p:sp>
        <p:nvSpPr>
          <p:cNvPr id="81" name="Italic usage note left backing">
            <a:extLst xmlns:a="http://schemas.openxmlformats.org/drawingml/2006/main">
              <a:ext uri="{FF2B5EF4-FFF2-40B4-BE49-F238E27FC236}">
                <a16:creationId xmlns:a16="http://schemas.microsoft.com/office/drawing/2014/main" id="{2F095C51-2D9B-49FC-8407-A6318CDC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76900"/>
            <a:ext cx="53149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Italic usage note left">
            <a:extLst xmlns:a="http://schemas.openxmlformats.org/drawingml/2006/main">
              <a:ext uri="{FF2B5EF4-FFF2-40B4-BE49-F238E27FC236}">
                <a16:creationId xmlns:a16="http://schemas.microsoft.com/office/drawing/2014/main" id="{2F98FB59-2FB2-41A9-BFA3-118E9085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516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8809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>
                <a:solidFill>
                  <a:srgbClr val="182E43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182E43"/>
                </a:solidFill>
                <a:latin typeface="Aptos"/>
                <a:ea typeface="Aptos"/>
                <a:cs typeface="Aptos"/>
              </a:rPr>
              <a:t>Use </a:t>
            </a:r>
            <a:r>
              <a:rPr sz="1600" b="1" i="1">
                <a:solidFill>
                  <a:srgbClr val="182E43"/>
                </a:solidFill>
                <a:latin typeface="Aptos"/>
                <a:ea typeface="Aptos"/>
                <a:cs typeface="Aptos"/>
              </a:rPr>
              <a:t>towards</a:t>
            </a:r>
            <a:r>
              <a:rPr sz="1600">
                <a:solidFill>
                  <a:srgbClr val="182E43"/>
                </a:solidFill>
                <a:latin typeface="Aptos"/>
                <a:ea typeface="Aptos"/>
                <a:cs typeface="Aptos"/>
              </a:rPr>
              <a:t> for movement in the direction of someone or something.</a:t>
            </a:r>
          </a:p>
        </p:txBody>
      </p:sp>
      <p:sp>
        <p:nvSpPr>
          <p:cNvPr id="83" name="Italic usage note right backing">
            <a:extLst xmlns:a="http://schemas.openxmlformats.org/drawingml/2006/main">
              <a:ext uri="{FF2B5EF4-FFF2-40B4-BE49-F238E27FC236}">
                <a16:creationId xmlns:a16="http://schemas.microsoft.com/office/drawing/2014/main" id="{21341FDB-00B7-430D-976B-E9F4010AA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676900"/>
            <a:ext cx="53149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Italic usage note right">
            <a:extLst xmlns:a="http://schemas.openxmlformats.org/drawingml/2006/main">
              <a:ext uri="{FF2B5EF4-FFF2-40B4-BE49-F238E27FC236}">
                <a16:creationId xmlns:a16="http://schemas.microsoft.com/office/drawing/2014/main" id="{EF7F6B6A-7C85-4837-AD25-97C8BFA0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715000"/>
            <a:ext cx="516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8397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>
                <a:solidFill>
                  <a:srgbClr val="182E43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182E43"/>
                </a:solidFill>
                <a:latin typeface="Aptos"/>
                <a:ea typeface="Aptos"/>
                <a:cs typeface="Aptos"/>
              </a:rPr>
              <a:t>Use </a:t>
            </a:r>
            <a:r>
              <a:rPr sz="1600" b="1" i="1">
                <a:solidFill>
                  <a:srgbClr val="182E43"/>
                </a:solidFill>
                <a:latin typeface="Aptos"/>
                <a:ea typeface="Aptos"/>
                <a:cs typeface="Aptos"/>
              </a:rPr>
              <a:t>away from</a:t>
            </a:r>
            <a:r>
              <a:rPr sz="1600">
                <a:solidFill>
                  <a:srgbClr val="182E43"/>
                </a:solidFill>
                <a:latin typeface="Aptos"/>
                <a:ea typeface="Aptos"/>
                <a:cs typeface="Aptos"/>
              </a:rPr>
              <a:t> when the distance from someone or something increases.</a:t>
            </a:r>
          </a:p>
        </p:txBody>
      </p:sp>
      <p:sp>
        <p:nvSpPr>
          <p:cNvPr id="85" name="Forbes English footer clean backing">
            <a:extLst xmlns:a="http://schemas.openxmlformats.org/drawingml/2006/main">
              <a:ext uri="{FF2B5EF4-FFF2-40B4-BE49-F238E27FC236}">
                <a16:creationId xmlns:a16="http://schemas.microsoft.com/office/drawing/2014/main" id="{F69F1933-2E64-4BB0-A266-98642AA0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76975"/>
            <a:ext cx="9144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Forbes English footer wordmark">
            <a:extLst xmlns:a="http://schemas.openxmlformats.org/drawingml/2006/main">
              <a:ext uri="{FF2B5EF4-FFF2-40B4-BE49-F238E27FC236}">
                <a16:creationId xmlns:a16="http://schemas.microsoft.com/office/drawing/2014/main" id="{8F5D6EFA-7EE0-426E-BDBC-7616EAFD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15075"/>
            <a:ext cx="733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i="0">
                <a:solidFill>
                  <a:srgbClr val="101918"/>
                </a:solidFill>
                <a:latin typeface="Georgia"/>
                <a:ea typeface="Georgia"/>
                <a:cs typeface="Georgia"/>
              </a:rPr>
              <a:t>Forbes</a:t>
            </a:r>
          </a:p>
        </p:txBody>
      </p:sp>
      <p:sp>
        <p:nvSpPr>
          <p:cNvPr id="87" name="Forbes English footer second line">
            <a:extLst xmlns:a="http://schemas.openxmlformats.org/drawingml/2006/main">
              <a:ext uri="{FF2B5EF4-FFF2-40B4-BE49-F238E27FC236}">
                <a16:creationId xmlns:a16="http://schemas.microsoft.com/office/drawing/2014/main" id="{B40C9D2A-2CA3-4C3D-B8FA-A2C13FC1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477000"/>
            <a:ext cx="7334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50" b="1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ENGLISH</a:t>
            </a:r>
          </a:p>
        </p:txBody>
      </p:sp>
    </p:spTree>
    <p:extLst>
      <p:ext uri="{BB962C8B-B14F-4D97-AF65-F5344CB8AC3E}">
        <p14:creationId xmlns:p14="http://schemas.microsoft.com/office/powerpoint/2010/main" val="127002656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D9E1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6B48282-CD92-41C9-A962-830C9F60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219456"/>
            <a:ext cx="21031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1350" b="1">
                <a:solidFill>
                  <a:srgbClr val="90111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0111C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366236D-3C5B-4C4D-9BA9-8E065381E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1168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01918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48C374A-87E1-41F4-A578-C0CA4C64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10312"/>
            <a:ext cx="297180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00" b="1">
                <a:solidFill>
                  <a:srgbClr val="182E4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E43"/>
                </a:solidFill>
                <a:latin typeface="Aptos"/>
                <a:ea typeface="Aptos"/>
                <a:cs typeface="Aptos"/>
              </a:rPr>
              <a:t>FORBES ENGLISH • PREPOSITIONS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02AEB06-7503-442D-872A-F05D68A0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390" y="502920"/>
            <a:ext cx="0" cy="52760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7390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CEFEA95F-1F3F-4E20-B799-5FB635BA0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7666" y="3136392"/>
            <a:ext cx="155448" cy="155448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6571D"/>
          </a:solidFill>
          <a:ln xmlns:a="http://schemas.openxmlformats.org/drawingml/2006/main" w="12700">
            <a:solidFill>
              <a:srgbClr val="8A1A1E">
                <a:alpha val="0"/>
              </a:srgbClr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923C9F5-D6B6-4EE0-BAD9-F6A510BEE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1520"/>
            <a:ext cx="507492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300" b="1">
                <a:ln w="10478">
                  <a:solidFill>
                    <a:srgbClr val="303437"/>
                  </a:solidFill>
                  <a:prstDash val="solid"/>
                </a:ln>
                <a:pattFill prst="narHorz">
                  <a:fgClr>
                    <a:srgbClr val="2F3336"/>
                  </a:fgClr>
                  <a:bgClr>
                    <a:srgbClr val="B7B2AA"/>
                  </a:bgClr>
                </a:pattFill>
                <a:latin typeface="Noto Sans Display Condensed"/>
                <a:ea typeface="Noto Sans Display Condensed"/>
                <a:cs typeface="Noto Sans Display Condensed"/>
              </a:rPr>
              <a:t>BY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AE4DD0D-9C8A-4156-BFE5-370CCFFDF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731520"/>
            <a:ext cx="507492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300" b="1">
                <a:ln w="10478">
                  <a:solidFill>
                    <a:srgbClr val="303437"/>
                  </a:solidFill>
                  <a:prstDash val="solid"/>
                </a:ln>
                <a:pattFill prst="narHorz">
                  <a:fgClr>
                    <a:srgbClr val="2F3336"/>
                  </a:fgClr>
                  <a:bgClr>
                    <a:srgbClr val="B7B2AA"/>
                  </a:bgClr>
                </a:pattFill>
                <a:latin typeface="Noto Sans Display Condensed"/>
                <a:ea typeface="Noto Sans Display Condensed"/>
                <a:cs typeface="Noto Sans Display Condensed"/>
              </a:rPr>
              <a:t>UNTIL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7C589056-FA9F-42D5-AFB5-7D10F86D0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1444752"/>
            <a:ext cx="5321808" cy="3547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0DF">
              <a:alpha val="96000"/>
            </a:srgbClr>
          </a:solidFill>
          <a:ln xmlns:a="http://schemas.openxmlformats.org/drawingml/2006/main" w="13335">
            <a:solidFill>
              <a:srgbClr val="8A1A1E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B14CE63-6E9E-44BE-93B4-ECC90E389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1645920"/>
            <a:ext cx="4882896" cy="3145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20">
                <a:solidFill>
                  <a:srgbClr val="101918"/>
                </a:solidFill>
                <a:latin typeface="Aptos"/>
                <a:ea typeface="Aptos"/>
                <a:cs typeface="Aptos"/>
              </a:rPr>
              <a:t>IMAGE SLOT</a:t>
            </a:r>
          </a:p>
          <a:p xmlns:a="http://schemas.openxmlformats.org/drawingml/2006/main">
            <a:pPr marL="0" indent="0" algn="ctr">
              <a:buNone/>
            </a:pPr>
          </a:p>
          <a:p xmlns:a="http://schemas.openxmlformats.org/drawingml/2006/main">
            <a:pPr marL="0" indent="0" algn="ctr">
              <a:buNone/>
            </a:pPr>
            <a:r>
              <a:rPr sz="1320">
                <a:solidFill>
                  <a:srgbClr val="101918"/>
                </a:solidFill>
                <a:latin typeface="Aptos"/>
                <a:ea typeface="Aptos"/>
                <a:cs typeface="Aptos"/>
              </a:rPr>
              <a:t>Major Briggs standing by the Sheriff’s Station map or evidence board. He must be clearly next to it, calm, formal, recognisable.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B0788A5-F1CE-4508-BFE4-CA767B14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1444752"/>
            <a:ext cx="5321808" cy="35478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0DF">
              <a:alpha val="96000"/>
            </a:srgbClr>
          </a:solidFill>
          <a:ln xmlns:a="http://schemas.openxmlformats.org/drawingml/2006/main" w="13335">
            <a:solidFill>
              <a:srgbClr val="233F63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47DE5D0-AE81-4451-9017-50CBAB765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1645920"/>
            <a:ext cx="4882896" cy="3145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20">
                <a:solidFill>
                  <a:srgbClr val="101918"/>
                </a:solidFill>
                <a:latin typeface="Aptos"/>
                <a:ea typeface="Aptos"/>
                <a:cs typeface="Aptos"/>
              </a:rPr>
              <a:t>IMAGE SLOT</a:t>
            </a:r>
          </a:p>
          <a:p xmlns:a="http://schemas.openxmlformats.org/drawingml/2006/main">
            <a:pPr marL="0" indent="0" algn="ctr">
              <a:buNone/>
            </a:pPr>
          </a:p>
          <a:p xmlns:a="http://schemas.openxmlformats.org/drawingml/2006/main">
            <a:pPr marL="0" indent="0" algn="ctr">
              <a:buNone/>
            </a:pPr>
            <a:r>
              <a:rPr sz="1320">
                <a:solidFill>
                  <a:srgbClr val="101918"/>
                </a:solidFill>
                <a:latin typeface="Aptos"/>
                <a:ea typeface="Aptos"/>
                <a:cs typeface="Aptos"/>
              </a:rPr>
              <a:t>Leland Palmer at the Palmer House with a clock or midnight shadow. The time endpoint must be visually clear, not just decorative.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252B175-B2C1-4651-B13E-DAE1A143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5212080"/>
            <a:ext cx="510235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>
                <a:solidFill>
                  <a:srgbClr val="101918"/>
                </a:solidFill>
                <a:latin typeface="Aptos"/>
                <a:ea typeface="Aptos"/>
                <a:cs typeface="Aptos"/>
              </a:rPr>
              <a:t>Major Briggs is standing </a:t>
            </a:r>
            <a:r>
              <a:rPr sz="1700" b="1" i="1">
                <a:solidFill>
                  <a:srgbClr val="8A1A1E"/>
                </a:solidFill>
                <a:latin typeface="Georgia"/>
                <a:ea typeface="Georgia"/>
                <a:cs typeface="Georgia"/>
              </a:rPr>
              <a:t>by</a:t>
            </a:r>
            <a:r>
              <a:rPr sz="1700">
                <a:solidFill>
                  <a:srgbClr val="101918"/>
                </a:solidFill>
                <a:latin typeface="Aptos"/>
                <a:ea typeface="Aptos"/>
                <a:cs typeface="Aptos"/>
              </a:rPr>
              <a:t> the map.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F33F8DB-8960-4B18-B900-41C16364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1384" y="5212080"/>
            <a:ext cx="510235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>
                <a:solidFill>
                  <a:srgbClr val="101918"/>
                </a:solidFill>
                <a:latin typeface="Aptos"/>
                <a:ea typeface="Aptos"/>
                <a:cs typeface="Aptos"/>
              </a:rPr>
              <a:t>Bobby</a:t>
            </a:r>
            <a:r>
              <a:rPr sz="1700">
                <a:solidFill>
                  <a:srgbClr val="101918"/>
                </a:solidFill>
                <a:latin typeface="Aptos"/>
                <a:ea typeface="Aptos"/>
                <a:cs typeface="Aptos"/>
              </a:rPr>
              <a:t> waits </a:t>
            </a:r>
            <a:r>
              <a:rPr sz="1700" b="1" i="1">
                <a:solidFill>
                  <a:srgbClr val="233F63"/>
                </a:solidFill>
                <a:latin typeface="Georgia"/>
                <a:ea typeface="Georgia"/>
                <a:cs typeface="Georgia"/>
              </a:rPr>
              <a:t>until</a:t>
            </a:r>
            <a:r>
              <a:rPr sz="1700">
                <a:solidFill>
                  <a:srgbClr val="101918"/>
                </a:solidFill>
                <a:latin typeface="Aptos"/>
                <a:ea typeface="Aptos"/>
                <a:cs typeface="Aptos"/>
              </a:rPr>
              <a:t> midnight.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B767AC76-03E8-4E71-8C4A-750A5DF43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632704"/>
            <a:ext cx="4754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20" b="1">
                <a:solidFill>
                  <a:srgbClr val="8A1A1E"/>
                </a:solidFill>
                <a:latin typeface="Roboto Condensed"/>
                <a:ea typeface="Roboto Condensed"/>
                <a:cs typeface="Roboto Condensed"/>
              </a:rPr>
              <a:t>BY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32EDFCF-DD66-451E-9063-1480C4892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879592"/>
            <a:ext cx="4754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80" i="1">
                <a:solidFill>
                  <a:srgbClr val="69675E"/>
                </a:solidFill>
                <a:latin typeface="Georgia"/>
                <a:ea typeface="Georgia"/>
                <a:cs typeface="Georgia"/>
              </a:rPr>
              <a:t>next to, near, or at the side of something.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6AEB2641-F79C-4F0D-88AF-2723949F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5632704"/>
            <a:ext cx="47548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20" b="1">
                <a:solidFill>
                  <a:srgbClr val="233F63"/>
                </a:solidFill>
                <a:latin typeface="Roboto Condensed"/>
                <a:ea typeface="Roboto Condensed"/>
                <a:cs typeface="Roboto Condensed"/>
              </a:rPr>
              <a:t>UNTIL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C21422F8-2F0E-413B-B57B-ACF0B62A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5879592"/>
            <a:ext cx="4754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80" i="1">
                <a:solidFill>
                  <a:srgbClr val="69675E"/>
                </a:solidFill>
                <a:latin typeface="Georgia"/>
                <a:ea typeface="Georgia"/>
                <a:cs typeface="Georgia"/>
              </a:rPr>
              <a:t>up to a specific time; the action continues before that time.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0EC6B619-D9BD-413E-8169-A10930BC7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238875"/>
            <a:ext cx="538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7390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8C49502A-2EA3-4C80-B75B-C364CD8B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6238875"/>
            <a:ext cx="538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7390"/>
            </a:solidFill>
            <a:prstDash val="solid"/>
          </a:ln>
        </p:spPr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04C4DC9-ED1E-476D-AEFD-4C894481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6382512"/>
            <a:ext cx="228600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HAWKINS FIELD GUIDE</a:t>
            </a:r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1E1B9992-F7CA-42C5-9480-4F06F240F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6382512"/>
            <a:ext cx="2852928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50" b="1">
                <a:solidFill>
                  <a:srgbClr val="101918"/>
                </a:solidFill>
                <a:latin typeface="Roboto Condensed"/>
                <a:ea typeface="Roboto Condensed"/>
                <a:cs typeface="Roboto Condensed"/>
              </a:rPr>
              <a:t/>
            </a:r>
          </a:p>
        </p:txBody>
      </p:sp>
      <p:sp>
        <p:nvSpPr>
          <p:cNvPr id="25" name="Slide 4 system background">
            <a:extLst xmlns:a="http://schemas.openxmlformats.org/drawingml/2006/main">
              <a:ext uri="{FF2B5EF4-FFF2-40B4-BE49-F238E27FC236}">
                <a16:creationId xmlns:a16="http://schemas.microsoft.com/office/drawing/2014/main" id="{08515F74-B912-400C-AF0C-9707B345E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ED7A7A8C-B01A-47DD-9889-C60778570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219456"/>
            <a:ext cx="210312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777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90111C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90111C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27" name="Header separator">
            <a:extLst xmlns:a="http://schemas.openxmlformats.org/drawingml/2006/main">
              <a:ext uri="{FF2B5EF4-FFF2-40B4-BE49-F238E27FC236}">
                <a16:creationId xmlns:a16="http://schemas.microsoft.com/office/drawing/2014/main" id="{2C59D953-B096-41BF-B19B-991C9CECD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1168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01918"/>
            </a:solidFill>
            <a:prstDash val="solid"/>
          </a:ln>
        </p:spPr>
      </p:sp>
      <p:sp>
        <p:nvSpPr>
          <p:cNvPr id="28" name="Running header">
            <a:extLst xmlns:a="http://schemas.openxmlformats.org/drawingml/2006/main">
              <a:ext uri="{FF2B5EF4-FFF2-40B4-BE49-F238E27FC236}">
                <a16:creationId xmlns:a16="http://schemas.microsoft.com/office/drawing/2014/main" id="{11EBE1D6-7C5A-4923-A2F6-DD653E9CA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10312"/>
            <a:ext cx="2971800" cy="210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82E43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82E43"/>
                </a:solidFill>
                <a:latin typeface="Aptos"/>
                <a:ea typeface="Aptos"/>
                <a:cs typeface="Aptos"/>
              </a:rPr>
              <a:t>FORBES ENGLISH • PREPOSITIONS</a:t>
            </a:r>
          </a:p>
        </p:txBody>
      </p:sp>
      <p:sp>
        <p:nvSpPr>
          <p:cNvPr id="29" name="Centre divider">
            <a:extLst xmlns:a="http://schemas.openxmlformats.org/drawingml/2006/main">
              <a:ext uri="{FF2B5EF4-FFF2-40B4-BE49-F238E27FC236}">
                <a16:creationId xmlns:a16="http://schemas.microsoft.com/office/drawing/2014/main" id="{74183580-C5B8-45FF-B966-8C287705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429" y="502920"/>
            <a:ext cx="0" cy="52760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7390"/>
            </a:solidFill>
            <a:prstDash val="solid"/>
          </a:ln>
        </p:spPr>
      </p:sp>
      <p:sp>
        <p:nvSpPr>
          <p:cNvPr id="30" name="Centre diamond">
            <a:extLst xmlns:a="http://schemas.openxmlformats.org/drawingml/2006/main">
              <a:ext uri="{FF2B5EF4-FFF2-40B4-BE49-F238E27FC236}">
                <a16:creationId xmlns:a16="http://schemas.microsoft.com/office/drawing/2014/main" id="{592584AB-7EB9-4DD0-97C3-4B9CA11AB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7705" y="3136392"/>
            <a:ext cx="155448" cy="155448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1073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arget title left">
            <a:extLst xmlns:a="http://schemas.openxmlformats.org/drawingml/2006/main">
              <a:ext uri="{FF2B5EF4-FFF2-40B4-BE49-F238E27FC236}">
                <a16:creationId xmlns:a16="http://schemas.microsoft.com/office/drawing/2014/main" id="{9660EB09-51AA-471F-B15A-0D07446C6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1520"/>
            <a:ext cx="5074920" cy="658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300" b="1">
                <a:solidFill>
                  <a:srgbClr val="C9C5BD"/>
                </a:solidFill>
                <a:latin typeface="Noto Sans Display Condensed"/>
                <a:ea typeface="Noto Sans Display Condensed"/>
                <a:cs typeface="Noto Sans Display Condensed"/>
              </a:defRPr>
            </a:pPr>
            <a:r>
              <a:rPr sz="4300" b="1" i="0">
                <a:ln w="10478">
                  <a:solidFill>
                    <a:srgbClr val="303437"/>
                  </a:solidFill>
                  <a:prstDash val="solid"/>
                </a:ln>
                <a:solidFill>
                  <a:srgbClr val="C9C5BD"/>
                </a:solidFill>
                <a:latin typeface="Noto Sans Display Condensed"/>
                <a:ea typeface="Noto Sans Display Condensed"/>
                <a:cs typeface="Noto Sans Display Condensed"/>
              </a:rPr>
              <a:t>BY</a:t>
            </a:r>
          </a:p>
        </p:txBody>
      </p:sp>
      <p:sp>
        <p:nvSpPr>
          <p:cNvPr id="32" name="Target title right">
            <a:extLst xmlns:a="http://schemas.openxmlformats.org/drawingml/2006/main">
              <a:ext uri="{FF2B5EF4-FFF2-40B4-BE49-F238E27FC236}">
                <a16:creationId xmlns:a16="http://schemas.microsoft.com/office/drawing/2014/main" id="{DF97D451-7DED-490E-92E9-3D3FF6CD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731520"/>
            <a:ext cx="5074920" cy="6583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300" b="1">
                <a:solidFill>
                  <a:srgbClr val="C9C5BD"/>
                </a:solidFill>
                <a:latin typeface="Noto Sans Display Condensed"/>
                <a:ea typeface="Noto Sans Display Condensed"/>
                <a:cs typeface="Noto Sans Display Condensed"/>
              </a:defRPr>
            </a:pPr>
            <a:r>
              <a:rPr sz="4300" b="1" i="0">
                <a:ln w="10478">
                  <a:solidFill>
                    <a:srgbClr val="303437"/>
                  </a:solidFill>
                  <a:prstDash val="solid"/>
                </a:ln>
                <a:solidFill>
                  <a:srgbClr val="C9C5BD"/>
                </a:solidFill>
                <a:latin typeface="Noto Sans Display Condensed"/>
                <a:ea typeface="Noto Sans Display Condensed"/>
                <a:cs typeface="Noto Sans Display Condensed"/>
              </a:rPr>
              <a:t>UNTIL</a:t>
            </a:r>
          </a:p>
        </p:txBody>
      </p:sp>
      <p:sp>
        <p:nvSpPr>
          <p:cNvPr id="33" name="Footer line left">
            <a:extLst xmlns:a="http://schemas.openxmlformats.org/drawingml/2006/main">
              <a:ext uri="{FF2B5EF4-FFF2-40B4-BE49-F238E27FC236}">
                <a16:creationId xmlns:a16="http://schemas.microsoft.com/office/drawing/2014/main" id="{928CFC2E-E49C-4A49-8743-EA57EEC7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238875"/>
            <a:ext cx="538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7390"/>
            </a:solidFill>
            <a:prstDash val="solid"/>
          </a:ln>
        </p:spPr>
      </p:sp>
      <p:sp>
        <p:nvSpPr>
          <p:cNvPr id="34" name="Footer line right">
            <a:extLst xmlns:a="http://schemas.openxmlformats.org/drawingml/2006/main">
              <a:ext uri="{FF2B5EF4-FFF2-40B4-BE49-F238E27FC236}">
                <a16:creationId xmlns:a16="http://schemas.microsoft.com/office/drawing/2014/main" id="{15D55958-4E64-4CA2-9A1B-528C4F11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6238875"/>
            <a:ext cx="538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7390"/>
            </a:solidFill>
            <a:prstDash val="solid"/>
          </a:ln>
        </p:spPr>
      </p:sp>
      <p:pic>
        <p:nvPicPr>
          <p:cNvPr id="1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777358ca3848d3"/>
          <a:stretch xmlns:a="http://schemas.openxmlformats.org/drawingml/2006/main"/>
        </p:blipFill>
        <p:spPr>
          <a:xfrm xmlns:a="http://schemas.openxmlformats.org/drawingml/2006/main">
            <a:off x="5829300" y="6048375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36" name="Footer left">
            <a:extLst xmlns:a="http://schemas.openxmlformats.org/drawingml/2006/main">
              <a:ext uri="{FF2B5EF4-FFF2-40B4-BE49-F238E27FC236}">
                <a16:creationId xmlns:a16="http://schemas.microsoft.com/office/drawing/2014/main" id="{AA3ACD3F-947E-4CCE-9811-F4DA30AB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3817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11111"/>
                </a:solidFill>
                <a:latin typeface="Aptos"/>
                <a:ea typeface="Aptos"/>
                <a:cs typeface="Aptos"/>
              </a:rPr>
              <a:t>HAWKINS FIELD GUIDE</a:t>
            </a:r>
          </a:p>
        </p:txBody>
      </p:sp>
      <p:sp>
        <p:nvSpPr>
          <p:cNvPr id="37" name="Footer course">
            <a:extLst xmlns:a="http://schemas.openxmlformats.org/drawingml/2006/main">
              <a:ext uri="{FF2B5EF4-FFF2-40B4-BE49-F238E27FC236}">
                <a16:creationId xmlns:a16="http://schemas.microsoft.com/office/drawing/2014/main" id="{A7F2A3CE-1F0B-44C9-83AC-F65A5545F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38175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200" b="1" i="0">
                <a:solidFill>
                  <a:srgbClr val="101918"/>
                </a:solidFill>
                <a:latin typeface="Roboto Condensed"/>
                <a:ea typeface="Roboto Condensed"/>
                <a:cs typeface="Roboto Condensed"/>
              </a:rPr>
              <a:t/>
            </a:r>
          </a:p>
        </p:txBody>
      </p:sp>
      <p:pic>
        <p:nvPicPr>
          <p:cNvPr id="1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bed9f07d94407e">
            <a:extLst>
              <a:ext uri="{96DAC541-7B7A-43D3-8B79-37D633B846F1}">
                <asvg:svgBlip xmlns:asvg="http://schemas.microsoft.com/office/drawing/2016/SVG/main" r:embed="R577dc6eb537b454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144250" y="6267450"/>
            <a:ext cx="781050" cy="361950"/>
          </a:xfrm>
          <a:prstGeom xmlns:a="http://schemas.openxmlformats.org/drawingml/2006/main" prst="rect">
            <a:avLst/>
          </a:prstGeom>
        </p:spPr>
      </p:pic>
      <p:sp>
        <p:nvSpPr>
          <p:cNvPr id="40" name="Left image slot">
            <a:extLst xmlns:a="http://schemas.openxmlformats.org/drawingml/2006/main">
              <a:ext uri="{FF2B5EF4-FFF2-40B4-BE49-F238E27FC236}">
                <a16:creationId xmlns:a16="http://schemas.microsoft.com/office/drawing/2014/main" id="{1448A4D5-3EA9-44F9-881A-43439EC76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52197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1" name="Right image slot">
            <a:extLst xmlns:a="http://schemas.openxmlformats.org/drawingml/2006/main">
              <a:ext uri="{FF2B5EF4-FFF2-40B4-BE49-F238E27FC236}">
                <a16:creationId xmlns:a16="http://schemas.microsoft.com/office/drawing/2014/main" id="{3CC33884-46AA-4A35-8F03-7ADF7786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76400"/>
            <a:ext cx="52197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2" name="Left image brief">
            <a:extLst xmlns:a="http://schemas.openxmlformats.org/drawingml/2006/main">
              <a:ext uri="{FF2B5EF4-FFF2-40B4-BE49-F238E27FC236}">
                <a16:creationId xmlns:a16="http://schemas.microsoft.com/office/drawing/2014/main" id="{25D40FCD-2A36-48DA-B286-C2A1E5EC6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71750"/>
            <a:ext cx="4552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 i="0">
                <a:solidFill>
                  <a:srgbClr val="101918"/>
                </a:solidFill>
                <a:latin typeface="Aptos"/>
                <a:ea typeface="Aptos"/>
                <a:cs typeface="Aptos"/>
              </a:rPr>
              <a:t>Major Briggs stands by the Sheriff’s Station map.</a:t>
            </a:r>
          </a:p>
        </p:txBody>
      </p:sp>
      <p:sp>
        <p:nvSpPr>
          <p:cNvPr id="43" name="Right image brief">
            <a:extLst xmlns:a="http://schemas.openxmlformats.org/drawingml/2006/main">
              <a:ext uri="{FF2B5EF4-FFF2-40B4-BE49-F238E27FC236}">
                <a16:creationId xmlns:a16="http://schemas.microsoft.com/office/drawing/2014/main" id="{0607C4C5-3AD3-455F-897A-89B0A9CED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571750"/>
            <a:ext cx="45529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0" i="0">
                <a:solidFill>
                  <a:srgbClr val="101918"/>
                </a:solidFill>
                <a:latin typeface="Aptos"/>
                <a:ea typeface="Aptos"/>
                <a:cs typeface="Aptos"/>
              </a:rPr>
              <a:t>Leland waits until the clock reaches midnight.</a:t>
            </a:r>
          </a:p>
        </p:txBody>
      </p:sp>
      <p:sp>
        <p:nvSpPr>
          <p:cNvPr id="44" name="Sentence field left">
            <a:extLst xmlns:a="http://schemas.openxmlformats.org/drawingml/2006/main">
              <a:ext uri="{FF2B5EF4-FFF2-40B4-BE49-F238E27FC236}">
                <a16:creationId xmlns:a16="http://schemas.microsoft.com/office/drawing/2014/main" id="{D7EAF460-6D06-4DE8-83C0-898096A2B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05400"/>
            <a:ext cx="5314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5" name="Sentence field right">
            <a:extLst xmlns:a="http://schemas.openxmlformats.org/drawingml/2006/main">
              <a:ext uri="{FF2B5EF4-FFF2-40B4-BE49-F238E27FC236}">
                <a16:creationId xmlns:a16="http://schemas.microsoft.com/office/drawing/2014/main" id="{EC328155-9D4D-4034-8422-590D5973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05400"/>
            <a:ext cx="5314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6" name="Sentence left">
            <a:extLst xmlns:a="http://schemas.openxmlformats.org/drawingml/2006/main">
              <a:ext uri="{FF2B5EF4-FFF2-40B4-BE49-F238E27FC236}">
                <a16:creationId xmlns:a16="http://schemas.microsoft.com/office/drawing/2014/main" id="{F43B2E62-AD76-4B45-B078-748F7046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62550"/>
            <a:ext cx="5219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>
                <a:solidFill>
                  <a:srgbClr val="182E43"/>
                </a:solidFill>
                <a:latin typeface="Aptos"/>
                <a:ea typeface="Aptos"/>
                <a:cs typeface="Aptos"/>
              </a:defRPr>
            </a:pPr>
            <a:r>
              <a:rPr sz="1700">
                <a:solidFill>
                  <a:srgbClr val="182E43"/>
                </a:solidFill>
                <a:latin typeface="Aptos"/>
                <a:ea typeface="Aptos"/>
                <a:cs typeface="Aptos"/>
              </a:rPr>
              <a:t>Hopper is standing </a:t>
            </a:r>
            <a:r>
              <a:rPr sz="1700" b="1" i="1">
                <a:solidFill>
                  <a:srgbClr val="182E43"/>
                </a:solidFill>
                <a:latin typeface="Aptos"/>
                <a:ea typeface="Aptos"/>
                <a:cs typeface="Aptos"/>
              </a:rPr>
              <a:t>by</a:t>
            </a:r>
            <a:r>
              <a:rPr sz="1700">
                <a:solidFill>
                  <a:srgbClr val="182E43"/>
                </a:solidFill>
                <a:latin typeface="Aptos"/>
                <a:ea typeface="Aptos"/>
                <a:cs typeface="Aptos"/>
              </a:rPr>
              <a:t> the map.</a:t>
            </a:r>
          </a:p>
        </p:txBody>
      </p:sp>
      <p:sp>
        <p:nvSpPr>
          <p:cNvPr id="47" name="Sentence right">
            <a:extLst xmlns:a="http://schemas.openxmlformats.org/drawingml/2006/main">
              <a:ext uri="{FF2B5EF4-FFF2-40B4-BE49-F238E27FC236}">
                <a16:creationId xmlns:a16="http://schemas.microsoft.com/office/drawing/2014/main" id="{C8E3BEBA-B4C7-4348-9DC5-0B8E79E5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5162550"/>
            <a:ext cx="5219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>
                <a:solidFill>
                  <a:srgbClr val="101918"/>
                </a:solidFill>
                <a:latin typeface="Aptos"/>
                <a:ea typeface="Aptos"/>
                <a:cs typeface="Aptos"/>
              </a:rPr>
              <a:t>Bobby</a:t>
            </a:r>
            <a:r>
              <a:rPr sz="1700">
                <a:solidFill>
                  <a:srgbClr val="101918"/>
                </a:solidFill>
                <a:latin typeface="Aptos"/>
                <a:ea typeface="Aptos"/>
                <a:cs typeface="Aptos"/>
              </a:rPr>
              <a:t> waits </a:t>
            </a:r>
            <a:r>
              <a:rPr sz="1700" b="1" i="1">
                <a:solidFill>
                  <a:srgbClr val="8A1A1E"/>
                </a:solidFill>
                <a:latin typeface="Georgia"/>
                <a:ea typeface="Georgia"/>
                <a:cs typeface="Georgia"/>
              </a:rPr>
              <a:t>until</a:t>
            </a:r>
            <a:r>
              <a:rPr sz="1700">
                <a:solidFill>
                  <a:srgbClr val="101918"/>
                </a:solidFill>
                <a:latin typeface="Aptos"/>
                <a:ea typeface="Aptos"/>
                <a:cs typeface="Aptos"/>
              </a:rPr>
              <a:t> midnight.</a:t>
            </a:r>
          </a:p>
        </p:txBody>
      </p:sp>
      <p:sp>
        <p:nvSpPr>
          <p:cNvPr id="51" name="Clean emblem background">
            <a:extLst xmlns:a="http://schemas.openxmlformats.org/drawingml/2006/main">
              <a:ext uri="{FF2B5EF4-FFF2-40B4-BE49-F238E27FC236}">
                <a16:creationId xmlns:a16="http://schemas.microsoft.com/office/drawing/2014/main" id="{6C0D972F-10B1-4298-9740-2D637D1CB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6010275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f3f6fe042e47be">
            <a:extLst>
              <a:ext uri="{96DAC541-7B7A-43D3-8B79-37D633B846F1}">
                <asvg:svgBlip xmlns:asvg="http://schemas.microsoft.com/office/drawing/2016/SVG/main" r:embed="R3d76b7eef37740f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829300" y="6048375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56" name="Cover emblem clean background">
            <a:extLst xmlns:a="http://schemas.openxmlformats.org/drawingml/2006/main">
              <a:ext uri="{FF2B5EF4-FFF2-40B4-BE49-F238E27FC236}">
                <a16:creationId xmlns:a16="http://schemas.microsoft.com/office/drawing/2014/main" id="{438D0B3B-3B4F-42EA-BC73-553D72503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6010275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be58521cee48c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29300" y="6048375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62" name="Major Briggs standing by the map cream backing">
            <a:extLst xmlns:a="http://schemas.openxmlformats.org/drawingml/2006/main">
              <a:ext uri="{FF2B5EF4-FFF2-40B4-BE49-F238E27FC236}">
                <a16:creationId xmlns:a16="http://schemas.microsoft.com/office/drawing/2014/main" id="{78FC81E3-509F-4746-9DE6-30A1201B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52197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71e0a8076049a3"/>
          <a:srcRect xmlns:a="http://schemas.openxmlformats.org/drawingml/2006/main" l="1314" t="0" r="131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476250" y="1676400"/>
            <a:ext cx="5219700" cy="3429000"/>
          </a:xfrm>
          <a:prstGeom xmlns:a="http://schemas.openxmlformats.org/drawingml/2006/main" prst="rect">
            <a:avLst/>
          </a:prstGeom>
        </p:spPr>
      </p:pic>
      <p:sp>
        <p:nvSpPr>
          <p:cNvPr id="64" name="Bobby waiting until midnight cream backing">
            <a:extLst xmlns:a="http://schemas.openxmlformats.org/drawingml/2006/main">
              <a:ext uri="{FF2B5EF4-FFF2-40B4-BE49-F238E27FC236}">
                <a16:creationId xmlns:a16="http://schemas.microsoft.com/office/drawing/2014/main" id="{80ECD173-DA77-4BE8-A63C-201E39416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76400"/>
            <a:ext cx="52197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e13b31ad214bde"/>
          <a:srcRect xmlns:a="http://schemas.openxmlformats.org/drawingml/2006/main" l="1314" t="0" r="131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496050" y="1676400"/>
            <a:ext cx="5219700" cy="3429000"/>
          </a:xfrm>
          <a:prstGeom xmlns:a="http://schemas.openxmlformats.org/drawingml/2006/main" prst="rect">
            <a:avLst/>
          </a:prstGeom>
        </p:spPr>
      </p:pic>
      <p:sp>
        <p:nvSpPr>
          <p:cNvPr id="72" name="Basic course header clean backing">
            <a:extLst xmlns:a="http://schemas.openxmlformats.org/drawingml/2006/main">
              <a:ext uri="{FF2B5EF4-FFF2-40B4-BE49-F238E27FC236}">
                <a16:creationId xmlns:a16="http://schemas.microsoft.com/office/drawing/2014/main" id="{D711E2AE-E869-4354-90F5-2F262ED94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"/>
            <a:ext cx="32861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Basic course running header">
            <a:extLst xmlns:a="http://schemas.openxmlformats.org/drawingml/2006/main">
              <a:ext uri="{FF2B5EF4-FFF2-40B4-BE49-F238E27FC236}">
                <a16:creationId xmlns:a16="http://schemas.microsoft.com/office/drawing/2014/main" id="{30F441D2-AF1E-40DB-831F-A9B80403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82E43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82E43"/>
                </a:solidFill>
                <a:latin typeface="Aptos"/>
                <a:ea typeface="Aptos"/>
                <a:cs typeface="Aptos"/>
              </a:rPr>
              <a:t>FORBES ENGLISH • PREPOSITIONS</a:t>
            </a:r>
          </a:p>
        </p:txBody>
      </p:sp>
      <p:sp>
        <p:nvSpPr>
          <p:cNvPr id="74" name="Usage note left backing">
            <a:extLst xmlns:a="http://schemas.openxmlformats.org/drawingml/2006/main">
              <a:ext uri="{FF2B5EF4-FFF2-40B4-BE49-F238E27FC236}">
                <a16:creationId xmlns:a16="http://schemas.microsoft.com/office/drawing/2014/main" id="{FFE94849-14A5-4433-9B9F-47900563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76900"/>
            <a:ext cx="53149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Usage note left">
            <a:extLst xmlns:a="http://schemas.openxmlformats.org/drawingml/2006/main">
              <a:ext uri="{FF2B5EF4-FFF2-40B4-BE49-F238E27FC236}">
                <a16:creationId xmlns:a16="http://schemas.microsoft.com/office/drawing/2014/main" id="{C13AEABD-30DB-4342-8D9F-D96063A3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516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 i="0">
                <a:solidFill>
                  <a:srgbClr val="505653"/>
                </a:solidFill>
                <a:latin typeface="Aptos"/>
                <a:ea typeface="Aptos"/>
                <a:cs typeface="Aptos"/>
              </a:rPr>
              <a:t>Use by for a position beside or very near something.</a:t>
            </a:r>
          </a:p>
        </p:txBody>
      </p:sp>
      <p:sp>
        <p:nvSpPr>
          <p:cNvPr id="76" name="Usage note right backing">
            <a:extLst xmlns:a="http://schemas.openxmlformats.org/drawingml/2006/main">
              <a:ext uri="{FF2B5EF4-FFF2-40B4-BE49-F238E27FC236}">
                <a16:creationId xmlns:a16="http://schemas.microsoft.com/office/drawing/2014/main" id="{D9216AFD-239F-467D-8E39-A477879E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676900"/>
            <a:ext cx="53149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Usage note right">
            <a:extLst xmlns:a="http://schemas.openxmlformats.org/drawingml/2006/main">
              <a:ext uri="{FF2B5EF4-FFF2-40B4-BE49-F238E27FC236}">
                <a16:creationId xmlns:a16="http://schemas.microsoft.com/office/drawing/2014/main" id="{B7C570A8-7433-4D3B-9A17-AE9CD1C4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715000"/>
            <a:ext cx="516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 i="0">
                <a:solidFill>
                  <a:srgbClr val="505653"/>
                </a:solidFill>
                <a:latin typeface="Aptos"/>
                <a:ea typeface="Aptos"/>
                <a:cs typeface="Aptos"/>
              </a:rPr>
              <a:t>Use until for an action or state continuing up to a particular time.</a:t>
            </a:r>
          </a:p>
        </p:txBody>
      </p:sp>
      <p:sp>
        <p:nvSpPr>
          <p:cNvPr id="85" name="Bobby caption final backing">
            <a:extLst xmlns:a="http://schemas.openxmlformats.org/drawingml/2006/main">
              <a:ext uri="{FF2B5EF4-FFF2-40B4-BE49-F238E27FC236}">
                <a16:creationId xmlns:a16="http://schemas.microsoft.com/office/drawing/2014/main" id="{ADFFADAA-8146-43E6-AF75-FE9F6002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05400"/>
            <a:ext cx="5314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Bobby caption final">
            <a:extLst xmlns:a="http://schemas.openxmlformats.org/drawingml/2006/main">
              <a:ext uri="{FF2B5EF4-FFF2-40B4-BE49-F238E27FC236}">
                <a16:creationId xmlns:a16="http://schemas.microsoft.com/office/drawing/2014/main" id="{6D7E6BF5-2F96-4BC1-AFF1-7768194E9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5162550"/>
            <a:ext cx="5219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>
                <a:solidFill>
                  <a:srgbClr val="182E43"/>
                </a:solidFill>
                <a:latin typeface="Aptos"/>
                <a:ea typeface="Aptos"/>
                <a:cs typeface="Aptos"/>
              </a:defRPr>
            </a:pPr>
            <a:r>
              <a:rPr sz="1700">
                <a:solidFill>
                  <a:srgbClr val="182E43"/>
                </a:solidFill>
                <a:latin typeface="Aptos"/>
                <a:ea typeface="Aptos"/>
                <a:cs typeface="Aptos"/>
              </a:rPr>
              <a:t>Mike is waiting </a:t>
            </a:r>
            <a:r>
              <a:rPr sz="1700" b="1" i="1">
                <a:solidFill>
                  <a:srgbClr val="182E43"/>
                </a:solidFill>
                <a:latin typeface="Aptos"/>
                <a:ea typeface="Aptos"/>
                <a:cs typeface="Aptos"/>
              </a:rPr>
              <a:t>until</a:t>
            </a:r>
            <a:r>
              <a:rPr sz="1700">
                <a:solidFill>
                  <a:srgbClr val="182E43"/>
                </a:solidFill>
                <a:latin typeface="Aptos"/>
                <a:ea typeface="Aptos"/>
                <a:cs typeface="Aptos"/>
              </a:rPr>
              <a:t> midnight.</a:t>
            </a:r>
          </a:p>
        </p:txBody>
      </p:sp>
      <p:sp>
        <p:nvSpPr>
          <p:cNvPr id="87" name="Italic usage note left backing">
            <a:extLst xmlns:a="http://schemas.openxmlformats.org/drawingml/2006/main">
              <a:ext uri="{FF2B5EF4-FFF2-40B4-BE49-F238E27FC236}">
                <a16:creationId xmlns:a16="http://schemas.microsoft.com/office/drawing/2014/main" id="{4BD506EA-DB10-40FE-A6ED-A0F8959D4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676900"/>
            <a:ext cx="53149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Italic usage note left">
            <a:extLst xmlns:a="http://schemas.openxmlformats.org/drawingml/2006/main">
              <a:ext uri="{FF2B5EF4-FFF2-40B4-BE49-F238E27FC236}">
                <a16:creationId xmlns:a16="http://schemas.microsoft.com/office/drawing/2014/main" id="{7072BAE2-D33D-4397-88F9-89F2A716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516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>
                <a:solidFill>
                  <a:srgbClr val="182E43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182E43"/>
                </a:solidFill>
                <a:latin typeface="Aptos"/>
                <a:ea typeface="Aptos"/>
                <a:cs typeface="Aptos"/>
              </a:rPr>
              <a:t>Use </a:t>
            </a:r>
            <a:r>
              <a:rPr sz="1600" b="1" i="1">
                <a:solidFill>
                  <a:srgbClr val="182E43"/>
                </a:solidFill>
                <a:latin typeface="Aptos"/>
                <a:ea typeface="Aptos"/>
                <a:cs typeface="Aptos"/>
              </a:rPr>
              <a:t>by</a:t>
            </a:r>
            <a:r>
              <a:rPr sz="1600">
                <a:solidFill>
                  <a:srgbClr val="182E43"/>
                </a:solidFill>
                <a:latin typeface="Aptos"/>
                <a:ea typeface="Aptos"/>
                <a:cs typeface="Aptos"/>
              </a:rPr>
              <a:t> for a position beside or very near something.</a:t>
            </a:r>
          </a:p>
        </p:txBody>
      </p:sp>
      <p:sp>
        <p:nvSpPr>
          <p:cNvPr id="89" name="Italic usage note right backing">
            <a:extLst xmlns:a="http://schemas.openxmlformats.org/drawingml/2006/main">
              <a:ext uri="{FF2B5EF4-FFF2-40B4-BE49-F238E27FC236}">
                <a16:creationId xmlns:a16="http://schemas.microsoft.com/office/drawing/2014/main" id="{00DC43D9-DAB6-4822-B975-E4B55C7A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676900"/>
            <a:ext cx="531495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Italic usage note right">
            <a:extLst xmlns:a="http://schemas.openxmlformats.org/drawingml/2006/main">
              <a:ext uri="{FF2B5EF4-FFF2-40B4-BE49-F238E27FC236}">
                <a16:creationId xmlns:a16="http://schemas.microsoft.com/office/drawing/2014/main" id="{B0340911-3405-4C88-9A77-609C7D18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715000"/>
            <a:ext cx="5162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9526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>
                <a:solidFill>
                  <a:srgbClr val="182E43"/>
                </a:solidFill>
                <a:latin typeface="Aptos"/>
                <a:ea typeface="Aptos"/>
                <a:cs typeface="Aptos"/>
              </a:defRPr>
            </a:pPr>
            <a:r>
              <a:rPr sz="1600">
                <a:solidFill>
                  <a:srgbClr val="182E43"/>
                </a:solidFill>
                <a:latin typeface="Aptos"/>
                <a:ea typeface="Aptos"/>
                <a:cs typeface="Aptos"/>
              </a:rPr>
              <a:t>Use </a:t>
            </a:r>
            <a:r>
              <a:rPr sz="1600" b="1" i="1">
                <a:solidFill>
                  <a:srgbClr val="182E43"/>
                </a:solidFill>
                <a:latin typeface="Aptos"/>
                <a:ea typeface="Aptos"/>
                <a:cs typeface="Aptos"/>
              </a:rPr>
              <a:t>until</a:t>
            </a:r>
            <a:r>
              <a:rPr sz="1600">
                <a:solidFill>
                  <a:srgbClr val="182E43"/>
                </a:solidFill>
                <a:latin typeface="Aptos"/>
                <a:ea typeface="Aptos"/>
                <a:cs typeface="Aptos"/>
              </a:rPr>
              <a:t> for an action or state continuing up to a particular time.</a:t>
            </a:r>
          </a:p>
        </p:txBody>
      </p:sp>
      <p:sp>
        <p:nvSpPr>
          <p:cNvPr id="91" name="Forbes English footer clean backing">
            <a:extLst xmlns:a="http://schemas.openxmlformats.org/drawingml/2006/main">
              <a:ext uri="{FF2B5EF4-FFF2-40B4-BE49-F238E27FC236}">
                <a16:creationId xmlns:a16="http://schemas.microsoft.com/office/drawing/2014/main" id="{0CA7FE7E-5034-4D30-9E98-C05CA19A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76975"/>
            <a:ext cx="9144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Forbes English footer wordmark">
            <a:extLst xmlns:a="http://schemas.openxmlformats.org/drawingml/2006/main">
              <a:ext uri="{FF2B5EF4-FFF2-40B4-BE49-F238E27FC236}">
                <a16:creationId xmlns:a16="http://schemas.microsoft.com/office/drawing/2014/main" id="{E82566E2-FE86-41C5-B7FF-50672661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15075"/>
            <a:ext cx="733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i="0">
                <a:solidFill>
                  <a:srgbClr val="101918"/>
                </a:solidFill>
                <a:latin typeface="Georgia"/>
                <a:ea typeface="Georgia"/>
                <a:cs typeface="Georgia"/>
              </a:rPr>
              <a:t>Forbes</a:t>
            </a:r>
          </a:p>
        </p:txBody>
      </p:sp>
      <p:sp>
        <p:nvSpPr>
          <p:cNvPr id="93" name="Forbes English footer second line">
            <a:extLst xmlns:a="http://schemas.openxmlformats.org/drawingml/2006/main">
              <a:ext uri="{FF2B5EF4-FFF2-40B4-BE49-F238E27FC236}">
                <a16:creationId xmlns:a16="http://schemas.microsoft.com/office/drawing/2014/main" id="{4DADBB1F-1ADD-4D36-A0A8-00C5C6B4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477000"/>
            <a:ext cx="7334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50" b="1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ENGLISH</a:t>
            </a:r>
          </a:p>
        </p:txBody>
      </p:sp>
    </p:spTree>
    <p:extLst>
      <p:ext uri="{BB962C8B-B14F-4D97-AF65-F5344CB8AC3E}">
        <p14:creationId xmlns:p14="http://schemas.microsoft.com/office/powerpoint/2010/main" val="137635987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D9E1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51BD687-931F-4CC2-8BB9-623D8366C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" y="219456"/>
            <a:ext cx="21031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  <a:defRPr sz="1350" b="1">
                <a:solidFill>
                  <a:srgbClr val="90111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0111C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E5CAE96-06E5-4E7A-AD75-11073403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1168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01918"/>
            </a:solidFill>
            <a:prstDash val="solid"/>
          </a:ln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583EA0B-151D-4DDE-961C-8ABFF9D9B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10312"/>
            <a:ext cx="297180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00" b="1">
                <a:solidFill>
                  <a:srgbClr val="182E4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E43"/>
                </a:solidFill>
                <a:latin typeface="Aptos"/>
                <a:ea typeface="Aptos"/>
                <a:cs typeface="Aptos"/>
              </a:rPr>
              <a:t>FORBES ENGLISH • PREPOSITIONS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3A8B9B2-0054-4CC6-B209-20BE4CBF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31520"/>
            <a:ext cx="1092708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4300" b="1">
                <a:solidFill>
                  <a:srgbClr val="C9C5BD"/>
                </a:solidFill>
                <a:latin typeface="Noto Sans Display Condensed"/>
                <a:ea typeface="Noto Sans Display Condensed"/>
                <a:cs typeface="Noto Sans Display Condensed"/>
              </a:defRPr>
            </a:pPr>
            <a:r>
              <a:rPr sz="4300" b="1">
                <a:ln w="10478">
                  <a:solidFill>
                    <a:srgbClr val="303437"/>
                  </a:solidFill>
                  <a:prstDash val="solid"/>
                </a:ln>
                <a:solidFill>
                  <a:srgbClr val="C9C5BD"/>
                </a:solidFill>
                <a:latin typeface="Noto Sans Display Condensed"/>
                <a:ea typeface="Noto Sans Display Condensed"/>
                <a:cs typeface="Noto Sans Display Condensed"/>
              </a:rPr>
              <a:t>REVIEW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75D8F703-9BE6-4147-A761-7175677E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508760"/>
            <a:ext cx="10881360" cy="36393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0DF">
              <a:alpha val="9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ECB2A9D-114A-4A55-B10D-80B0E4688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09928"/>
            <a:ext cx="10442448" cy="32369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20">
                <a:solidFill>
                  <a:srgbClr val="101918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A070862-5755-45AA-A2E1-07CFB96C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413248"/>
            <a:ext cx="107442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10">
                <a:solidFill>
                  <a:srgbClr val="101918"/>
                </a:solidFill>
                <a:latin typeface="Aptos"/>
                <a:ea typeface="Aptos"/>
                <a:cs typeface="Aptos"/>
              </a:rPr>
              <a:t>between / among   •   in front of / behind   •   above / over   •   into / out of   •   around / through   •   on / under   •   across / along   •   near / next to   •   opposite / facing   •   inside / outside   •   towards / away from   •   by / until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2D593306-E1A6-4BDD-BFAF-82CFF3F45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238875"/>
            <a:ext cx="538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7390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65CEB3A-0E0C-4B19-8CCA-3B6DAD09A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6238875"/>
            <a:ext cx="538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7390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7274B028-28CC-4C13-B418-5B12AB15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" y="6382512"/>
            <a:ext cx="228600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HAWKINS FIELD GUIDE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A9F5ACB-74DA-4A4C-AE74-9A9DA2007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6382512"/>
            <a:ext cx="2852928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50" b="1">
                <a:solidFill>
                  <a:srgbClr val="101918"/>
                </a:solidFill>
                <a:latin typeface="Roboto Condensed"/>
                <a:ea typeface="Roboto Condensed"/>
                <a:cs typeface="Roboto Condensed"/>
              </a:rPr>
              <a:t/>
            </a:r>
          </a:p>
        </p:txBody>
      </p:sp>
      <p:sp>
        <p:nvSpPr>
          <p:cNvPr id="15" name="Cover emblem clean background">
            <a:extLst xmlns:a="http://schemas.openxmlformats.org/drawingml/2006/main">
              <a:ext uri="{FF2B5EF4-FFF2-40B4-BE49-F238E27FC236}">
                <a16:creationId xmlns:a16="http://schemas.microsoft.com/office/drawing/2014/main" id="{670F1507-7AF5-4519-8F21-3911FBB3F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6010275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2c744e75cf4f7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29300" y="6048375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18" name="Basic course header clean backing">
            <a:extLst xmlns:a="http://schemas.openxmlformats.org/drawingml/2006/main">
              <a:ext uri="{FF2B5EF4-FFF2-40B4-BE49-F238E27FC236}">
                <a16:creationId xmlns:a16="http://schemas.microsoft.com/office/drawing/2014/main" id="{E4257404-26FD-48D9-BDE4-9E142E31E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"/>
            <a:ext cx="328612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Basic course running header">
            <a:extLst xmlns:a="http://schemas.openxmlformats.org/drawingml/2006/main">
              <a:ext uri="{FF2B5EF4-FFF2-40B4-BE49-F238E27FC236}">
                <a16:creationId xmlns:a16="http://schemas.microsoft.com/office/drawing/2014/main" id="{F433838E-3733-4A95-84F2-96E723B1C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82E43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182E43"/>
                </a:solidFill>
                <a:latin typeface="Aptos"/>
                <a:ea typeface="Aptos"/>
                <a:cs typeface="Aptos"/>
              </a:rPr>
              <a:t>FORBES ENGLISH • PREPOSITIONS</a:t>
            </a:r>
          </a:p>
        </p:txBody>
      </p:sp>
      <p:sp>
        <p:nvSpPr>
          <p:cNvPr id="22" name="Forbes English footer clean backing">
            <a:extLst xmlns:a="http://schemas.openxmlformats.org/drawingml/2006/main">
              <a:ext uri="{FF2B5EF4-FFF2-40B4-BE49-F238E27FC236}">
                <a16:creationId xmlns:a16="http://schemas.microsoft.com/office/drawing/2014/main" id="{55DF125F-69C4-4982-8F40-75444F74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276975"/>
            <a:ext cx="9144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Forbes English footer wordmark">
            <a:extLst xmlns:a="http://schemas.openxmlformats.org/drawingml/2006/main">
              <a:ext uri="{FF2B5EF4-FFF2-40B4-BE49-F238E27FC236}">
                <a16:creationId xmlns:a16="http://schemas.microsoft.com/office/drawing/2014/main" id="{77941148-D58D-4C3F-8E79-C3EABF93D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315075"/>
            <a:ext cx="7334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i="0">
                <a:solidFill>
                  <a:srgbClr val="101918"/>
                </a:solidFill>
                <a:latin typeface="Georgia"/>
                <a:ea typeface="Georgia"/>
                <a:cs typeface="Georgia"/>
              </a:rPr>
              <a:t>Forbes</a:t>
            </a:r>
          </a:p>
        </p:txBody>
      </p:sp>
      <p:sp>
        <p:nvSpPr>
          <p:cNvPr id="24" name="Forbes English footer second line">
            <a:extLst xmlns:a="http://schemas.openxmlformats.org/drawingml/2006/main">
              <a:ext uri="{FF2B5EF4-FFF2-40B4-BE49-F238E27FC236}">
                <a16:creationId xmlns:a16="http://schemas.microsoft.com/office/drawing/2014/main" id="{D4C8C697-D66B-4CD8-816A-0B6F2A5D5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825" y="6477000"/>
            <a:ext cx="7334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50" b="1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ENGLISH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8dc152f7554979"/>
          <a:srcRect xmlns:a="http://schemas.openxmlformats.org/drawingml/2006/main" l="0" t="20334" r="0" b="203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57225" y="1514475"/>
            <a:ext cx="10868025" cy="36290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86855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Display Condense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28575" dist="21299" dir="3806097">
              <a:srgbClr val="0B1E35">
                <a:alpha val="55000"/>
              </a:srgbClr>
            </a:outerShdw>
          </a:effectLst>
        </a:effectStyle>
        <a:effectStyle>
          <a:effectLst>
            <a:outerShdw blurRad="19050" dist="13470" dir="2700000">
              <a:srgbClr val="0B1E35">
                <a:alpha val="22000"/>
              </a:srgbClr>
            </a:outerShdw>
          </a:effectLst>
        </a:effectStyle>
        <a:effectStyle>
          <a:effectLst>
            <a:outerShdw blurRad="19050" dist="13470" dir="2700000">
              <a:srgbClr val="0B1E35">
                <a:alpha val="3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2026-08-17T01:41:08.7710000Z</dcterms:created>
  <dcterms:modified xsi:type="dcterms:W3CDTF">2026-08-17T01:41:08.7710000Z</dcterms:modified>
</coreProperties>
</file>