
<file path=[Content_Types].xml><?xml version="1.0" encoding="utf-8"?>
<Types xmlns="http://schemas.openxmlformats.org/package/2006/content-types">
  <Default Extension="png" ContentType="image/png"/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cc9869ae8a4692" /><Relationship Type="http://schemas.openxmlformats.org/officeDocument/2006/relationships/extended-properties" Target="/docProps/app.xml" Id="R3b691592816145c7" /><Relationship Type="http://schemas.openxmlformats.org/officeDocument/2006/relationships/officeDocument" Target="/ppt/presentation.xml" Id="R9f3767b320fa4d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5de2be2e274559"/>
  </p:sldMasterIdLst>
  <p:notesMasterIdLst>
    <p:notesMasterId xmlns:r="http://schemas.openxmlformats.org/officeDocument/2006/relationships" r:id="R7a21c5c263a34583"/>
  </p:notesMasterIdLst>
  <p:sldIdLst>
    <p:sldId xmlns:r="http://schemas.openxmlformats.org/officeDocument/2006/relationships" id="256" r:id="R40e8ed8a21ec49c6"/>
    <p:sldId xmlns:r="http://schemas.openxmlformats.org/officeDocument/2006/relationships" id="257" r:id="R8f866a3391b34a31"/>
    <p:sldId xmlns:r="http://schemas.openxmlformats.org/officeDocument/2006/relationships" id="258" r:id="R71d89792d6714d90"/>
    <p:sldId xmlns:r="http://schemas.openxmlformats.org/officeDocument/2006/relationships" id="259" r:id="R6fcf8d6e1c4a4494"/>
    <p:sldId xmlns:r="http://schemas.openxmlformats.org/officeDocument/2006/relationships" id="260" r:id="R69f0d1d2ce8c4668"/>
    <p:sldId xmlns:r="http://schemas.openxmlformats.org/officeDocument/2006/relationships" id="261" r:id="R3bec23a02e7f4e1a"/>
    <p:sldId xmlns:r="http://schemas.openxmlformats.org/officeDocument/2006/relationships" id="262" r:id="R956f950844554507"/>
    <p:sldId xmlns:r="http://schemas.openxmlformats.org/officeDocument/2006/relationships" id="263" r:id="R83d36faa9c1a4071"/>
    <p:sldId xmlns:r="http://schemas.openxmlformats.org/officeDocument/2006/relationships" id="264" r:id="R400d79aaccee4404"/>
    <p:sldId xmlns:r="http://schemas.openxmlformats.org/officeDocument/2006/relationships" id="265" r:id="R7695b1683ff74731"/>
    <p:sldId xmlns:r="http://schemas.openxmlformats.org/officeDocument/2006/relationships" id="266" r:id="Rbc5d2396a2324b5f"/>
    <p:sldId xmlns:r="http://schemas.openxmlformats.org/officeDocument/2006/relationships" id="267" r:id="R21860b0db7534539"/>
    <p:sldId xmlns:r="http://schemas.openxmlformats.org/officeDocument/2006/relationships" id="268" r:id="R92ed6c0e12974e52"/>
    <p:sldId xmlns:r="http://schemas.openxmlformats.org/officeDocument/2006/relationships" id="269" r:id="R3a968e79c77142b4"/>
    <p:sldId xmlns:r="http://schemas.openxmlformats.org/officeDocument/2006/relationships" id="270" r:id="Rd3502a0f5d564e3b"/>
    <p:sldId xmlns:r="http://schemas.openxmlformats.org/officeDocument/2006/relationships" id="271" r:id="R5ab873f32f7647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118e226b5c48db" /><Relationship Type="http://schemas.openxmlformats.org/officeDocument/2006/relationships/slideMaster" Target="/ppt/slideMasters/slideMaster1.xml" Id="R7b5de2be2e274559" /><Relationship Type="http://schemas.openxmlformats.org/officeDocument/2006/relationships/notesMaster" Target="/ppt/notesMasters/notesMaster1.xml" Id="R7a21c5c263a34583" /><Relationship Type="http://schemas.openxmlformats.org/officeDocument/2006/relationships/presProps" Target="/ppt/presProps.xml" Id="Raf4dc47a3ff14a64" /><Relationship Type="http://schemas.openxmlformats.org/officeDocument/2006/relationships/viewProps" Target="/ppt/viewProps.xml" Id="R2adb592f740f4e56" /><Relationship Type="http://schemas.openxmlformats.org/officeDocument/2006/relationships/tableStyles" Target="/ppt/tableStyles.xml" Id="R82eeed5747674cb0" /><Relationship Type="http://schemas.openxmlformats.org/officeDocument/2006/relationships/slide" Target="/ppt/slides/slide1.xml" Id="R40e8ed8a21ec49c6" /><Relationship Type="http://schemas.openxmlformats.org/officeDocument/2006/relationships/slide" Target="/ppt/slides/slide2.xml" Id="R8f866a3391b34a31" /><Relationship Type="http://schemas.openxmlformats.org/officeDocument/2006/relationships/slide" Target="/ppt/slides/slide3.xml" Id="R71d89792d6714d90" /><Relationship Type="http://schemas.openxmlformats.org/officeDocument/2006/relationships/slide" Target="/ppt/slides/slide4.xml" Id="R6fcf8d6e1c4a4494" /><Relationship Type="http://schemas.openxmlformats.org/officeDocument/2006/relationships/slide" Target="/ppt/slides/slide5.xml" Id="R69f0d1d2ce8c4668" /><Relationship Type="http://schemas.openxmlformats.org/officeDocument/2006/relationships/slide" Target="/ppt/slides/slide6.xml" Id="R3bec23a02e7f4e1a" /><Relationship Type="http://schemas.openxmlformats.org/officeDocument/2006/relationships/slide" Target="/ppt/slides/slide7.xml" Id="R956f950844554507" /><Relationship Type="http://schemas.openxmlformats.org/officeDocument/2006/relationships/slide" Target="/ppt/slides/slide8.xml" Id="R83d36faa9c1a4071" /><Relationship Type="http://schemas.openxmlformats.org/officeDocument/2006/relationships/slide" Target="/ppt/slides/slide9.xml" Id="R400d79aaccee4404" /><Relationship Type="http://schemas.openxmlformats.org/officeDocument/2006/relationships/slide" Target="/ppt/slides/slide10.xml" Id="R7695b1683ff74731" /><Relationship Type="http://schemas.openxmlformats.org/officeDocument/2006/relationships/slide" Target="/ppt/slides/slide11.xml" Id="Rbc5d2396a2324b5f" /><Relationship Type="http://schemas.openxmlformats.org/officeDocument/2006/relationships/slide" Target="/ppt/slides/slide12.xml" Id="R21860b0db7534539" /><Relationship Type="http://schemas.openxmlformats.org/officeDocument/2006/relationships/slide" Target="/ppt/slides/slide13.xml" Id="R92ed6c0e12974e52" /><Relationship Type="http://schemas.openxmlformats.org/officeDocument/2006/relationships/slide" Target="/ppt/slides/slide14.xml" Id="R3a968e79c77142b4" /><Relationship Type="http://schemas.openxmlformats.org/officeDocument/2006/relationships/slide" Target="/ppt/slides/slide15.xml" Id="Rd3502a0f5d564e3b" /><Relationship Type="http://schemas.openxmlformats.org/officeDocument/2006/relationships/slide" Target="/ppt/slides/slide16.xml" Id="R5ab873f32f7647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a275f9b6af46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673C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f0ff94eff14479" /><Relationship Type="http://schemas.openxmlformats.org/officeDocument/2006/relationships/notesMaster" Target="/ppt/notesMasters/notesMaster1.xml" Id="R20a177240c2948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ac6c1e05824de5" /><Relationship Type="http://schemas.openxmlformats.org/officeDocument/2006/relationships/notesMaster" Target="/ppt/notesMasters/notesMaster1.xml" Id="Rf9f9a161a62b46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a586d9a44141bd" /><Relationship Type="http://schemas.openxmlformats.org/officeDocument/2006/relationships/notesMaster" Target="/ppt/notesMasters/notesMaster1.xml" Id="R3065debaa02f47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1d94a46a624552" /><Relationship Type="http://schemas.openxmlformats.org/officeDocument/2006/relationships/notesMaster" Target="/ppt/notesMasters/notesMaster1.xml" Id="R81ff4ee2fbf14b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1cd81d792647fd" /><Relationship Type="http://schemas.openxmlformats.org/officeDocument/2006/relationships/notesMaster" Target="/ppt/notesMasters/notesMaster1.xml" Id="Rba6e7b290ddc41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2dd045b8444605" /><Relationship Type="http://schemas.openxmlformats.org/officeDocument/2006/relationships/notesMaster" Target="/ppt/notesMasters/notesMaster1.xml" Id="Rc81ae4e1f4b84f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d033e34cf8407f" /><Relationship Type="http://schemas.openxmlformats.org/officeDocument/2006/relationships/notesMaster" Target="/ppt/notesMasters/notesMaster1.xml" Id="Rbce16553dab845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c0038f64d84f2d" /><Relationship Type="http://schemas.openxmlformats.org/officeDocument/2006/relationships/notesMaster" Target="/ppt/notesMasters/notesMaster1.xml" Id="R0d31af27a95a4b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906e1045d64f3d" /><Relationship Type="http://schemas.openxmlformats.org/officeDocument/2006/relationships/notesMaster" Target="/ppt/notesMasters/notesMaster1.xml" Id="Re83de72087244a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096b71e2844ad9" /><Relationship Type="http://schemas.openxmlformats.org/officeDocument/2006/relationships/notesMaster" Target="/ppt/notesMasters/notesMaster1.xml" Id="Rfd604024c79d45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e293fc608e485a" /><Relationship Type="http://schemas.openxmlformats.org/officeDocument/2006/relationships/notesMaster" Target="/ppt/notesMasters/notesMaster1.xml" Id="Ra89cf8cb256842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cea5ff060e4e33" /><Relationship Type="http://schemas.openxmlformats.org/officeDocument/2006/relationships/notesMaster" Target="/ppt/notesMasters/notesMaster1.xml" Id="Rc24053c685fd45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7ca00ad0614788" /><Relationship Type="http://schemas.openxmlformats.org/officeDocument/2006/relationships/notesMaster" Target="/ppt/notesMasters/notesMaster1.xml" Id="Rb7e37642321c42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981b1d59bd46b4" /><Relationship Type="http://schemas.openxmlformats.org/officeDocument/2006/relationships/notesMaster" Target="/ppt/notesMasters/notesMaster1.xml" Id="R1743305239c640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15cde7b4a6419f" /><Relationship Type="http://schemas.openxmlformats.org/officeDocument/2006/relationships/notesMaster" Target="/ppt/notesMasters/notesMaster1.xml" Id="Rb5ef78d7bab743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2018b4dc364f4d" /><Relationship Type="http://schemas.openxmlformats.org/officeDocument/2006/relationships/notesMaster" Target="/ppt/notesMasters/notesMaster1.xml" Id="R895ade9b877940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C:/Users/black/Downloads/blackisler_Jessie_Pinkmann_and_Walter_White_from_Breaking_Bad_e17c1b3d-3dff-4622-86ce-87b69193bd41_3.png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grammar summary.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C:/Users/black/Downloads/blackisler_Saul_Goodman_minimalist_vector_illustration_style__4fd6b2e8-644a-4e7a-afb6-ccadeae8c712_3.png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C:/Users/black/Downloads/blackisler_Jessie_Pinkmann_from_Breaking_Bad_minimalist_vecto_76496762-f19a-48c2-bfea-cbec6e8a4243_0.png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C:/Users/black/Downloads/blackisler_Jessie_Pinkmann_and_Walter_White_from_Breaking_Bad_e17c1b3d-3dff-4622-86ce-87b69193bd41_1.png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C:/Users/black/Downloads/blackisler_Jessie_Pinkmann_from_Breaking_Bad_minimalist_vecto_94b497ea-1410-4660-a48b-182d934f778c_0.png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C:/Users/black/Downloads/blackisler_breaking_bad_Tuco_minimalist_vector_illustration_s_bc9d6f8e-98ab-4d70-af22-57b39bb9bfb7_0.png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C:/Users/black/Downloads/blackisler_breaking_bad_Jessie_and_Walter_White_minimalist_ve_40169f06-c827-4e1f-8e0d-fe55606b7903_3.png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C:/Users/black/Downloads/blackisler_Mike_from_Breaking_Bad_minimalist_vector_illustrat_d6f03f43-3ace-4ab1-9e98-765696f240f6_2.png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C:/Users/black/Downloads/blackisler_Jane_from_Breaking_Bad_counting_dollars_minimalist_e581eb51-c8de-46e2-92da-6502234c2b28_1.png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C:/Users/black/Downloads/blackisler_Skyler_White_from_Breaking_Bad_counting_dollars_mi_0a84b73c-cad9-4c6f-aec7-34d4cb58a236_2.png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C:/Users/black/Downloads/blackisler_The_primary_law_enforcement_officer_in_Breaking_Ba_e8327da2-d517-430a-bdb4-9e4d0baa7452_0.png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C:/Users/black/Downloads/blackisler_Gustavo_Fring_Meticulously_and_calmly_adjusting_hi_260db0c0-cfc0-4947-a521-0efdc7dcff88_3.png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C:/Users/black/Downloads/blackisler_Hector_Salamanca_minimalist_vector_illustration_st_a026a225-6ffd-4670-87dc-9acf3d4b3c95_2.png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C:/Users/black/Downloads/blackisler_breaking_bad_Tuco_minimalist_vector_illustration_s_bc9d6f8e-98ab-4d70-af22-57b39bb9bfb7_2.png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classroom retrieval activity.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ffd6730294f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2a8e5a42aa4cee" /><Relationship Type="http://schemas.openxmlformats.org/officeDocument/2006/relationships/slideLayout" Target="/ppt/slideLayouts/slideLayout1.xml" Id="R22824e994cb047e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824e994cb047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673C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e8fbc413d48c1" /><Relationship Type="http://schemas.openxmlformats.org/officeDocument/2006/relationships/image" Target="/ppt/media/image.jpeg" Id="Rb0707056700c41dc" /><Relationship Type="http://schemas.openxmlformats.org/officeDocument/2006/relationships/notesSlide" Target="/ppt/notesSlides/notesSlide1.xml" Id="R9ceaee1af390485e" /><Relationship Type="http://schemas.openxmlformats.org/officeDocument/2006/relationships/image" Target="/ppt/media/fe-logo-deep.png" Id="rIdFeLogo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3a991e6054f2f" /><Relationship Type="http://schemas.openxmlformats.org/officeDocument/2006/relationships/notesSlide" Target="/ppt/notesSlides/notesSlide2.xml" Id="Re0d2e668d0ec45fc" /><Relationship Type="http://schemas.openxmlformats.org/officeDocument/2006/relationships/image" Target="/ppt/media/image3.jpeg" Id="rIdJessi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deb04806844f6" /><Relationship Type="http://schemas.openxmlformats.org/officeDocument/2006/relationships/image" Target="/ppt/media/image2.jpeg" Id="R27567e55f4b74803" /><Relationship Type="http://schemas.openxmlformats.org/officeDocument/2006/relationships/notesSlide" Target="/ppt/notesSlides/notesSlide3.xml" Id="Rb85f1c1fda3a40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537d51d244b2c" /><Relationship Type="http://schemas.openxmlformats.org/officeDocument/2006/relationships/image" Target="/ppt/media/image3.jpeg" Id="R8ff6fe9d9f9b434a" /><Relationship Type="http://schemas.openxmlformats.org/officeDocument/2006/relationships/notesSlide" Target="/ppt/notesSlides/notesSlide4.xml" Id="R11c80c12fdb943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bbb34ee6d4322" /><Relationship Type="http://schemas.openxmlformats.org/officeDocument/2006/relationships/image" Target="/ppt/media/image4.jpeg" Id="R8ecd3b051ae5413e" /><Relationship Type="http://schemas.openxmlformats.org/officeDocument/2006/relationships/notesSlide" Target="/ppt/notesSlides/notesSlide5.xml" Id="Rd57d7fbae16a49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c09fed7cc48e0" /><Relationship Type="http://schemas.openxmlformats.org/officeDocument/2006/relationships/image" Target="/ppt/media/image5.jpeg" Id="Rad7b480a2d9740bd" /><Relationship Type="http://schemas.openxmlformats.org/officeDocument/2006/relationships/notesSlide" Target="/ppt/notesSlides/notesSlide6.xml" Id="Rec9683d57c0148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8a7cb9d224c07" /><Relationship Type="http://schemas.openxmlformats.org/officeDocument/2006/relationships/image" Target="/ppt/media/image6.jpeg" Id="R54eb3c0195b04ed6" /><Relationship Type="http://schemas.openxmlformats.org/officeDocument/2006/relationships/notesSlide" Target="/ppt/notesSlides/notesSlide7.xml" Id="R07bdbf6d1d3a4e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9760431064a88" /><Relationship Type="http://schemas.openxmlformats.org/officeDocument/2006/relationships/image" Target="/ppt/media/image7.jpeg" Id="Rdce134e820bd4f2d" /><Relationship Type="http://schemas.openxmlformats.org/officeDocument/2006/relationships/notesSlide" Target="/ppt/notesSlides/notesSlide8.xml" Id="R3dfe9c92644b4e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8e41c76ff462b" /><Relationship Type="http://schemas.openxmlformats.org/officeDocument/2006/relationships/image" Target="/ppt/media/image8.jpeg" Id="R59df3bdaf8ef48bf" /><Relationship Type="http://schemas.openxmlformats.org/officeDocument/2006/relationships/notesSlide" Target="/ppt/notesSlides/notesSlide9.xml" Id="R44a7b374fbc14d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942152e344d8f" /><Relationship Type="http://schemas.openxmlformats.org/officeDocument/2006/relationships/image" Target="/ppt/media/image9.jpeg" Id="R2cb6cc2beb9a4353" /><Relationship Type="http://schemas.openxmlformats.org/officeDocument/2006/relationships/notesSlide" Target="/ppt/notesSlides/notesSlide10.xml" Id="R143c13c6d4f642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d416b9cdb4efd" /><Relationship Type="http://schemas.openxmlformats.org/officeDocument/2006/relationships/image" Target="/ppt/media/image10.jpeg" Id="Re8f8bd55b6784c16" /><Relationship Type="http://schemas.openxmlformats.org/officeDocument/2006/relationships/notesSlide" Target="/ppt/notesSlides/notesSlide11.xml" Id="R540a512d67e34d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61500e36046ff" /><Relationship Type="http://schemas.openxmlformats.org/officeDocument/2006/relationships/image" Target="/ppt/media/image11.jpeg" Id="R47dc4a940e754a3e" /><Relationship Type="http://schemas.openxmlformats.org/officeDocument/2006/relationships/notesSlide" Target="/ppt/notesSlides/notesSlide12.xml" Id="R6a30a25cc37844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523dfb89d4ff9" /><Relationship Type="http://schemas.openxmlformats.org/officeDocument/2006/relationships/image" Target="/ppt/media/image12.jpeg" Id="R20f9006fe52d4ec2" /><Relationship Type="http://schemas.openxmlformats.org/officeDocument/2006/relationships/notesSlide" Target="/ppt/notesSlides/notesSlide13.xml" Id="Rfd0e5bdf492845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4aa0a183c4742" /><Relationship Type="http://schemas.openxmlformats.org/officeDocument/2006/relationships/image" Target="/ppt/media/image13.jpeg" Id="R9cc58602602749c8" /><Relationship Type="http://schemas.openxmlformats.org/officeDocument/2006/relationships/notesSlide" Target="/ppt/notesSlides/notesSlide14.xml" Id="R7816402ef4a045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3f34f218a4bb3" /><Relationship Type="http://schemas.openxmlformats.org/officeDocument/2006/relationships/image" Target="/ppt/media/image14.jpeg" Id="R1a02bb6362594900" /><Relationship Type="http://schemas.openxmlformats.org/officeDocument/2006/relationships/notesSlide" Target="/ppt/notesSlides/notesSlide15.xml" Id="R714c105438bf4d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0970fef584e78" /><Relationship Type="http://schemas.openxmlformats.org/officeDocument/2006/relationships/notesSlide" Target="/ppt/notesSlides/notesSlide16.xml" Id="R1375e27a62244dfd" /><Relationship Type="http://schemas.openxmlformats.org/officeDocument/2006/relationships/image" Target="/ppt/media/fe-logo-light.png" Id="rIdFeLogo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07056700c41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A4105A-EF8A-4672-A645-36B2AA00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A254E84-B8AF-4527-AD5A-4D3E4414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" y="404495"/>
            <a:ext cx="2879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28FA3"/>
                </a:solidFill>
              </a:defRPr>
            </a:pPr>
            <a:r>
              <a:rPr sz="3600" b="1">
                <a:solidFill>
                  <a:srgbClr val="F28FA3"/>
                </a:solidFill>
                <a:latin typeface="Courier New"/>
                <a:ea typeface="Courier New"/>
                <a:cs typeface="Courier New"/>
              </a:rPr>
              <a:t>BAKING </a:t>
            </a:r>
            <a:br/>
            <a:r>
              <a:rPr sz="3600" b="1">
                <a:solidFill>
                  <a:srgbClr val="F28FA3"/>
                </a:solidFill>
                <a:latin typeface="Courier New"/>
                <a:ea typeface="Courier New"/>
                <a:cs typeface="Courier New"/>
              </a:rPr>
              <a:t>B</a:t>
            </a:r>
            <a:r>
              <a:rPr sz="3600" b="1">
                <a:solidFill>
                  <a:srgbClr val="F28FA3"/>
                </a:solidFill>
                <a:latin typeface="Courier New"/>
                <a:ea typeface="Courier New"/>
                <a:cs typeface="Courier New"/>
              </a:rPr>
              <a:t>RE</a:t>
            </a:r>
            <a:r>
              <a:rPr sz="3600" b="1">
                <a:solidFill>
                  <a:srgbClr val="F28FA3"/>
                </a:solidFill>
                <a:latin typeface="Courier New"/>
                <a:ea typeface="Courier New"/>
                <a:cs typeface="Courier New"/>
              </a:rPr>
              <a:t>AD</a:t>
            </a:r>
            <a:endParaRPr sz="3600" b="1">
              <a:solidFill>
                <a:srgbClr val="F28FA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9C83958-0F5E-4E27-904E-29468FEB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495" y="260985"/>
            <a:ext cx="857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8E8"/>
                </a:solidFill>
              </a:defRPr>
            </a:pPr>
            <a:r>
              <a:rPr sz="36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Present </a:t>
            </a:r>
            <a:br/>
            <a:r>
              <a:rPr sz="36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Continuous</a:t>
            </a:r>
            <a:endParaRPr sz="3600" b="1">
              <a:solidFill>
                <a:srgbClr val="FFF8E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AC9E176-770E-4F16-915A-1420297A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615" y="155702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4E7C9"/>
                </a:solidFill>
              </a:defRPr>
            </a:pPr>
            <a:r>
              <a:rPr sz="1950" b="0">
                <a:solidFill>
                  <a:srgbClr val="F4E7C9"/>
                </a:solidFill>
                <a:latin typeface="Courier New"/>
                <a:ea typeface="Courier New"/>
                <a:cs typeface="Courier New"/>
              </a:rPr>
              <a:t>What is happening right now?</a:t>
            </a:r>
            <a:endParaRPr sz="1950" b="0">
              <a:solidFill>
                <a:srgbClr val="F4E7C9"/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900" name="Forbes English logo" descr="Forbes English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e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163300" y="4927600"/>
            <a:ext cx="927100" cy="482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05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7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A46C6D7-78E4-4630-88BF-3BB67FAE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72B"/>
                </a:solidFill>
              </a:defRPr>
            </a:pPr>
            <a:r>
              <a:rPr sz="3225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Talk about what is happening now</a:t>
            </a:r>
            <a:endParaRPr sz="3225" b="1">
              <a:solidFill>
                <a:schemeClr val="tx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1836D5-766C-48B6-BE3E-20AA3D06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28FA3"/>
                </a:solidFill>
              </a:defRPr>
            </a:pPr>
            <a:r>
              <a:rPr sz="1575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SUBJECT</a:t>
            </a:r>
            <a:endParaRPr sz="1575" b="1">
              <a:solidFill>
                <a:schemeClr val="tx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A593D2-A19F-474B-AC93-1FA4D23B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28FA3"/>
                </a:solidFill>
              </a:defRPr>
            </a:pPr>
            <a:r>
              <a:rPr sz="1575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AM / IS / ARE</a:t>
            </a:r>
            <a:endParaRPr sz="1575" b="1">
              <a:solidFill>
                <a:schemeClr val="tx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27A0F4C-9771-4302-BDF0-9DA0DFF1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28FA3"/>
                </a:solidFill>
              </a:defRPr>
            </a:pPr>
            <a:r>
              <a:rPr sz="1575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VERB + ING</a:t>
            </a:r>
            <a:endParaRPr sz="1575" b="1">
              <a:solidFill>
                <a:schemeClr val="tx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E59CAEC-65CF-4FA9-8642-0C16E5D1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381250" cy="1162050"/>
          </a:xfrm>
          <a:solidFill xmlns:a="http://schemas.openxmlformats.org/drawingml/2006/main">
            <a:srgbClr val="F28FA3">
              <a:alpha val="20000"/>
            </a:srgbClr>
          </a:solidFill>
          <a:prstGeom xmlns:a="http://schemas.openxmlformats.org/drawingml/2006/main" prst="roundRect">
            <a:avLst>
              <a:gd name="adj" fmla="val 9000"/>
            </a:avLst>
          </a:prstGeom>
          <a:ln xmlns:a="http://schemas.openxmlformats.org/drawingml/2006/main" w="0">
            <a:noFill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347D6B-9FF8-49E9-866B-2A6131A1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2952750" cy="1162050"/>
          </a:xfrm>
          <a:solidFill xmlns:a="http://schemas.openxmlformats.org/drawingml/2006/main">
            <a:srgbClr val="F28FA3">
              <a:alpha val="20000"/>
            </a:srgbClr>
          </a:solidFill>
          <a:prstGeom xmlns:a="http://schemas.openxmlformats.org/drawingml/2006/main" prst="roundRect">
            <a:avLst>
              <a:gd name="adj" fmla="val 9000"/>
            </a:avLst>
          </a:prstGeom>
          <a:ln xmlns:a="http://schemas.openxmlformats.org/drawingml/2006/main" w="0">
            <a:noFill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9D44B6-5E34-41AE-8EC8-0E0574FC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28900"/>
            <a:ext cx="2952750" cy="1162050"/>
          </a:xfrm>
          <a:solidFill xmlns:a="http://schemas.openxmlformats.org/drawingml/2006/main">
            <a:srgbClr val="F28FA3">
              <a:alpha val="20000"/>
            </a:srgbClr>
          </a:solidFill>
          <a:prstGeom xmlns:a="http://schemas.openxmlformats.org/drawingml/2006/main" prst="roundRect">
            <a:avLst>
              <a:gd name="adj" fmla="val 9000"/>
            </a:avLst>
          </a:prstGeom>
          <a:ln xmlns:a="http://schemas.openxmlformats.org/drawingml/2006/main" w="0">
            <a:noFill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7091BD4-DF09-4839-8CD2-BE780C7B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925" b="1">
                <a:solidFill>
                  <a:srgbClr val="FFF8E8"/>
                </a:solidFill>
              </a:defRPr>
            </a:pPr>
            <a:r>
              <a:rPr sz="2925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Jessie</a:t>
            </a:r>
            <a:endParaRPr sz="2925" b="1">
              <a:solidFill>
                <a:schemeClr val="tx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F94C530-1363-4207-982E-411890F3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987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0272B"/>
                </a:solidFill>
              </a:defRPr>
            </a:pPr>
            <a:r>
              <a:rPr sz="3450" b="1">
                <a:solidFill>
                  <a:srgbClr val="10272B"/>
                </a:solidFill>
                <a:latin typeface="Courier New"/>
                <a:ea typeface="Courier New"/>
                <a:cs typeface="Courier New"/>
              </a:rPr>
              <a:t>is</a:t>
            </a:r>
            <a:endParaRPr sz="3450" b="1">
              <a:solidFill>
                <a:srgbClr val="10272B"/>
              </a:solidFill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8E0998B-7C1F-40F0-9771-7EB4B7CF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987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0272B"/>
                </a:solidFill>
              </a:defRPr>
            </a:pPr>
            <a:r>
              <a:rPr sz="3075" b="1">
                <a:solidFill>
                  <a:srgbClr val="10272B"/>
                </a:solidFill>
                <a:latin typeface="Courier New"/>
                <a:ea typeface="Courier New"/>
                <a:cs typeface="Courier New"/>
              </a:rPr>
              <a:t>smoking</a:t>
            </a:r>
            <a:endParaRPr sz="3075" b="1">
              <a:solidFill>
                <a:srgbClr val="10272B"/>
              </a:solidFill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851EDC7-AD41-41F6-8315-A39BF7DB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72B"/>
                </a:solidFill>
              </a:defRPr>
            </a:pPr>
            <a:r>
              <a:rPr sz="225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Look → choose the subject → add be → use -ing</a:t>
            </a:r>
            <a:endParaRPr sz="2250" b="1">
              <a:solidFill>
                <a:schemeClr val="tx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6658D1D-A60B-4BF2-A24D-9A730AC0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E666B"/>
                </a:solidFill>
              </a:defRPr>
            </a:pPr>
            <a:r>
              <a:rPr sz="1725" b="0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Now describe every scene in a complete sentence.</a:t>
            </a:r>
            <a:endParaRPr sz="1725" b="0">
              <a:solidFill>
                <a:schemeClr val="tx1"/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950" name="Jessie panel" descr="Jessie is smoking"/>
          <p:cNvPicPr>
            <a:picLocks xmlns:a="http://schemas.openxmlformats.org/drawingml/2006/main" noChangeAspect="0"/>
          </p:cNvPicPr>
          <p:nvPr/>
        </p:nvPicPr>
        <p:blipFill xmlns:a="http://schemas.openxmlformats.org/drawingml/2006/main">
          <a:blip xmlns:r="http://schemas.openxmlformats.org/officeDocument/2006/relationships" r:embed="rIdJessie"/>
          <a:srcRect l="24000" r="59500"/>
          <a:stretch>
            <a:fillRect/>
          </a:stretch>
        </p:blipFill>
        <p:spPr>
          <a:xfrm xmlns:a="http://schemas.openxmlformats.org/drawingml/2006/main">
            <a:off x="10160000" y="0"/>
            <a:ext cx="203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287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67e55f4b748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5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01EF37-FC59-49E6-85A9-44BE4DF1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130" y="4869180"/>
            <a:ext cx="12192000" cy="1905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939DCDA-D4A8-419E-BDD9-F9DFB46C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515" y="54864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8FA3"/>
                </a:solidFill>
              </a:defRPr>
            </a:pPr>
            <a:r>
              <a:rPr sz="1500" b="1">
                <a:solidFill>
                  <a:srgbClr val="FFF0D0"/>
                </a:solidFill>
                <a:latin typeface="Courier New"/>
                <a:ea typeface="Courier New"/>
                <a:cs typeface="Courier New"/>
              </a:rPr>
              <a:t>What is Saul doing?</a:t>
            </a:r>
            <a:endParaRPr sz="1500" b="1">
              <a:solidFill>
                <a:srgbClr val="FFF0D0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69846B9-E8A3-4680-9FAA-E9254F7E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010" y="3573145"/>
            <a:ext cx="11315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8E8"/>
                </a:solidFill>
              </a:defRPr>
            </a:pPr>
            <a:r>
              <a:rPr sz="18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Saul is sitting in his office</a:t>
            </a:r>
            <a:endParaRPr sz="1800" b="1">
              <a:solidFill>
                <a:srgbClr val="FFF8E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224A9E-C5BE-41C0-BD15-8A60F587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8478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698314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6fe9d9f9b43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ABAECB-DDB5-4A0D-996C-429D614A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0"/>
            <a:ext cx="509587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CEC55B-AB95-4AD0-B8A4-DE22598D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505" y="209550"/>
            <a:ext cx="4219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8FA3"/>
                </a:solidFill>
              </a:defRPr>
            </a:pPr>
            <a:r>
              <a:rPr sz="1500" b="1">
                <a:solidFill>
                  <a:srgbClr val="EBD3B3"/>
                </a:solidFill>
                <a:latin typeface="Courier New"/>
                <a:ea typeface="Courier New"/>
                <a:cs typeface="Courier New"/>
              </a:rPr>
              <a:t>What is Jessie doing?</a:t>
            </a:r>
            <a:endParaRPr sz="1500" b="1">
              <a:solidFill>
                <a:srgbClr val="EBD3B3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B049D8-884D-438B-B1F2-A5F9FC75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945" y="4797425"/>
            <a:ext cx="4219575" cy="1073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8E8"/>
                </a:solidFill>
              </a:defRPr>
            </a:pPr>
            <a:r>
              <a:rPr sz="30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Jessie is smoking</a:t>
            </a:r>
            <a:endParaRPr sz="3000" b="1">
              <a:solidFill>
                <a:srgbClr val="FFF8E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41A53A8-CA9D-4B8F-8BC1-E405B4A3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"/>
            <a:ext cx="18478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466471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d3b051ae541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58E007C-4ABD-4456-87D1-DC25E969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1905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D51FC8B-21E2-41AA-8E13-08FF717D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" y="2709545"/>
            <a:ext cx="11315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8E8"/>
                </a:solidFill>
              </a:defRPr>
            </a:pPr>
            <a:r>
              <a:rPr sz="2200" b="1">
                <a:solidFill>
                  <a:srgbClr val="EBD3B3"/>
                </a:solidFill>
                <a:latin typeface="Courier New"/>
                <a:ea typeface="Courier New"/>
                <a:cs typeface="Courier New"/>
              </a:rPr>
              <a:t>Jessie and Walt are </a:t>
            </a:r>
            <a:r>
              <a:rPr sz="2200" b="1">
                <a:solidFill>
                  <a:srgbClr val="EBD3B3"/>
                </a:solidFill>
                <a:latin typeface="Courier New"/>
                <a:ea typeface="Courier New"/>
                <a:cs typeface="Courier New"/>
              </a:rPr>
              <a:t>baking bread</a:t>
            </a:r>
            <a:endParaRPr sz="2200" b="1">
              <a:solidFill>
                <a:srgbClr val="EBD3B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BF9D4D-7528-490D-8957-DB272879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8478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200277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b480a2d9740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931E57-7227-43DF-A773-9B572CD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9587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880904D-B49A-414F-9567-B0444BCE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860" y="692785"/>
            <a:ext cx="297624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8FA3"/>
                </a:solidFill>
              </a:defRPr>
            </a:pPr>
            <a:r>
              <a:rPr sz="1000" b="1">
                <a:solidFill>
                  <a:srgbClr val="F28FA3"/>
                </a:solidFill>
                <a:latin typeface="Courier New"/>
                <a:ea typeface="Courier New"/>
                <a:cs typeface="Courier New"/>
              </a:rPr>
              <a:t>Where is Jessie lying?</a:t>
            </a:r>
            <a:endParaRPr sz="1000" b="1">
              <a:solidFill>
                <a:srgbClr val="F28FA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6D1FD5-B183-464E-AB88-FA5C84ED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095" y="2709545"/>
            <a:ext cx="8261350" cy="93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8E8"/>
                </a:solidFill>
              </a:defRPr>
            </a:pPr>
            <a:r>
              <a:rPr sz="24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Jessie is lying down on the couch</a:t>
            </a:r>
            <a:endParaRPr sz="2400" b="1">
              <a:solidFill>
                <a:srgbClr val="FFF8E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962C5F7-14E3-49F1-B7BA-A0A7C77E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"/>
            <a:ext cx="18478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743749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b3c0195b04e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58F60C2-2166-4E05-A1A4-378A2532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0"/>
            <a:ext cx="509587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6BF7BF2-AC5E-430D-A4D2-5BF99B64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935" y="2277110"/>
            <a:ext cx="4219575" cy="1904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8E8"/>
                </a:solidFill>
              </a:defRPr>
            </a:pPr>
            <a:r>
              <a:rPr sz="30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The men are guarding the house</a:t>
            </a:r>
            <a:endParaRPr sz="3000" b="1">
              <a:solidFill>
                <a:srgbClr val="FFF8E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BB8ABDD-3BC9-481F-B22F-711ED17B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"/>
            <a:ext cx="18478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354857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134e820bd4f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05056B-3446-4B6F-9B06-AF4E742A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1905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975364D-42D2-4BF4-B6FB-958E46AE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625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72B"/>
                </a:solidFill>
              </a:defRPr>
            </a:pPr>
            <a:r>
              <a:rPr sz="1500" b="1">
                <a:solidFill>
                  <a:srgbClr val="10272B"/>
                </a:solidFill>
                <a:latin typeface="Courier New"/>
                <a:ea typeface="Courier New"/>
                <a:cs typeface="Courier New"/>
              </a:rPr>
              <a:t>Where are they standing?</a:t>
            </a:r>
            <a:endParaRPr sz="1500" b="1">
              <a:solidFill>
                <a:srgbClr val="10272B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ADCECB-676A-4A0F-8533-EF86885A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35" y="116840"/>
            <a:ext cx="11315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8E8"/>
                </a:solidFill>
              </a:defRPr>
            </a:pPr>
            <a:r>
              <a:rPr sz="24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Jessie and Walt are standing in the desert</a:t>
            </a:r>
            <a:endParaRPr sz="2400" b="1">
              <a:solidFill>
                <a:srgbClr val="FFF8E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D307B62-AD28-4777-B0CB-FF90F3F7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8478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776705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f3bdaf8ef48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EB79B3-3343-4CCC-AA7A-E2D7B082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0"/>
            <a:ext cx="509587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35559E4-B096-47F1-9D71-9BE6EAB7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" y="188595"/>
            <a:ext cx="4219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8FA3"/>
                </a:solidFill>
              </a:defRPr>
            </a:pPr>
            <a:r>
              <a:rPr sz="15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/>
                <a:ea typeface="Courier New"/>
                <a:cs typeface="Courier New"/>
              </a:rPr>
              <a:t>What is Mike wearing?</a:t>
            </a:r>
            <a:endParaRPr sz="15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54928DC-288C-4E76-BB56-8716F5F0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990" y="1268730"/>
            <a:ext cx="4219575" cy="1134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8E8"/>
                </a:solidFill>
              </a:defRPr>
            </a:pPr>
            <a:r>
              <a:rPr sz="30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Mike is wearing sunglasses.</a:t>
            </a:r>
            <a:endParaRPr sz="3000" b="1">
              <a:solidFill>
                <a:srgbClr val="FFF8E8"/>
              </a:solidFill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AD18D92-BE03-4968-B70B-581A64F8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"/>
            <a:ext cx="18478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064727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6cc2beb9a4353"/>
          <a:srcRect xmlns:a="http://schemas.openxmlformats.org/drawingml/2006/main" l="183" t="0" r="1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F2B96FC-16FE-4189-9F0D-AB6D7C6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1905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BF1EF2-F6F1-49B7-B243-21CD7A7E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8595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8FA3"/>
                </a:solidFill>
              </a:defRPr>
            </a:pPr>
            <a:r>
              <a:rPr sz="1500" b="1">
                <a:solidFill>
                  <a:srgbClr val="F28FA3"/>
                </a:solidFill>
                <a:latin typeface="Courier New"/>
                <a:ea typeface="Courier New"/>
                <a:cs typeface="Courier New"/>
              </a:rPr>
              <a:t>What </a:t>
            </a:r>
            <a:r>
              <a:rPr sz="1500" b="1">
                <a:solidFill>
                  <a:srgbClr val="F28FA3"/>
                </a:solidFill>
                <a:latin typeface="Courier New"/>
                <a:ea typeface="Courier New"/>
                <a:cs typeface="Courier New"/>
              </a:rPr>
              <a:t>is Jane doing</a:t>
            </a:r>
            <a:r>
              <a:rPr sz="1500" b="1">
                <a:solidFill>
                  <a:srgbClr val="F28FA3"/>
                </a:solidFill>
                <a:latin typeface="Courier New"/>
                <a:ea typeface="Courier New"/>
                <a:cs typeface="Courier New"/>
              </a:rPr>
              <a:t>?</a:t>
            </a:r>
            <a:endParaRPr sz="1500" b="1">
              <a:solidFill>
                <a:srgbClr val="F28FA3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9198DE8-1D12-4C06-AC14-DBAA2002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515" y="5301615"/>
            <a:ext cx="11315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8E8"/>
                </a:solidFill>
              </a:defRPr>
            </a:pPr>
            <a:r>
              <a:rPr sz="24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Jane </a:t>
            </a:r>
            <a:r>
              <a:rPr sz="24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is saving her money for a rainy day</a:t>
            </a:r>
            <a:endParaRPr sz="2400" b="1">
              <a:solidFill>
                <a:srgbClr val="FFF8E8"/>
              </a:solidFill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94E0DE0-DDCF-4F9D-9AFC-3A112C39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8478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913275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8bd55b6784c16"/>
          <a:srcRect xmlns:a="http://schemas.openxmlformats.org/drawingml/2006/main" l="183" t="0" r="1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D7F485A-8786-435A-B7A0-45DBDA97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0"/>
            <a:ext cx="509587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6F36E2F-6408-4D0D-A29F-D66286B5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" y="2421255"/>
            <a:ext cx="4219575" cy="139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8E8"/>
                </a:solidFill>
              </a:defRPr>
            </a:pPr>
            <a:r>
              <a:rPr sz="30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Skyler is counting the cash</a:t>
            </a:r>
            <a:endParaRPr sz="3000" b="1">
              <a:solidFill>
                <a:srgbClr val="FFF8E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0B8A32B-965D-4E99-BBFF-3E3EF8A0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"/>
            <a:ext cx="18478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097897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c4a940e754a3e"/>
          <a:srcRect xmlns:a="http://schemas.openxmlformats.org/drawingml/2006/main" l="183" t="0" r="1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80D3D5-7C64-4A40-8E07-91876C45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0"/>
            <a:ext cx="509587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32171C2-3899-4F76-8B3C-43D056CA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645" y="2722880"/>
            <a:ext cx="4219575" cy="1181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8E8"/>
                </a:solidFill>
              </a:defRPr>
            </a:pPr>
            <a:r>
              <a:rPr sz="30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Hank</a:t>
            </a:r>
            <a:r>
              <a:rPr sz="30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 is </a:t>
            </a:r>
            <a:r>
              <a:rPr sz="30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realising</a:t>
            </a:r>
            <a:br/>
            <a:r>
              <a:rPr sz="30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something important</a:t>
            </a:r>
            <a:endParaRPr sz="3000" b="1">
              <a:solidFill>
                <a:srgbClr val="FFF8E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7C84C6-C8FD-4C5A-BE43-4C904406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"/>
            <a:ext cx="18478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1904670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9006fe52d4ec2"/>
          <a:srcRect xmlns:a="http://schemas.openxmlformats.org/drawingml/2006/main" l="183" t="0" r="1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52885E0-EE38-4EC6-87CB-067F4130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9587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5CCD5E5-7244-4322-AFA4-F00977DD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" y="2421255"/>
            <a:ext cx="5525135" cy="642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72B"/>
                </a:solidFill>
              </a:defRPr>
            </a:pPr>
            <a:r>
              <a:rPr sz="2400" b="1">
                <a:solidFill>
                  <a:srgbClr val="10272B"/>
                </a:solidFill>
                <a:latin typeface="Courier New"/>
                <a:ea typeface="Courier New"/>
                <a:cs typeface="Courier New"/>
              </a:rPr>
              <a:t>Gustav is adjusting his tie</a:t>
            </a:r>
            <a:endParaRPr sz="2400" b="1">
              <a:solidFill>
                <a:srgbClr val="10272B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66FFCE-FD59-4FD3-B389-F7B56FDA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" y="332740"/>
            <a:ext cx="18478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597605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58602602749c8"/>
          <a:srcRect xmlns:a="http://schemas.openxmlformats.org/drawingml/2006/main" l="183" t="0" r="1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159D94D-990D-407C-853A-6A8B3DD7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0"/>
            <a:ext cx="509587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FF0BEAD-FF8D-4E4C-B35A-7988CAA8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909320"/>
            <a:ext cx="4219575" cy="1350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8E8"/>
                </a:solidFill>
              </a:defRPr>
            </a:pPr>
            <a:r>
              <a:rPr sz="30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Hector is </a:t>
            </a:r>
            <a:r>
              <a:rPr sz="30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planning his revenge</a:t>
            </a:r>
            <a:endParaRPr sz="3000" b="1">
              <a:solidFill>
                <a:srgbClr val="FFF8E8"/>
              </a:solidFill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670362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2bb63625949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94A84F2-EAB7-4866-89EB-3AEB339E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0"/>
            <a:ext cx="509587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BCC5569-9AD4-4032-951D-40EB9716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605" y="2781300"/>
            <a:ext cx="3133725" cy="1011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8E8"/>
                </a:solidFill>
              </a:defRPr>
            </a:pPr>
            <a:r>
              <a:rPr sz="30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The gangster is holding a machine gun</a:t>
            </a:r>
            <a:endParaRPr sz="3000" b="1">
              <a:solidFill>
                <a:srgbClr val="FFF8E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2D362EE-62A5-429E-9097-3EED62F0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"/>
            <a:ext cx="18478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863774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2708CE0-EACB-490F-88AC-DEA41BDC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28FA3"/>
                </a:solidFill>
              </a:defRPr>
            </a:pPr>
            <a:r>
              <a:rPr sz="3600" b="1">
                <a:solidFill>
                  <a:srgbClr val="F28FA3"/>
                </a:solidFill>
                <a:latin typeface="Courier New"/>
                <a:ea typeface="Courier New"/>
                <a:cs typeface="Courier New"/>
              </a:rPr>
              <a:t>Your turn</a:t>
            </a:r>
            <a:endParaRPr sz="3600" b="1">
              <a:solidFill>
                <a:srgbClr val="F28FA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717F07-9DE6-4923-8ACC-F4DA4807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F8E8"/>
                </a:solidFill>
              </a:defRPr>
            </a:pPr>
            <a:r>
              <a:rPr sz="4500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Describe the scene</a:t>
            </a:r>
            <a:endParaRPr sz="4500" b="1">
              <a:solidFill>
                <a:srgbClr val="FFF8E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3310674-1C69-43CB-9C1E-46CB97C6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714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4E7C9"/>
                </a:solidFill>
              </a:defRPr>
            </a:pPr>
            <a:r>
              <a:rPr sz="2175" b="0">
                <a:solidFill>
                  <a:srgbClr val="F4E7C9"/>
                </a:solidFill>
                <a:latin typeface="Courier New"/>
                <a:ea typeface="Courier New"/>
                <a:cs typeface="Courier New"/>
              </a:rPr>
              <a:t>1. Who is in the scene?</a:t>
            </a:r>
            <a:endParaRPr sz="2175" b="0">
              <a:solidFill>
                <a:srgbClr val="F4E7C9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algn="l">
              <a:buNone/>
              <a:defRPr sz="2175" b="0">
                <a:solidFill>
                  <a:srgbClr val="F4E7C9"/>
                </a:solidFill>
              </a:defRPr>
            </a:pPr>
            <a:r>
              <a:rPr sz="2175" b="0">
                <a:solidFill>
                  <a:srgbClr val="F4E7C9"/>
                </a:solidFill>
                <a:latin typeface="Courier New"/>
                <a:ea typeface="Courier New"/>
                <a:cs typeface="Courier New"/>
              </a:rPr>
              <a:t>2. Which form of </a:t>
            </a:r>
            <a:r>
              <a:rPr sz="2175" b="0">
                <a:solidFill>
                  <a:srgbClr val="F4E7C9"/>
                </a:solidFill>
                <a:latin typeface="Courier New"/>
                <a:ea typeface="Courier New"/>
                <a:cs typeface="Courier New"/>
              </a:rPr>
              <a:t>‘</a:t>
            </a:r>
            <a:r>
              <a:rPr sz="2175" b="0">
                <a:solidFill>
                  <a:srgbClr val="F4E7C9"/>
                </a:solidFill>
                <a:latin typeface="Courier New"/>
                <a:ea typeface="Courier New"/>
                <a:cs typeface="Courier New"/>
              </a:rPr>
              <a:t>be</a:t>
            </a:r>
            <a:r>
              <a:rPr sz="2175" b="0">
                <a:solidFill>
                  <a:srgbClr val="F4E7C9"/>
                </a:solidFill>
                <a:latin typeface="Courier New"/>
                <a:ea typeface="Courier New"/>
                <a:cs typeface="Courier New"/>
              </a:rPr>
              <a:t>’</a:t>
            </a:r>
            <a:r>
              <a:rPr sz="2175" b="0">
                <a:solidFill>
                  <a:srgbClr val="F4E7C9"/>
                </a:solidFill>
                <a:latin typeface="Courier New"/>
                <a:ea typeface="Courier New"/>
                <a:cs typeface="Courier New"/>
              </a:rPr>
              <a:t> do you need?</a:t>
            </a:r>
            <a:endParaRPr sz="2175" b="0">
              <a:solidFill>
                <a:srgbClr val="F4E7C9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algn="l">
              <a:buNone/>
              <a:defRPr sz="2175" b="0">
                <a:solidFill>
                  <a:srgbClr val="F4E7C9"/>
                </a:solidFill>
              </a:defRPr>
            </a:pPr>
            <a:r>
              <a:rPr sz="2175" b="0">
                <a:solidFill>
                  <a:srgbClr val="F4E7C9"/>
                </a:solidFill>
                <a:latin typeface="Courier New"/>
                <a:ea typeface="Courier New"/>
                <a:cs typeface="Courier New"/>
              </a:rPr>
              <a:t>3. What is the -ing verb?</a:t>
            </a:r>
            <a:endParaRPr sz="2175" b="0">
              <a:solidFill>
                <a:srgbClr val="F4E7C9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algn="l">
              <a:buNone/>
              <a:defRPr sz="2175" b="0">
                <a:solidFill>
                  <a:srgbClr val="F4E7C9"/>
                </a:solidFill>
              </a:defRPr>
            </a:pPr>
            <a:r>
              <a:rPr sz="2175" b="0">
                <a:solidFill>
                  <a:srgbClr val="F4E7C9"/>
                </a:solidFill>
                <a:latin typeface="Courier New"/>
                <a:ea typeface="Courier New"/>
                <a:cs typeface="Courier New"/>
              </a:rPr>
              <a:t>4. Add one place or object detail.</a:t>
            </a:r>
            <a:endParaRPr sz="2175" b="0">
              <a:solidFill>
                <a:srgbClr val="F4E7C9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E34D294-A919-49E6-AFF0-D3757514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381250" cy="2381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E9A916C-D636-4FD2-8A48-F0A746E2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43200"/>
            <a:ext cx="20002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8E8"/>
                </a:solidFill>
              </a:defRPr>
            </a:pPr>
            <a:r>
              <a:rPr sz="2325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SUBJECT</a:t>
            </a:r>
            <a:endParaRPr sz="2325" b="1">
              <a:solidFill>
                <a:srgbClr val="FFF8E8"/>
              </a:solidFill>
            </a:endParaRPr>
          </a:p>
          <a:p xmlns:a="http://schemas.openxmlformats.org/drawingml/2006/main">
            <a:pPr algn="ctr">
              <a:buNone/>
              <a:defRPr sz="2325" b="1">
                <a:solidFill>
                  <a:srgbClr val="FFF8E8"/>
                </a:solidFill>
              </a:defRPr>
            </a:pPr>
            <a:r>
              <a:rPr sz="2325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+</a:t>
            </a:r>
            <a:endParaRPr sz="2325" b="1">
              <a:solidFill>
                <a:srgbClr val="FFF8E8"/>
              </a:solidFill>
            </a:endParaRPr>
          </a:p>
          <a:p xmlns:a="http://schemas.openxmlformats.org/drawingml/2006/main">
            <a:pPr algn="ctr">
              <a:buNone/>
              <a:defRPr sz="2325" b="1">
                <a:solidFill>
                  <a:srgbClr val="FFF8E8"/>
                </a:solidFill>
              </a:defRPr>
            </a:pPr>
            <a:r>
              <a:rPr sz="2325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BE</a:t>
            </a:r>
            <a:endParaRPr sz="2325" b="1">
              <a:solidFill>
                <a:srgbClr val="FFF8E8"/>
              </a:solidFill>
            </a:endParaRPr>
          </a:p>
          <a:p xmlns:a="http://schemas.openxmlformats.org/drawingml/2006/main">
            <a:pPr algn="ctr">
              <a:buNone/>
              <a:defRPr sz="2325" b="1">
                <a:solidFill>
                  <a:srgbClr val="FFF8E8"/>
                </a:solidFill>
              </a:defRPr>
            </a:pPr>
            <a:r>
              <a:rPr sz="2325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+</a:t>
            </a:r>
            <a:endParaRPr sz="2325" b="1">
              <a:solidFill>
                <a:srgbClr val="FFF8E8"/>
              </a:solidFill>
            </a:endParaRPr>
          </a:p>
          <a:p xmlns:a="http://schemas.openxmlformats.org/drawingml/2006/main">
            <a:pPr algn="ctr">
              <a:buNone/>
              <a:defRPr sz="2325" b="1">
                <a:solidFill>
                  <a:srgbClr val="FFF8E8"/>
                </a:solidFill>
              </a:defRPr>
            </a:pPr>
            <a:r>
              <a:rPr sz="2325" b="1">
                <a:solidFill>
                  <a:srgbClr val="FFF8E8"/>
                </a:solidFill>
                <a:latin typeface="Courier New"/>
                <a:ea typeface="Courier New"/>
                <a:cs typeface="Courier New"/>
              </a:rPr>
              <a:t>VERB-ING</a:t>
            </a:r>
            <a:endParaRPr sz="2325" b="1">
              <a:solidFill>
                <a:srgbClr val="FFF8E8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39C84D-01B0-4706-9DFF-36EF4C04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1AEB4"/>
                </a:solidFill>
              </a:defRPr>
            </a:pPr>
            <a:r>
              <a:rPr sz="1800" b="1">
                <a:solidFill>
                  <a:srgbClr val="91AEB4"/>
                </a:solidFill>
                <a:latin typeface="Courier New"/>
                <a:ea typeface="Courier New"/>
                <a:cs typeface="Courier New"/>
              </a:rPr>
              <a:t>Say one complete sentence aloud.</a:t>
            </a:r>
            <a:endParaRPr sz="1800" b="1">
              <a:solidFill>
                <a:srgbClr val="91AEB4"/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900" name="Forbes English logo" descr="Forbes English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FeLogo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02900" y="5600000"/>
            <a:ext cx="1270000" cy="66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8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673C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ourier New"/>
        <a:ea typeface="Calibri Light"/>
        <a:cs typeface="Calibri Light"/>
      </a:majorFont>
      <a:minorFont>
        <a:latin typeface="Courier New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2026-08-16T18:37:08.0380000Z</dcterms:created>
  <dcterms:modified xsi:type="dcterms:W3CDTF">2026-08-16T18:37:08.0380000Z</dcterms:modified>
</coreProperties>
</file>